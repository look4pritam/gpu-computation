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0" r:id="rId1"/>
  </p:sldMasterIdLst>
  <p:notesMasterIdLst>
    <p:notesMasterId r:id="rId22"/>
  </p:notesMasterIdLst>
  <p:sldIdLst>
    <p:sldId id="257" r:id="rId2"/>
    <p:sldId id="268" r:id="rId3"/>
    <p:sldId id="283" r:id="rId4"/>
    <p:sldId id="295" r:id="rId5"/>
    <p:sldId id="284" r:id="rId6"/>
    <p:sldId id="296" r:id="rId7"/>
    <p:sldId id="280" r:id="rId8"/>
    <p:sldId id="269" r:id="rId9"/>
    <p:sldId id="271" r:id="rId10"/>
    <p:sldId id="266" r:id="rId11"/>
    <p:sldId id="272" r:id="rId12"/>
    <p:sldId id="273" r:id="rId13"/>
    <p:sldId id="292" r:id="rId14"/>
    <p:sldId id="263" r:id="rId15"/>
    <p:sldId id="276" r:id="rId16"/>
    <p:sldId id="293" r:id="rId17"/>
    <p:sldId id="290" r:id="rId18"/>
    <p:sldId id="274" r:id="rId19"/>
    <p:sldId id="281" r:id="rId20"/>
    <p:sldId id="270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39EB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89B0EF0-CF6C-47AC-9F93-E80E548CD4C6}" type="datetimeFigureOut">
              <a:rPr lang="en-IN" smtClean="0"/>
              <a:pPr/>
              <a:t>10-02-2026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3A665E5-748F-4755-BF68-33ACAC4F64BF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846584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1">
            <a:extLst>
              <a:ext uri="{FF2B5EF4-FFF2-40B4-BE49-F238E27FC236}">
                <a16:creationId xmlns:a16="http://schemas.microsoft.com/office/drawing/2014/main" id="{D2111795-7861-C802-BF43-55587F803CF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-18537238" y="-13203238"/>
            <a:ext cx="24852313" cy="13981113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1267" name="Rectangle 2">
            <a:extLst>
              <a:ext uri="{FF2B5EF4-FFF2-40B4-BE49-F238E27FC236}">
                <a16:creationId xmlns:a16="http://schemas.microsoft.com/office/drawing/2014/main" id="{514388D9-81BC-B6DC-0965-7BE4D429D9E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11200" y="4860925"/>
            <a:ext cx="5680075" cy="460375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Slide Image Placeholder 1">
            <a:extLst>
              <a:ext uri="{FF2B5EF4-FFF2-40B4-BE49-F238E27FC236}">
                <a16:creationId xmlns:a16="http://schemas.microsoft.com/office/drawing/2014/main" id="{B8ACB195-03B0-3B01-7661-C7224A1624A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38915" name="Notes Placeholder 2">
            <a:extLst>
              <a:ext uri="{FF2B5EF4-FFF2-40B4-BE49-F238E27FC236}">
                <a16:creationId xmlns:a16="http://schemas.microsoft.com/office/drawing/2014/main" id="{62B02274-75CC-6751-2523-74800A62AB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>
                <a:latin typeface="Times New Roman" panose="02020603050405020304" pitchFamily="18" charset="0"/>
              </a:rPr>
              <a:t>Texture caches are designed for graphics applications where memory access patterns exhibit a great deal of </a:t>
            </a:r>
            <a:r>
              <a:rPr lang="en-US" altLang="en-US" b="1" i="1">
                <a:latin typeface="Times New Roman" panose="02020603050405020304" pitchFamily="18" charset="0"/>
              </a:rPr>
              <a:t>spatial locality</a:t>
            </a:r>
            <a:r>
              <a:rPr lang="en-US" altLang="en-US">
                <a:latin typeface="Times New Roman" panose="02020603050405020304" pitchFamily="18" charset="0"/>
              </a:rPr>
              <a:t>. In a computing application, this roughly implies that a thread is likely to read from an address “near” the address that nearby threads read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B6987D-0137-DE42-B76B-FF621E808D9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309904" y="411479"/>
            <a:ext cx="5486400" cy="3291840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algn="l">
              <a:lnSpc>
                <a:spcPct val="80000"/>
              </a:lnSpc>
              <a:defRPr sz="6000" b="1" i="0" spc="10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C26C18C3-ED25-DD4B-BA72-24932D54DE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/>
        </p:nvGrpSpPr>
        <p:grpSpPr bwMode="auto">
          <a:xfrm>
            <a:off x="1" y="758752"/>
            <a:ext cx="6099248" cy="6099248"/>
            <a:chOff x="0" y="12289"/>
            <a:chExt cx="3550" cy="3551"/>
          </a:xfrm>
        </p:grpSpPr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C07CC263-2515-F147-8CC5-F8E9FF9FA8E4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43B40037-7481-524B-8685-404D965690F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7B759713-8408-EE47-9394-3DA6F5E4B624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A69706A2-3726-FE4E-B923-E75D485978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6309360" y="3950208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145606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806C6F65-35CD-D64B-992A-0C1C1E0038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6362700" y="0"/>
            <a:ext cx="5829298" cy="3235602"/>
            <a:chOff x="5612972" y="1"/>
            <a:chExt cx="6615961" cy="3672246"/>
          </a:xfrm>
        </p:grpSpPr>
        <p:sp>
          <p:nvSpPr>
            <p:cNvPr id="7" name="AutoShape 24">
              <a:extLst>
                <a:ext uri="{FF2B5EF4-FFF2-40B4-BE49-F238E27FC236}">
                  <a16:creationId xmlns:a16="http://schemas.microsoft.com/office/drawing/2014/main" id="{CFD467E2-FF13-7E4F-BEF9-EA1A17665B2D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2972" y="1"/>
              <a:ext cx="4408998" cy="3672246"/>
            </a:xfrm>
            <a:custGeom>
              <a:avLst/>
              <a:gdLst>
                <a:gd name="T0" fmla="+- 0 8372 6586"/>
                <a:gd name="T1" fmla="*/ T0 w 3578"/>
                <a:gd name="T2" fmla="*/ 591 h 2980"/>
                <a:gd name="T3" fmla="+- 0 7780 6586"/>
                <a:gd name="T4" fmla="*/ T3 w 3578"/>
                <a:gd name="T5" fmla="*/ 0 h 2980"/>
                <a:gd name="T6" fmla="+- 0 6586 6586"/>
                <a:gd name="T7" fmla="*/ T6 w 3578"/>
                <a:gd name="T8" fmla="*/ 0 h 2980"/>
                <a:gd name="T9" fmla="+- 0 7774 6586"/>
                <a:gd name="T10" fmla="*/ T9 w 3578"/>
                <a:gd name="T11" fmla="*/ 1188 h 2980"/>
                <a:gd name="T12" fmla="+- 0 8372 6586"/>
                <a:gd name="T13" fmla="*/ T12 w 3578"/>
                <a:gd name="T14" fmla="*/ 591 h 2980"/>
                <a:gd name="T15" fmla="+- 0 10163 6586"/>
                <a:gd name="T16" fmla="*/ T15 w 3578"/>
                <a:gd name="T17" fmla="*/ 2383 h 2980"/>
                <a:gd name="T18" fmla="+- 0 9566 6586"/>
                <a:gd name="T19" fmla="*/ T18 w 3578"/>
                <a:gd name="T20" fmla="*/ 1786 h 2980"/>
                <a:gd name="T21" fmla="+- 0 8969 6586"/>
                <a:gd name="T22" fmla="*/ T21 w 3578"/>
                <a:gd name="T23" fmla="*/ 2383 h 2980"/>
                <a:gd name="T24" fmla="+- 0 9566 6586"/>
                <a:gd name="T25" fmla="*/ T24 w 3578"/>
                <a:gd name="T26" fmla="*/ 2980 h 2980"/>
                <a:gd name="T27" fmla="+- 0 10163 6586"/>
                <a:gd name="T28" fmla="*/ T27 w 3578"/>
                <a:gd name="T29" fmla="*/ 2383 h 2980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  <a:cxn ang="0">
                  <a:pos x="T13" y="T14"/>
                </a:cxn>
                <a:cxn ang="0">
                  <a:pos x="T16" y="T17"/>
                </a:cxn>
                <a:cxn ang="0">
                  <a:pos x="T19" y="T20"/>
                </a:cxn>
                <a:cxn ang="0">
                  <a:pos x="T22" y="T23"/>
                </a:cxn>
                <a:cxn ang="0">
                  <a:pos x="T25" y="T26"/>
                </a:cxn>
                <a:cxn ang="0">
                  <a:pos x="T28" y="T29"/>
                </a:cxn>
              </a:cxnLst>
              <a:rect l="0" t="0" r="r" b="b"/>
              <a:pathLst>
                <a:path w="3578" h="2980">
                  <a:moveTo>
                    <a:pt x="1786" y="591"/>
                  </a:moveTo>
                  <a:lnTo>
                    <a:pt x="1194" y="0"/>
                  </a:lnTo>
                  <a:lnTo>
                    <a:pt x="0" y="0"/>
                  </a:lnTo>
                  <a:lnTo>
                    <a:pt x="1188" y="1188"/>
                  </a:lnTo>
                  <a:lnTo>
                    <a:pt x="1786" y="591"/>
                  </a:lnTo>
                  <a:moveTo>
                    <a:pt x="3577" y="2383"/>
                  </a:moveTo>
                  <a:lnTo>
                    <a:pt x="2980" y="1786"/>
                  </a:lnTo>
                  <a:lnTo>
                    <a:pt x="2383" y="2383"/>
                  </a:lnTo>
                  <a:lnTo>
                    <a:pt x="2980" y="2980"/>
                  </a:lnTo>
                  <a:lnTo>
                    <a:pt x="3577" y="2383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8" name="Freeform 7">
              <a:extLst>
                <a:ext uri="{FF2B5EF4-FFF2-40B4-BE49-F238E27FC236}">
                  <a16:creationId xmlns:a16="http://schemas.microsoft.com/office/drawing/2014/main" id="{CA85A327-3157-B442-993A-6900F71249AC}"/>
                </a:ext>
              </a:extLst>
            </p:cNvPr>
            <p:cNvSpPr>
              <a:spLocks/>
            </p:cNvSpPr>
            <p:nvPr/>
          </p:nvSpPr>
          <p:spPr bwMode="auto">
            <a:xfrm>
              <a:off x="6341233" y="1463970"/>
              <a:ext cx="2208196" cy="2208277"/>
            </a:xfrm>
            <a:custGeom>
              <a:avLst/>
              <a:gdLst>
                <a:gd name="T0" fmla="+- 0 7774 7177"/>
                <a:gd name="T1" fmla="*/ T0 w 1792"/>
                <a:gd name="T2" fmla="+- 0 1188 1188"/>
                <a:gd name="T3" fmla="*/ 1188 h 1792"/>
                <a:gd name="T4" fmla="+- 0 7177 7177"/>
                <a:gd name="T5" fmla="*/ T4 w 1792"/>
                <a:gd name="T6" fmla="+- 0 1786 1188"/>
                <a:gd name="T7" fmla="*/ 1786 h 1792"/>
                <a:gd name="T8" fmla="+- 0 8372 7177"/>
                <a:gd name="T9" fmla="*/ T8 w 1792"/>
                <a:gd name="T10" fmla="+- 0 2980 1188"/>
                <a:gd name="T11" fmla="*/ 2980 h 1792"/>
                <a:gd name="T12" fmla="+- 0 8969 7177"/>
                <a:gd name="T13" fmla="*/ T12 w 1792"/>
                <a:gd name="T14" fmla="+- 0 2383 1188"/>
                <a:gd name="T15" fmla="*/ 2383 h 1792"/>
                <a:gd name="T16" fmla="+- 0 7774 7177"/>
                <a:gd name="T17" fmla="*/ T16 w 1792"/>
                <a:gd name="T18" fmla="+- 0 1188 1188"/>
                <a:gd name="T19" fmla="*/ 1188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7" y="0"/>
                  </a:moveTo>
                  <a:lnTo>
                    <a:pt x="0" y="598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7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9" name="Freeform 8">
              <a:extLst>
                <a:ext uri="{FF2B5EF4-FFF2-40B4-BE49-F238E27FC236}">
                  <a16:creationId xmlns:a16="http://schemas.microsoft.com/office/drawing/2014/main" id="{9A459CB4-74AF-0544-AB1E-7CC6D10F84EB}"/>
                </a:ext>
              </a:extLst>
            </p:cNvPr>
            <p:cNvSpPr>
              <a:spLocks/>
            </p:cNvSpPr>
            <p:nvPr/>
          </p:nvSpPr>
          <p:spPr bwMode="auto">
            <a:xfrm>
              <a:off x="8555590" y="1"/>
              <a:ext cx="1457754" cy="729520"/>
            </a:xfrm>
            <a:custGeom>
              <a:avLst/>
              <a:gdLst>
                <a:gd name="T0" fmla="+- 0 10158 8975"/>
                <a:gd name="T1" fmla="*/ T0 w 1183"/>
                <a:gd name="T2" fmla="*/ 0 h 592"/>
                <a:gd name="T3" fmla="+- 0 8975 8975"/>
                <a:gd name="T4" fmla="*/ T3 w 1183"/>
                <a:gd name="T5" fmla="*/ 0 h 592"/>
                <a:gd name="T6" fmla="+- 0 9566 8975"/>
                <a:gd name="T7" fmla="*/ T6 w 1183"/>
                <a:gd name="T8" fmla="*/ 591 h 592"/>
                <a:gd name="T9" fmla="+- 0 10158 8975"/>
                <a:gd name="T10" fmla="*/ T9 w 1183"/>
                <a:gd name="T11" fmla="*/ 0 h 592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</a:cxnLst>
              <a:rect l="0" t="0" r="r" b="b"/>
              <a:pathLst>
                <a:path w="1183" h="592">
                  <a:moveTo>
                    <a:pt x="1183" y="0"/>
                  </a:moveTo>
                  <a:lnTo>
                    <a:pt x="0" y="0"/>
                  </a:lnTo>
                  <a:lnTo>
                    <a:pt x="591" y="591"/>
                  </a:lnTo>
                  <a:lnTo>
                    <a:pt x="118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95A20BFD-9142-D64A-A78A-61B75FCA0D76}"/>
                </a:ext>
              </a:extLst>
            </p:cNvPr>
            <p:cNvSpPr>
              <a:spLocks/>
            </p:cNvSpPr>
            <p:nvPr/>
          </p:nvSpPr>
          <p:spPr bwMode="auto">
            <a:xfrm>
              <a:off x="7076887" y="728289"/>
              <a:ext cx="2208196" cy="2208277"/>
            </a:xfrm>
            <a:custGeom>
              <a:avLst/>
              <a:gdLst>
                <a:gd name="T0" fmla="+- 0 8372 7774"/>
                <a:gd name="T1" fmla="*/ T0 w 1792"/>
                <a:gd name="T2" fmla="+- 0 591 591"/>
                <a:gd name="T3" fmla="*/ 591 h 1792"/>
                <a:gd name="T4" fmla="+- 0 7774 7774"/>
                <a:gd name="T5" fmla="*/ T4 w 1792"/>
                <a:gd name="T6" fmla="+- 0 1188 591"/>
                <a:gd name="T7" fmla="*/ 1188 h 1792"/>
                <a:gd name="T8" fmla="+- 0 8969 7774"/>
                <a:gd name="T9" fmla="*/ T8 w 1792"/>
                <a:gd name="T10" fmla="+- 0 2383 591"/>
                <a:gd name="T11" fmla="*/ 2383 h 1792"/>
                <a:gd name="T12" fmla="+- 0 9566 7774"/>
                <a:gd name="T13" fmla="*/ T12 w 1792"/>
                <a:gd name="T14" fmla="+- 0 1786 591"/>
                <a:gd name="T15" fmla="*/ 1786 h 1792"/>
                <a:gd name="T16" fmla="+- 0 8372 7774"/>
                <a:gd name="T17" fmla="*/ T16 w 1792"/>
                <a:gd name="T18" fmla="+- 0 591 591"/>
                <a:gd name="T19" fmla="*/ 591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8" y="0"/>
                  </a:moveTo>
                  <a:lnTo>
                    <a:pt x="0" y="597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8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B80736DF-C890-DB47-AEAA-D3D92505E632}"/>
                </a:ext>
              </a:extLst>
            </p:cNvPr>
            <p:cNvSpPr>
              <a:spLocks/>
            </p:cNvSpPr>
            <p:nvPr/>
          </p:nvSpPr>
          <p:spPr bwMode="auto">
            <a:xfrm>
              <a:off x="9285083" y="728289"/>
              <a:ext cx="2943850" cy="2943958"/>
            </a:xfrm>
            <a:custGeom>
              <a:avLst/>
              <a:gdLst>
                <a:gd name="T0" fmla="+- 0 11955 9566"/>
                <a:gd name="T1" fmla="*/ T0 w 2389"/>
                <a:gd name="T2" fmla="+- 0 1786 591"/>
                <a:gd name="T3" fmla="*/ 1786 h 2389"/>
                <a:gd name="T4" fmla="+- 0 10760 9566"/>
                <a:gd name="T5" fmla="*/ T4 w 2389"/>
                <a:gd name="T6" fmla="+- 0 591 591"/>
                <a:gd name="T7" fmla="*/ 591 h 2389"/>
                <a:gd name="T8" fmla="+- 0 9566 9566"/>
                <a:gd name="T9" fmla="*/ T8 w 2389"/>
                <a:gd name="T10" fmla="+- 0 1786 591"/>
                <a:gd name="T11" fmla="*/ 1786 h 2389"/>
                <a:gd name="T12" fmla="+- 0 10760 9566"/>
                <a:gd name="T13" fmla="*/ T12 w 2389"/>
                <a:gd name="T14" fmla="+- 0 2980 591"/>
                <a:gd name="T15" fmla="*/ 2980 h 2389"/>
                <a:gd name="T16" fmla="+- 0 11955 9566"/>
                <a:gd name="T17" fmla="*/ T16 w 2389"/>
                <a:gd name="T18" fmla="+- 0 1786 591"/>
                <a:gd name="T19" fmla="*/ 1786 h 2389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2389" h="2389">
                  <a:moveTo>
                    <a:pt x="2389" y="1195"/>
                  </a:moveTo>
                  <a:lnTo>
                    <a:pt x="1194" y="0"/>
                  </a:lnTo>
                  <a:lnTo>
                    <a:pt x="0" y="1195"/>
                  </a:lnTo>
                  <a:lnTo>
                    <a:pt x="1194" y="2389"/>
                  </a:lnTo>
                  <a:lnTo>
                    <a:pt x="2389" y="1195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2" name="Title 1">
            <a:extLst>
              <a:ext uri="{FF2B5EF4-FFF2-40B4-BE49-F238E27FC236}">
                <a16:creationId xmlns:a16="http://schemas.microsoft.com/office/drawing/2014/main" id="{39F93F26-ED5C-E74E-BFBD-E3054DC1B9C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60" y="189572"/>
            <a:ext cx="6787747" cy="1593507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 spc="50" baseline="0"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sp>
        <p:nvSpPr>
          <p:cNvPr id="2" name="Content Placeholder 5">
            <a:extLst>
              <a:ext uri="{FF2B5EF4-FFF2-40B4-BE49-F238E27FC236}">
                <a16:creationId xmlns:a16="http://schemas.microsoft.com/office/drawing/2014/main" id="{186153BD-9D2B-47EB-3553-1D3F6663B2A3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94359" y="2281918"/>
            <a:ext cx="6787747" cy="3708517"/>
          </a:xfrm>
        </p:spPr>
        <p:txBody>
          <a:bodyPr lIns="0" tIns="228600" rIns="0" bIns="0">
            <a:normAutofit/>
          </a:bodyPr>
          <a:lstStyle>
            <a:lvl1pPr marL="283464" indent="-283464">
              <a:lnSpc>
                <a:spcPct val="80000"/>
              </a:lnSpc>
              <a:spcBef>
                <a:spcPts val="2200"/>
              </a:spcBef>
              <a:buFont typeface="Arial" panose="020B0604020202020204" pitchFamily="34" charset="0"/>
              <a:buChar char="•"/>
              <a:defRPr lang="en-US" sz="2400" b="1" i="0" kern="1200" dirty="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indent="-283464">
              <a:spcBef>
                <a:spcPts val="600"/>
              </a:spcBef>
              <a:defRPr sz="2000"/>
            </a:lvl2pPr>
            <a:lvl3pPr indent="-283464">
              <a:spcBef>
                <a:spcPts val="1800"/>
              </a:spcBef>
              <a:defRPr sz="2000"/>
            </a:lvl3pPr>
            <a:lvl4pPr indent="-283464">
              <a:spcBef>
                <a:spcPts val="1800"/>
              </a:spcBef>
              <a:defRPr sz="2000"/>
            </a:lvl4pPr>
            <a:lvl5pPr indent="-283464"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3" name="Slide Number Placeholder 42">
            <a:extLst>
              <a:ext uri="{FF2B5EF4-FFF2-40B4-BE49-F238E27FC236}">
                <a16:creationId xmlns:a16="http://schemas.microsoft.com/office/drawing/2014/main" id="{D80CCC8F-9CF1-9621-04EB-DFA68FEE42D2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272B45CE-63CF-41F9-9548-46D8C4719AD8}" type="slidenum">
              <a:rPr lang="en-IN" smtClean="0"/>
              <a:pPr/>
              <a:t>‹#›</a:t>
            </a:fld>
            <a:endParaRPr lang="en-IN"/>
          </a:p>
        </p:txBody>
      </p:sp>
      <p:sp>
        <p:nvSpPr>
          <p:cNvPr id="42" name="Date Placeholder 41">
            <a:extLst>
              <a:ext uri="{FF2B5EF4-FFF2-40B4-BE49-F238E27FC236}">
                <a16:creationId xmlns:a16="http://schemas.microsoft.com/office/drawing/2014/main" id="{29CE2856-DB8F-5603-C085-74C70560FAC8}"/>
              </a:ext>
            </a:extLst>
          </p:cNvPr>
          <p:cNvSpPr>
            <a:spLocks noGrp="1"/>
          </p:cNvSpPr>
          <p:nvPr>
            <p:ph type="dt" sz="half" idx="25"/>
          </p:nvPr>
        </p:nvSpPr>
        <p:spPr/>
        <p:txBody>
          <a:bodyPr/>
          <a:lstStyle/>
          <a:p>
            <a:fld id="{28C33A21-5030-4D7B-A261-646E7F8EB457}" type="datetimeFigureOut">
              <a:rPr lang="en-IN" smtClean="0"/>
              <a:pPr/>
              <a:t>10-02-2026</a:t>
            </a:fld>
            <a:endParaRPr lang="en-IN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979826C1-7A52-DA25-F422-EE62DED7D1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594360" y="2148840"/>
            <a:ext cx="2130552" cy="0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344171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Titl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B79D0555-EBDC-B53A-212D-A5921795FEC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80543"/>
          </a:xfrm>
          <a:custGeom>
            <a:avLst/>
            <a:gdLst>
              <a:gd name="connsiteX0" fmla="*/ 6309360 w 12192000"/>
              <a:gd name="connsiteY0" fmla="*/ 3951843 h 6880543"/>
              <a:gd name="connsiteX1" fmla="*/ 6309360 w 12192000"/>
              <a:gd name="connsiteY1" fmla="*/ 4052427 h 6880543"/>
              <a:gd name="connsiteX2" fmla="*/ 8442960 w 12192000"/>
              <a:gd name="connsiteY2" fmla="*/ 4052427 h 6880543"/>
              <a:gd name="connsiteX3" fmla="*/ 8442960 w 12192000"/>
              <a:gd name="connsiteY3" fmla="*/ 3951843 h 6880543"/>
              <a:gd name="connsiteX4" fmla="*/ 0 w 12192000"/>
              <a:gd name="connsiteY4" fmla="*/ 0 h 6880543"/>
              <a:gd name="connsiteX5" fmla="*/ 12192000 w 12192000"/>
              <a:gd name="connsiteY5" fmla="*/ 0 h 6880543"/>
              <a:gd name="connsiteX6" fmla="*/ 12192000 w 12192000"/>
              <a:gd name="connsiteY6" fmla="*/ 6880543 h 6880543"/>
              <a:gd name="connsiteX7" fmla="*/ 0 w 12192000"/>
              <a:gd name="connsiteY7" fmla="*/ 6880543 h 68805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6880543">
                <a:moveTo>
                  <a:pt x="6309360" y="3951843"/>
                </a:moveTo>
                <a:lnTo>
                  <a:pt x="6309360" y="4052427"/>
                </a:lnTo>
                <a:lnTo>
                  <a:pt x="8442960" y="4052427"/>
                </a:lnTo>
                <a:lnTo>
                  <a:pt x="8442960" y="3951843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80543"/>
                </a:lnTo>
                <a:lnTo>
                  <a:pt x="0" y="6880543"/>
                </a:lnTo>
                <a:close/>
              </a:path>
            </a:pathLst>
          </a:custGeom>
        </p:spPr>
        <p:txBody>
          <a:bodyPr wrap="square" tIns="182880">
            <a:no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8" name="Title 1">
            <a:extLst>
              <a:ext uri="{FF2B5EF4-FFF2-40B4-BE49-F238E27FC236}">
                <a16:creationId xmlns:a16="http://schemas.microsoft.com/office/drawing/2014/main" id="{8D492973-78E3-D34E-835E-CF2D4517016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09359" y="444933"/>
            <a:ext cx="5477479" cy="3291840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6000" b="1" i="0" baseline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96BA398-1ED2-1FCA-63B9-8915A8C7A5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309360" y="3951843"/>
            <a:ext cx="2133600" cy="100584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1847327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7104">
          <p15:clr>
            <a:srgbClr val="FBAE40"/>
          </p15:clr>
        </p15:guide>
        <p15:guide id="3" pos="4344">
          <p15:clr>
            <a:srgbClr val="FBAE40"/>
          </p15:clr>
        </p15:guide>
        <p15:guide id="4" pos="4560">
          <p15:clr>
            <a:srgbClr val="FBAE40"/>
          </p15:clr>
        </p15:guide>
        <p15:guide id="8" orient="horz" pos="1848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B6987D-0137-DE42-B76B-FF621E808D9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299835" y="430529"/>
            <a:ext cx="5486400" cy="3291840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algn="l">
              <a:lnSpc>
                <a:spcPct val="80000"/>
              </a:lnSpc>
              <a:defRPr sz="6000" b="1" i="0" spc="10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A9973BC6-F6E5-0B3B-C8AB-0AC4020D4E8B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0" y="-11113"/>
            <a:ext cx="5791200" cy="6880226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8" name="Text Placeholder 29">
            <a:extLst>
              <a:ext uri="{FF2B5EF4-FFF2-40B4-BE49-F238E27FC236}">
                <a16:creationId xmlns:a16="http://schemas.microsoft.com/office/drawing/2014/main" id="{276A9CD7-E675-3048-86D3-3546A2F6B45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299835" y="4568602"/>
            <a:ext cx="5486400" cy="1645920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2400" b="1" i="0">
                <a:solidFill>
                  <a:schemeClr val="tx2">
                    <a:lumMod val="75000"/>
                  </a:schemeClr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9169ED6-4B82-6844-119F-AC15CDF2D3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6309360" y="3950208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519505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ummary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C57F1500-1A16-D1EF-4F0C-030852B291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594360" y="214884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10" name="Group 9">
            <a:extLst>
              <a:ext uri="{FF2B5EF4-FFF2-40B4-BE49-F238E27FC236}">
                <a16:creationId xmlns:a16="http://schemas.microsoft.com/office/drawing/2014/main" id="{2D07A0BE-3890-193E-9439-F294E61A71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11" name="Freeform 19">
              <a:extLst>
                <a:ext uri="{FF2B5EF4-FFF2-40B4-BE49-F238E27FC236}">
                  <a16:creationId xmlns:a16="http://schemas.microsoft.com/office/drawing/2014/main" id="{C05217ED-C258-E6CE-BA7F-28A6EA41BCD3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2" name="Freeform 20">
              <a:extLst>
                <a:ext uri="{FF2B5EF4-FFF2-40B4-BE49-F238E27FC236}">
                  <a16:creationId xmlns:a16="http://schemas.microsoft.com/office/drawing/2014/main" id="{F3E11A1F-14DD-BA35-D7D7-4D4ADEAA3484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3" name="Freeform 21">
              <a:extLst>
                <a:ext uri="{FF2B5EF4-FFF2-40B4-BE49-F238E27FC236}">
                  <a16:creationId xmlns:a16="http://schemas.microsoft.com/office/drawing/2014/main" id="{F14541B0-973F-7E21-1019-D2FB83C8C0D0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32" name="Title 1">
            <a:extLst>
              <a:ext uri="{FF2B5EF4-FFF2-40B4-BE49-F238E27FC236}">
                <a16:creationId xmlns:a16="http://schemas.microsoft.com/office/drawing/2014/main" id="{467E05B6-B7CB-1E4F-96BA-4B8CFE8B63D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60" y="102875"/>
            <a:ext cx="10873740" cy="1680205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sp>
        <p:nvSpPr>
          <p:cNvPr id="2" name="Content Placeholder 5">
            <a:extLst>
              <a:ext uri="{FF2B5EF4-FFF2-40B4-BE49-F238E27FC236}">
                <a16:creationId xmlns:a16="http://schemas.microsoft.com/office/drawing/2014/main" id="{F6FE0DC0-B0D7-F4D6-8038-177AD7A8C211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657600" y="2282008"/>
            <a:ext cx="7810500" cy="3699328"/>
          </a:xfrm>
        </p:spPr>
        <p:txBody>
          <a:bodyPr lIns="0" tIns="228600" rIns="0" bIns="0">
            <a:normAutofit/>
          </a:bodyPr>
          <a:lstStyle>
            <a:lvl1pPr marL="283464" indent="-283464">
              <a:spcBef>
                <a:spcPts val="1800"/>
              </a:spcBef>
              <a:buFont typeface="Arial" panose="020B0604020202020204" pitchFamily="34" charset="0"/>
              <a:buChar char="•"/>
              <a:defRPr sz="2000"/>
            </a:lvl1pPr>
            <a:lvl2pPr indent="-283464">
              <a:spcBef>
                <a:spcPts val="1800"/>
              </a:spcBef>
              <a:defRPr sz="2000"/>
            </a:lvl2pPr>
            <a:lvl3pPr indent="-283464">
              <a:spcBef>
                <a:spcPts val="1800"/>
              </a:spcBef>
              <a:defRPr sz="2000"/>
            </a:lvl3pPr>
            <a:lvl4pPr indent="-283464">
              <a:spcBef>
                <a:spcPts val="1800"/>
              </a:spcBef>
              <a:defRPr sz="2000"/>
            </a:lvl4pPr>
            <a:lvl5pPr indent="-283464"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7ED58739-4346-5104-B1AC-89ED035912AF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272B45CE-63CF-41F9-9548-46D8C4719AD8}" type="slidenum">
              <a:rPr lang="en-IN" smtClean="0"/>
              <a:pPr/>
              <a:t>‹#›</a:t>
            </a:fld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9272B8D-F380-9F1A-C8E6-BDD2352B1763}"/>
              </a:ext>
            </a:extLst>
          </p:cNvPr>
          <p:cNvSpPr>
            <a:spLocks noGrp="1"/>
          </p:cNvSpPr>
          <p:nvPr>
            <p:ph type="dt" sz="half" idx="21"/>
          </p:nvPr>
        </p:nvSpPr>
        <p:spPr/>
        <p:txBody>
          <a:bodyPr/>
          <a:lstStyle/>
          <a:p>
            <a:fld id="{28C33A21-5030-4D7B-A261-646E7F8EB457}" type="datetimeFigureOut">
              <a:rPr lang="en-IN" smtClean="0"/>
              <a:pPr/>
              <a:t>10-02-2026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2411083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304">
          <p15:clr>
            <a:srgbClr val="FBAE40"/>
          </p15:clr>
        </p15:guide>
        <p15:guide id="4" pos="5736">
          <p15:clr>
            <a:srgbClr val="FBAE40"/>
          </p15:clr>
        </p15:guide>
        <p15:guide id="5" pos="1944">
          <p15:clr>
            <a:srgbClr val="FBAE40"/>
          </p15:clr>
        </p15:guide>
        <p15:guide id="6" pos="4008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440">
          <p15:clr>
            <a:srgbClr val="FBAE40"/>
          </p15:clr>
        </p15:guide>
        <p15:guide id="9" orient="horz" pos="552">
          <p15:clr>
            <a:srgbClr val="FBAE40"/>
          </p15:clr>
        </p15:guide>
        <p15:guide id="10" pos="5352">
          <p15:clr>
            <a:srgbClr val="FBAE40"/>
          </p15:clr>
        </p15:guide>
        <p15:guide id="11" pos="3648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B6987D-0137-DE42-B76B-FF621E808D9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309904" y="411479"/>
            <a:ext cx="5486400" cy="3291840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algn="l">
              <a:lnSpc>
                <a:spcPct val="80000"/>
              </a:lnSpc>
              <a:defRPr sz="6000" b="1" i="0" spc="10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C26C18C3-ED25-DD4B-BA72-24932D54DE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/>
        </p:nvGrpSpPr>
        <p:grpSpPr bwMode="auto">
          <a:xfrm>
            <a:off x="1" y="758752"/>
            <a:ext cx="6099248" cy="6099248"/>
            <a:chOff x="0" y="12289"/>
            <a:chExt cx="3550" cy="3551"/>
          </a:xfrm>
        </p:grpSpPr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C07CC263-2515-F147-8CC5-F8E9FF9FA8E4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43B40037-7481-524B-8685-404D965690F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7B759713-8408-EE47-9394-3DA6F5E4B624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A69706A2-3726-FE4E-B923-E75D485978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6309360" y="3950208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" name="Text Placeholder 29">
            <a:extLst>
              <a:ext uri="{FF2B5EF4-FFF2-40B4-BE49-F238E27FC236}">
                <a16:creationId xmlns:a16="http://schemas.microsoft.com/office/drawing/2014/main" id="{276A9CD7-E675-3048-86D3-3546A2F6B45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309905" y="4549552"/>
            <a:ext cx="5486400" cy="1645920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2400" b="1" i="0">
                <a:solidFill>
                  <a:schemeClr val="tx2">
                    <a:lumMod val="75000"/>
                  </a:schemeClr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/>
            <a:r>
              <a:rPr lang="en-US" dirty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10194754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Two Content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C97D5AF2-684A-4A8D-3D82-B57D7AC446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/>
        </p:nvGrpSpPr>
        <p:grpSpPr bwMode="auto">
          <a:xfrm rot="10800000">
            <a:off x="8870040" y="0"/>
            <a:ext cx="3325208" cy="3325208"/>
            <a:chOff x="0" y="12289"/>
            <a:chExt cx="3550" cy="3551"/>
          </a:xfrm>
        </p:grpSpPr>
        <p:sp>
          <p:nvSpPr>
            <p:cNvPr id="12" name="Freeform 4">
              <a:extLst>
                <a:ext uri="{FF2B5EF4-FFF2-40B4-BE49-F238E27FC236}">
                  <a16:creationId xmlns:a16="http://schemas.microsoft.com/office/drawing/2014/main" id="{8CF5F650-F8F0-F4FE-44DA-1F14ADE428B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3" name="Freeform 5">
              <a:extLst>
                <a:ext uri="{FF2B5EF4-FFF2-40B4-BE49-F238E27FC236}">
                  <a16:creationId xmlns:a16="http://schemas.microsoft.com/office/drawing/2014/main" id="{18870924-E47D-404F-59B5-BD1C58F7B04C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4" name="Freeform 7">
              <a:extLst>
                <a:ext uri="{FF2B5EF4-FFF2-40B4-BE49-F238E27FC236}">
                  <a16:creationId xmlns:a16="http://schemas.microsoft.com/office/drawing/2014/main" id="{80806A65-E4FC-2F52-65B3-CC181E620C29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6" name="Title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60" y="278129"/>
            <a:ext cx="9778365" cy="1494596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sp>
        <p:nvSpPr>
          <p:cNvPr id="2" name="Content Placeholder 5">
            <a:extLst>
              <a:ext uri="{FF2B5EF4-FFF2-40B4-BE49-F238E27FC236}">
                <a16:creationId xmlns:a16="http://schemas.microsoft.com/office/drawing/2014/main" id="{F14DA3C5-63E4-BAFB-1D68-47F71EEEE538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594360" y="2676525"/>
            <a:ext cx="4490827" cy="3597470"/>
          </a:xfrm>
        </p:spPr>
        <p:txBody>
          <a:bodyPr lIns="0" tIns="45720" rIns="0" bIns="0">
            <a:normAutofit/>
          </a:bodyPr>
          <a:lstStyle>
            <a:lvl1pPr marL="0" indent="0">
              <a:spcBef>
                <a:spcPts val="1800"/>
              </a:spcBef>
              <a:buFont typeface="Arial" panose="020B0604020202020204" pitchFamily="34" charset="0"/>
              <a:buNone/>
              <a:defRPr sz="2000"/>
            </a:lvl1pPr>
            <a:lvl2pPr marL="283464" indent="-283464">
              <a:spcBef>
                <a:spcPts val="1800"/>
              </a:spcBef>
              <a:defRPr sz="2000"/>
            </a:lvl2pPr>
            <a:lvl3pPr marL="594360" indent="-283464">
              <a:spcBef>
                <a:spcPts val="1800"/>
              </a:spcBef>
              <a:defRPr sz="2000"/>
            </a:lvl3pPr>
            <a:lvl4pPr marL="822960" indent="-283464">
              <a:spcBef>
                <a:spcPts val="1800"/>
              </a:spcBef>
              <a:defRPr sz="2000"/>
            </a:lvl4pPr>
            <a:lvl5pPr marL="1005840" indent="-283464"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Content Placeholder 5">
            <a:extLst>
              <a:ext uri="{FF2B5EF4-FFF2-40B4-BE49-F238E27FC236}">
                <a16:creationId xmlns:a16="http://schemas.microsoft.com/office/drawing/2014/main" id="{BD11386D-847E-8CF5-E56A-42E80A65A089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5881898" y="2676525"/>
            <a:ext cx="4490827" cy="3597470"/>
          </a:xfrm>
        </p:spPr>
        <p:txBody>
          <a:bodyPr lIns="0" tIns="45720" rIns="0" bIns="0">
            <a:normAutofit/>
          </a:bodyPr>
          <a:lstStyle>
            <a:lvl1pPr marL="0" indent="0">
              <a:spcBef>
                <a:spcPts val="1800"/>
              </a:spcBef>
              <a:buFont typeface="Arial" panose="020B0604020202020204" pitchFamily="34" charset="0"/>
              <a:buNone/>
              <a:defRPr sz="2000"/>
            </a:lvl1pPr>
            <a:lvl2pPr marL="283464" indent="-283464">
              <a:spcBef>
                <a:spcPts val="1800"/>
              </a:spcBef>
              <a:defRPr sz="2000"/>
            </a:lvl2pPr>
            <a:lvl3pPr marL="548640" indent="-283464">
              <a:spcBef>
                <a:spcPts val="1800"/>
              </a:spcBef>
              <a:defRPr sz="2000"/>
            </a:lvl3pPr>
            <a:lvl4pPr marL="822960" indent="-283464">
              <a:spcBef>
                <a:spcPts val="1800"/>
              </a:spcBef>
              <a:defRPr sz="2000"/>
            </a:lvl4pPr>
            <a:lvl5pPr marL="1005840" indent="-283464"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2B45CE-63CF-41F9-9548-46D8C4719AD8}" type="slidenum">
              <a:rPr lang="en-IN" smtClean="0"/>
              <a:pPr/>
              <a:t>‹#›</a:t>
            </a:fld>
            <a:endParaRPr lang="en-IN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28C33A21-5030-4D7B-A261-646E7F8EB457}" type="datetimeFigureOut">
              <a:rPr lang="en-IN" smtClean="0"/>
              <a:pPr/>
              <a:t>10-02-2026</a:t>
            </a:fld>
            <a:endParaRPr lang="en-IN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594360" y="214884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9406614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 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42E558A9-6DD6-E21D-3A8F-6707E1DD19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6362700" y="0"/>
            <a:ext cx="5829298" cy="3235602"/>
            <a:chOff x="5612972" y="1"/>
            <a:chExt cx="6615961" cy="3672246"/>
          </a:xfrm>
        </p:grpSpPr>
        <p:sp>
          <p:nvSpPr>
            <p:cNvPr id="12" name="AutoShape 24">
              <a:extLst>
                <a:ext uri="{FF2B5EF4-FFF2-40B4-BE49-F238E27FC236}">
                  <a16:creationId xmlns:a16="http://schemas.microsoft.com/office/drawing/2014/main" id="{3FC994E4-318C-1E66-B4E4-8F8FD08E098F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2972" y="1"/>
              <a:ext cx="4408998" cy="3672246"/>
            </a:xfrm>
            <a:custGeom>
              <a:avLst/>
              <a:gdLst>
                <a:gd name="T0" fmla="+- 0 8372 6586"/>
                <a:gd name="T1" fmla="*/ T0 w 3578"/>
                <a:gd name="T2" fmla="*/ 591 h 2980"/>
                <a:gd name="T3" fmla="+- 0 7780 6586"/>
                <a:gd name="T4" fmla="*/ T3 w 3578"/>
                <a:gd name="T5" fmla="*/ 0 h 2980"/>
                <a:gd name="T6" fmla="+- 0 6586 6586"/>
                <a:gd name="T7" fmla="*/ T6 w 3578"/>
                <a:gd name="T8" fmla="*/ 0 h 2980"/>
                <a:gd name="T9" fmla="+- 0 7774 6586"/>
                <a:gd name="T10" fmla="*/ T9 w 3578"/>
                <a:gd name="T11" fmla="*/ 1188 h 2980"/>
                <a:gd name="T12" fmla="+- 0 8372 6586"/>
                <a:gd name="T13" fmla="*/ T12 w 3578"/>
                <a:gd name="T14" fmla="*/ 591 h 2980"/>
                <a:gd name="T15" fmla="+- 0 10163 6586"/>
                <a:gd name="T16" fmla="*/ T15 w 3578"/>
                <a:gd name="T17" fmla="*/ 2383 h 2980"/>
                <a:gd name="T18" fmla="+- 0 9566 6586"/>
                <a:gd name="T19" fmla="*/ T18 w 3578"/>
                <a:gd name="T20" fmla="*/ 1786 h 2980"/>
                <a:gd name="T21" fmla="+- 0 8969 6586"/>
                <a:gd name="T22" fmla="*/ T21 w 3578"/>
                <a:gd name="T23" fmla="*/ 2383 h 2980"/>
                <a:gd name="T24" fmla="+- 0 9566 6586"/>
                <a:gd name="T25" fmla="*/ T24 w 3578"/>
                <a:gd name="T26" fmla="*/ 2980 h 2980"/>
                <a:gd name="T27" fmla="+- 0 10163 6586"/>
                <a:gd name="T28" fmla="*/ T27 w 3578"/>
                <a:gd name="T29" fmla="*/ 2383 h 2980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  <a:cxn ang="0">
                  <a:pos x="T13" y="T14"/>
                </a:cxn>
                <a:cxn ang="0">
                  <a:pos x="T16" y="T17"/>
                </a:cxn>
                <a:cxn ang="0">
                  <a:pos x="T19" y="T20"/>
                </a:cxn>
                <a:cxn ang="0">
                  <a:pos x="T22" y="T23"/>
                </a:cxn>
                <a:cxn ang="0">
                  <a:pos x="T25" y="T26"/>
                </a:cxn>
                <a:cxn ang="0">
                  <a:pos x="T28" y="T29"/>
                </a:cxn>
              </a:cxnLst>
              <a:rect l="0" t="0" r="r" b="b"/>
              <a:pathLst>
                <a:path w="3578" h="2980">
                  <a:moveTo>
                    <a:pt x="1786" y="591"/>
                  </a:moveTo>
                  <a:lnTo>
                    <a:pt x="1194" y="0"/>
                  </a:lnTo>
                  <a:lnTo>
                    <a:pt x="0" y="0"/>
                  </a:lnTo>
                  <a:lnTo>
                    <a:pt x="1188" y="1188"/>
                  </a:lnTo>
                  <a:lnTo>
                    <a:pt x="1786" y="591"/>
                  </a:lnTo>
                  <a:moveTo>
                    <a:pt x="3577" y="2383"/>
                  </a:moveTo>
                  <a:lnTo>
                    <a:pt x="2980" y="1786"/>
                  </a:lnTo>
                  <a:lnTo>
                    <a:pt x="2383" y="2383"/>
                  </a:lnTo>
                  <a:lnTo>
                    <a:pt x="2980" y="2980"/>
                  </a:lnTo>
                  <a:lnTo>
                    <a:pt x="3577" y="2383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3" name="Freeform 7">
              <a:extLst>
                <a:ext uri="{FF2B5EF4-FFF2-40B4-BE49-F238E27FC236}">
                  <a16:creationId xmlns:a16="http://schemas.microsoft.com/office/drawing/2014/main" id="{17C00E6B-F625-6D6C-8364-9DD9F3C3628F}"/>
                </a:ext>
              </a:extLst>
            </p:cNvPr>
            <p:cNvSpPr>
              <a:spLocks/>
            </p:cNvSpPr>
            <p:nvPr/>
          </p:nvSpPr>
          <p:spPr bwMode="auto">
            <a:xfrm>
              <a:off x="6341233" y="1463970"/>
              <a:ext cx="2208196" cy="2208277"/>
            </a:xfrm>
            <a:custGeom>
              <a:avLst/>
              <a:gdLst>
                <a:gd name="T0" fmla="+- 0 7774 7177"/>
                <a:gd name="T1" fmla="*/ T0 w 1792"/>
                <a:gd name="T2" fmla="+- 0 1188 1188"/>
                <a:gd name="T3" fmla="*/ 1188 h 1792"/>
                <a:gd name="T4" fmla="+- 0 7177 7177"/>
                <a:gd name="T5" fmla="*/ T4 w 1792"/>
                <a:gd name="T6" fmla="+- 0 1786 1188"/>
                <a:gd name="T7" fmla="*/ 1786 h 1792"/>
                <a:gd name="T8" fmla="+- 0 8372 7177"/>
                <a:gd name="T9" fmla="*/ T8 w 1792"/>
                <a:gd name="T10" fmla="+- 0 2980 1188"/>
                <a:gd name="T11" fmla="*/ 2980 h 1792"/>
                <a:gd name="T12" fmla="+- 0 8969 7177"/>
                <a:gd name="T13" fmla="*/ T12 w 1792"/>
                <a:gd name="T14" fmla="+- 0 2383 1188"/>
                <a:gd name="T15" fmla="*/ 2383 h 1792"/>
                <a:gd name="T16" fmla="+- 0 7774 7177"/>
                <a:gd name="T17" fmla="*/ T16 w 1792"/>
                <a:gd name="T18" fmla="+- 0 1188 1188"/>
                <a:gd name="T19" fmla="*/ 1188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7" y="0"/>
                  </a:moveTo>
                  <a:lnTo>
                    <a:pt x="0" y="598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7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4" name="Freeform 8">
              <a:extLst>
                <a:ext uri="{FF2B5EF4-FFF2-40B4-BE49-F238E27FC236}">
                  <a16:creationId xmlns:a16="http://schemas.microsoft.com/office/drawing/2014/main" id="{C6197B87-4F65-7981-9463-84830CD3687F}"/>
                </a:ext>
              </a:extLst>
            </p:cNvPr>
            <p:cNvSpPr>
              <a:spLocks/>
            </p:cNvSpPr>
            <p:nvPr/>
          </p:nvSpPr>
          <p:spPr bwMode="auto">
            <a:xfrm>
              <a:off x="8555590" y="1"/>
              <a:ext cx="1457754" cy="729520"/>
            </a:xfrm>
            <a:custGeom>
              <a:avLst/>
              <a:gdLst>
                <a:gd name="T0" fmla="+- 0 10158 8975"/>
                <a:gd name="T1" fmla="*/ T0 w 1183"/>
                <a:gd name="T2" fmla="*/ 0 h 592"/>
                <a:gd name="T3" fmla="+- 0 8975 8975"/>
                <a:gd name="T4" fmla="*/ T3 w 1183"/>
                <a:gd name="T5" fmla="*/ 0 h 592"/>
                <a:gd name="T6" fmla="+- 0 9566 8975"/>
                <a:gd name="T7" fmla="*/ T6 w 1183"/>
                <a:gd name="T8" fmla="*/ 591 h 592"/>
                <a:gd name="T9" fmla="+- 0 10158 8975"/>
                <a:gd name="T10" fmla="*/ T9 w 1183"/>
                <a:gd name="T11" fmla="*/ 0 h 592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</a:cxnLst>
              <a:rect l="0" t="0" r="r" b="b"/>
              <a:pathLst>
                <a:path w="1183" h="592">
                  <a:moveTo>
                    <a:pt x="1183" y="0"/>
                  </a:moveTo>
                  <a:lnTo>
                    <a:pt x="0" y="0"/>
                  </a:lnTo>
                  <a:lnTo>
                    <a:pt x="591" y="591"/>
                  </a:lnTo>
                  <a:lnTo>
                    <a:pt x="118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8" name="Freeform 9">
              <a:extLst>
                <a:ext uri="{FF2B5EF4-FFF2-40B4-BE49-F238E27FC236}">
                  <a16:creationId xmlns:a16="http://schemas.microsoft.com/office/drawing/2014/main" id="{86AA517C-7217-D864-B7E7-40984A2880DB}"/>
                </a:ext>
              </a:extLst>
            </p:cNvPr>
            <p:cNvSpPr>
              <a:spLocks/>
            </p:cNvSpPr>
            <p:nvPr/>
          </p:nvSpPr>
          <p:spPr bwMode="auto">
            <a:xfrm>
              <a:off x="7076887" y="728289"/>
              <a:ext cx="2208196" cy="2208277"/>
            </a:xfrm>
            <a:custGeom>
              <a:avLst/>
              <a:gdLst>
                <a:gd name="T0" fmla="+- 0 8372 7774"/>
                <a:gd name="T1" fmla="*/ T0 w 1792"/>
                <a:gd name="T2" fmla="+- 0 591 591"/>
                <a:gd name="T3" fmla="*/ 591 h 1792"/>
                <a:gd name="T4" fmla="+- 0 7774 7774"/>
                <a:gd name="T5" fmla="*/ T4 w 1792"/>
                <a:gd name="T6" fmla="+- 0 1188 591"/>
                <a:gd name="T7" fmla="*/ 1188 h 1792"/>
                <a:gd name="T8" fmla="+- 0 8969 7774"/>
                <a:gd name="T9" fmla="*/ T8 w 1792"/>
                <a:gd name="T10" fmla="+- 0 2383 591"/>
                <a:gd name="T11" fmla="*/ 2383 h 1792"/>
                <a:gd name="T12" fmla="+- 0 9566 7774"/>
                <a:gd name="T13" fmla="*/ T12 w 1792"/>
                <a:gd name="T14" fmla="+- 0 1786 591"/>
                <a:gd name="T15" fmla="*/ 1786 h 1792"/>
                <a:gd name="T16" fmla="+- 0 8372 7774"/>
                <a:gd name="T17" fmla="*/ T16 w 1792"/>
                <a:gd name="T18" fmla="+- 0 591 591"/>
                <a:gd name="T19" fmla="*/ 591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8" y="0"/>
                  </a:moveTo>
                  <a:lnTo>
                    <a:pt x="0" y="597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8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9" name="Freeform 10">
              <a:extLst>
                <a:ext uri="{FF2B5EF4-FFF2-40B4-BE49-F238E27FC236}">
                  <a16:creationId xmlns:a16="http://schemas.microsoft.com/office/drawing/2014/main" id="{524013C6-491C-CAA2-5BD6-7C73596711CC}"/>
                </a:ext>
              </a:extLst>
            </p:cNvPr>
            <p:cNvSpPr>
              <a:spLocks/>
            </p:cNvSpPr>
            <p:nvPr/>
          </p:nvSpPr>
          <p:spPr bwMode="auto">
            <a:xfrm>
              <a:off x="9285083" y="728289"/>
              <a:ext cx="2943850" cy="2943958"/>
            </a:xfrm>
            <a:custGeom>
              <a:avLst/>
              <a:gdLst>
                <a:gd name="T0" fmla="+- 0 11955 9566"/>
                <a:gd name="T1" fmla="*/ T0 w 2389"/>
                <a:gd name="T2" fmla="+- 0 1786 591"/>
                <a:gd name="T3" fmla="*/ 1786 h 2389"/>
                <a:gd name="T4" fmla="+- 0 10760 9566"/>
                <a:gd name="T5" fmla="*/ T4 w 2389"/>
                <a:gd name="T6" fmla="+- 0 591 591"/>
                <a:gd name="T7" fmla="*/ 591 h 2389"/>
                <a:gd name="T8" fmla="+- 0 9566 9566"/>
                <a:gd name="T9" fmla="*/ T8 w 2389"/>
                <a:gd name="T10" fmla="+- 0 1786 591"/>
                <a:gd name="T11" fmla="*/ 1786 h 2389"/>
                <a:gd name="T12" fmla="+- 0 10760 9566"/>
                <a:gd name="T13" fmla="*/ T12 w 2389"/>
                <a:gd name="T14" fmla="+- 0 2980 591"/>
                <a:gd name="T15" fmla="*/ 2980 h 2389"/>
                <a:gd name="T16" fmla="+- 0 11955 9566"/>
                <a:gd name="T17" fmla="*/ T16 w 2389"/>
                <a:gd name="T18" fmla="+- 0 1786 591"/>
                <a:gd name="T19" fmla="*/ 1786 h 2389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2389" h="2389">
                  <a:moveTo>
                    <a:pt x="2389" y="1195"/>
                  </a:moveTo>
                  <a:lnTo>
                    <a:pt x="1194" y="0"/>
                  </a:lnTo>
                  <a:lnTo>
                    <a:pt x="0" y="1195"/>
                  </a:lnTo>
                  <a:lnTo>
                    <a:pt x="1194" y="2389"/>
                  </a:lnTo>
                  <a:lnTo>
                    <a:pt x="2389" y="1195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6" name="Title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18885" y="3499667"/>
            <a:ext cx="4939666" cy="2542810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6347460" y="631317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Content Placeholder 5">
            <a:extLst>
              <a:ext uri="{FF2B5EF4-FFF2-40B4-BE49-F238E27FC236}">
                <a16:creationId xmlns:a16="http://schemas.microsoft.com/office/drawing/2014/main" id="{8007FA9C-C4D5-89EC-C457-5F329A338E1E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03885" y="457201"/>
            <a:ext cx="5198269" cy="2305050"/>
          </a:xfrm>
        </p:spPr>
        <p:txBody>
          <a:bodyPr lIns="0" tIns="274320">
            <a:normAutofit/>
          </a:bodyPr>
          <a:lstStyle>
            <a:lvl1pPr marL="457200" indent="-457200">
              <a:spcBef>
                <a:spcPts val="1800"/>
              </a:spcBef>
              <a:buFont typeface="+mj-lt"/>
              <a:buAutoNum type="arabicPeriod"/>
              <a:defRPr sz="2000"/>
            </a:lvl1pPr>
            <a:lvl2pPr marL="914400" indent="-457200">
              <a:spcBef>
                <a:spcPts val="1800"/>
              </a:spcBef>
              <a:buFont typeface="+mj-lt"/>
              <a:buAutoNum type="alphaLcPeriod"/>
              <a:defRPr sz="2000"/>
            </a:lvl2pPr>
            <a:lvl3pPr marL="1371600" indent="-457200">
              <a:spcBef>
                <a:spcPts val="1800"/>
              </a:spcBef>
              <a:buFont typeface="+mj-lt"/>
              <a:buAutoNum type="arabicParenR"/>
              <a:defRPr sz="2000"/>
            </a:lvl3pPr>
            <a:lvl4pPr marL="1371600" indent="0">
              <a:spcBef>
                <a:spcPts val="1800"/>
              </a:spcBef>
              <a:buFont typeface="+mj-lt"/>
              <a:buNone/>
              <a:defRPr sz="2000"/>
            </a:lvl4pPr>
            <a:lvl5pPr marL="2286000" indent="-457200">
              <a:spcBef>
                <a:spcPts val="1800"/>
              </a:spcBef>
              <a:buFont typeface="+mj-lt"/>
              <a:buAutoNum type="arabicPeriod"/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endParaRPr lang="en-US" dirty="0"/>
          </a:p>
        </p:txBody>
      </p:sp>
      <p:sp>
        <p:nvSpPr>
          <p:cNvPr id="2" name="Content Placeholder 5">
            <a:extLst>
              <a:ext uri="{FF2B5EF4-FFF2-40B4-BE49-F238E27FC236}">
                <a16:creationId xmlns:a16="http://schemas.microsoft.com/office/drawing/2014/main" id="{3AC171DA-232D-44C1-6B93-40BACB298F4B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594360" y="2810595"/>
            <a:ext cx="5198269" cy="3319513"/>
          </a:xfrm>
        </p:spPr>
        <p:txBody>
          <a:bodyPr lIns="0" tIns="45720" rIns="0" bIns="0">
            <a:normAutofit/>
          </a:bodyPr>
          <a:lstStyle>
            <a:lvl1pPr marL="0" indent="0">
              <a:spcBef>
                <a:spcPts val="1800"/>
              </a:spcBef>
              <a:buFont typeface="Arial" panose="020B0604020202020204" pitchFamily="34" charset="0"/>
              <a:buNone/>
              <a:defRPr sz="2000"/>
            </a:lvl1pPr>
            <a:lvl2pPr marL="283464" indent="-283464">
              <a:spcBef>
                <a:spcPts val="1800"/>
              </a:spcBef>
              <a:defRPr sz="2000"/>
            </a:lvl2pPr>
            <a:lvl3pPr marL="548640" indent="-283464">
              <a:spcBef>
                <a:spcPts val="1800"/>
              </a:spcBef>
              <a:defRPr sz="2000"/>
            </a:lvl3pPr>
            <a:lvl4pPr marL="822960" indent="-283464">
              <a:spcBef>
                <a:spcPts val="1800"/>
              </a:spcBef>
              <a:defRPr sz="2000"/>
            </a:lvl4pPr>
            <a:lvl5pPr marL="1005840" indent="-283464"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2B45CE-63CF-41F9-9548-46D8C4719AD8}" type="slidenum">
              <a:rPr lang="en-IN" smtClean="0"/>
              <a:pPr/>
              <a:t>‹#›</a:t>
            </a:fld>
            <a:endParaRPr lang="en-IN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28C33A21-5030-4D7B-A261-646E7F8EB457}" type="datetimeFigureOut">
              <a:rPr lang="en-IN" smtClean="0"/>
              <a:pPr/>
              <a:t>10-02-2026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3050943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Content and Pictur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5310" y="278129"/>
            <a:ext cx="5063490" cy="2354026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sp>
        <p:nvSpPr>
          <p:cNvPr id="3" name="Content Placeholder 5">
            <a:extLst>
              <a:ext uri="{FF2B5EF4-FFF2-40B4-BE49-F238E27FC236}">
                <a16:creationId xmlns:a16="http://schemas.microsoft.com/office/drawing/2014/main" id="{1EF4505D-6803-3813-7738-049963427819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594360" y="3279579"/>
            <a:ext cx="5044440" cy="2994415"/>
          </a:xfrm>
        </p:spPr>
        <p:txBody>
          <a:bodyPr lIns="0" tIns="228600" rIns="0" bIns="0">
            <a:normAutofit/>
          </a:bodyPr>
          <a:lstStyle>
            <a:lvl1pPr marL="0" indent="0">
              <a:spcBef>
                <a:spcPts val="1800"/>
              </a:spcBef>
              <a:buFont typeface="Arial" panose="020B0604020202020204" pitchFamily="34" charset="0"/>
              <a:buNone/>
              <a:defRPr sz="2000"/>
            </a:lvl1pPr>
            <a:lvl2pPr indent="-283464">
              <a:spcBef>
                <a:spcPts val="1800"/>
              </a:spcBef>
              <a:defRPr sz="2000"/>
            </a:lvl2pPr>
            <a:lvl3pPr indent="-283464">
              <a:spcBef>
                <a:spcPts val="1800"/>
              </a:spcBef>
              <a:defRPr sz="2000"/>
            </a:lvl3pPr>
            <a:lvl4pPr indent="-283464">
              <a:spcBef>
                <a:spcPts val="1800"/>
              </a:spcBef>
              <a:defRPr sz="2000"/>
            </a:lvl4pPr>
            <a:lvl5pPr indent="-283464"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594360" y="2997459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4658637A-5D36-6127-19BC-C203E23FA49F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096000" y="0"/>
            <a:ext cx="6118225" cy="6858000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2B45CE-63CF-41F9-9548-46D8C4719AD8}" type="slidenum">
              <a:rPr lang="en-IN" smtClean="0"/>
              <a:pPr/>
              <a:t>‹#›</a:t>
            </a:fld>
            <a:endParaRPr lang="en-IN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28C33A21-5030-4D7B-A261-646E7F8EB457}" type="datetimeFigureOut">
              <a:rPr lang="en-IN" smtClean="0"/>
              <a:pPr/>
              <a:t>10-02-2026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0376747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Content and Tabl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CF555767-B3D8-BD57-1D42-7F6E1E6689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9" name="Freeform 13">
              <a:extLst>
                <a:ext uri="{FF2B5EF4-FFF2-40B4-BE49-F238E27FC236}">
                  <a16:creationId xmlns:a16="http://schemas.microsoft.com/office/drawing/2014/main" id="{BC972B6D-098C-52F6-E990-52623B368FB1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5" name="Freeform 14">
              <a:extLst>
                <a:ext uri="{FF2B5EF4-FFF2-40B4-BE49-F238E27FC236}">
                  <a16:creationId xmlns:a16="http://schemas.microsoft.com/office/drawing/2014/main" id="{3F0D3EE3-9A8C-531D-1EEE-1AFAB9F3BCAE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7" name="Freeform 15">
              <a:extLst>
                <a:ext uri="{FF2B5EF4-FFF2-40B4-BE49-F238E27FC236}">
                  <a16:creationId xmlns:a16="http://schemas.microsoft.com/office/drawing/2014/main" id="{A2BE192C-1768-890B-EC1B-5ED6E1F82590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6" name="Title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61409" y="4661717"/>
            <a:ext cx="7936230" cy="1380760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3670935" y="631317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Content Placeholder 5">
            <a:extLst>
              <a:ext uri="{FF2B5EF4-FFF2-40B4-BE49-F238E27FC236}">
                <a16:creationId xmlns:a16="http://schemas.microsoft.com/office/drawing/2014/main" id="{8007FA9C-C4D5-89EC-C457-5F329A338E1E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03885" y="584005"/>
            <a:ext cx="2825115" cy="3999060"/>
          </a:xfrm>
        </p:spPr>
        <p:txBody>
          <a:bodyPr lIns="0" tIns="274320">
            <a:normAutofit/>
          </a:bodyPr>
          <a:lstStyle>
            <a:lvl1pPr marL="0" indent="0">
              <a:spcBef>
                <a:spcPts val="1800"/>
              </a:spcBef>
              <a:buFont typeface="Arial" panose="020B0604020202020204" pitchFamily="34" charset="0"/>
              <a:buNone/>
              <a:defRPr sz="2000"/>
            </a:lvl1pPr>
            <a:lvl2pPr marL="457200" indent="0">
              <a:spcBef>
                <a:spcPts val="1800"/>
              </a:spcBef>
              <a:buNone/>
              <a:defRPr sz="2000"/>
            </a:lvl2pPr>
            <a:lvl3pPr marL="914400" indent="0">
              <a:spcBef>
                <a:spcPts val="1800"/>
              </a:spcBef>
              <a:buNone/>
              <a:defRPr sz="2000"/>
            </a:lvl3pPr>
            <a:lvl4pPr marL="1371600" indent="0">
              <a:spcBef>
                <a:spcPts val="1800"/>
              </a:spcBef>
              <a:buNone/>
              <a:defRPr sz="2000"/>
            </a:lvl4pPr>
            <a:lvl5pPr marL="1828800" indent="0">
              <a:spcBef>
                <a:spcPts val="1800"/>
              </a:spcBef>
              <a:buNone/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BCAAA28-C292-C527-AD35-90836B8BB97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670934" y="584005"/>
            <a:ext cx="7926705" cy="3999060"/>
          </a:xfrm>
        </p:spPr>
        <p:txBody>
          <a:bodyPr lIns="0">
            <a:normAutofit/>
          </a:bodyPr>
          <a:lstStyle>
            <a:lvl1pPr marL="0" indent="0">
              <a:spcBef>
                <a:spcPts val="1800"/>
              </a:spcBef>
              <a:buNone/>
              <a:defRPr sz="2000"/>
            </a:lvl1pPr>
            <a:lvl2pPr>
              <a:spcBef>
                <a:spcPts val="600"/>
              </a:spcBef>
              <a:defRPr sz="2000"/>
            </a:lvl2pPr>
            <a:lvl3pPr>
              <a:spcBef>
                <a:spcPts val="1800"/>
              </a:spcBef>
              <a:defRPr sz="2000"/>
            </a:lvl3pPr>
            <a:lvl4pPr>
              <a:spcBef>
                <a:spcPts val="1800"/>
              </a:spcBef>
              <a:defRPr sz="2000"/>
            </a:lvl4pPr>
            <a:lvl5pPr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2B45CE-63CF-41F9-9548-46D8C4719AD8}" type="slidenum">
              <a:rPr lang="en-IN" smtClean="0"/>
              <a:pPr/>
              <a:t>‹#›</a:t>
            </a:fld>
            <a:endParaRPr lang="en-IN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28C33A21-5030-4D7B-A261-646E7F8EB457}" type="datetimeFigureOut">
              <a:rPr lang="en-IN" smtClean="0"/>
              <a:pPr/>
              <a:t>10-02-2026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8166906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Two Conten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C97D5AF2-684A-4A8D-3D82-B57D7AC446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/>
        </p:nvGrpSpPr>
        <p:grpSpPr bwMode="auto">
          <a:xfrm rot="10800000">
            <a:off x="8870040" y="0"/>
            <a:ext cx="3325208" cy="3325208"/>
            <a:chOff x="0" y="12289"/>
            <a:chExt cx="3550" cy="3551"/>
          </a:xfrm>
        </p:grpSpPr>
        <p:sp>
          <p:nvSpPr>
            <p:cNvPr id="12" name="Freeform 4">
              <a:extLst>
                <a:ext uri="{FF2B5EF4-FFF2-40B4-BE49-F238E27FC236}">
                  <a16:creationId xmlns:a16="http://schemas.microsoft.com/office/drawing/2014/main" id="{8CF5F650-F8F0-F4FE-44DA-1F14ADE428B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3" name="Freeform 5">
              <a:extLst>
                <a:ext uri="{FF2B5EF4-FFF2-40B4-BE49-F238E27FC236}">
                  <a16:creationId xmlns:a16="http://schemas.microsoft.com/office/drawing/2014/main" id="{18870924-E47D-404F-59B5-BD1C58F7B04C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4" name="Freeform 7">
              <a:extLst>
                <a:ext uri="{FF2B5EF4-FFF2-40B4-BE49-F238E27FC236}">
                  <a16:creationId xmlns:a16="http://schemas.microsoft.com/office/drawing/2014/main" id="{80806A65-E4FC-2F52-65B3-CC181E620C29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6" name="Title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60" y="198408"/>
            <a:ext cx="10972800" cy="1574317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594360" y="214884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BCAAA28-C292-C527-AD35-90836B8BB97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95523" y="2676525"/>
            <a:ext cx="5746750" cy="3597470"/>
          </a:xfrm>
        </p:spPr>
        <p:txBody>
          <a:bodyPr lIns="0">
            <a:normAutofit/>
          </a:bodyPr>
          <a:lstStyle>
            <a:lvl1pPr marL="0" indent="0">
              <a:spcBef>
                <a:spcPts val="1800"/>
              </a:spcBef>
              <a:buNone/>
              <a:defRPr sz="2000"/>
            </a:lvl1pPr>
            <a:lvl2pPr>
              <a:spcBef>
                <a:spcPts val="600"/>
              </a:spcBef>
              <a:defRPr sz="2000"/>
            </a:lvl2pPr>
            <a:lvl3pPr>
              <a:spcBef>
                <a:spcPts val="1800"/>
              </a:spcBef>
              <a:defRPr sz="2000"/>
            </a:lvl3pPr>
            <a:lvl4pPr>
              <a:spcBef>
                <a:spcPts val="1800"/>
              </a:spcBef>
              <a:defRPr sz="2000"/>
            </a:lvl4pPr>
            <a:lvl5pPr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Content Placeholder 5">
            <a:extLst>
              <a:ext uri="{FF2B5EF4-FFF2-40B4-BE49-F238E27FC236}">
                <a16:creationId xmlns:a16="http://schemas.microsoft.com/office/drawing/2014/main" id="{8007FA9C-C4D5-89EC-C457-5F329A338E1E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7620000" y="2676525"/>
            <a:ext cx="3947160" cy="3597470"/>
          </a:xfrm>
        </p:spPr>
        <p:txBody>
          <a:bodyPr lIns="0">
            <a:normAutofit/>
          </a:bodyPr>
          <a:lstStyle>
            <a:lvl1pPr marL="342900" indent="-342900">
              <a:spcBef>
                <a:spcPts val="1800"/>
              </a:spcBef>
              <a:buFont typeface="Arial" panose="020B0604020202020204" pitchFamily="34" charset="0"/>
              <a:buChar char="•"/>
              <a:defRPr sz="2000"/>
            </a:lvl1pPr>
            <a:lvl2pPr>
              <a:spcBef>
                <a:spcPts val="1800"/>
              </a:spcBef>
              <a:defRPr sz="2000"/>
            </a:lvl2pPr>
            <a:lvl3pPr>
              <a:spcBef>
                <a:spcPts val="1800"/>
              </a:spcBef>
              <a:defRPr sz="2000"/>
            </a:lvl3pPr>
            <a:lvl4pPr>
              <a:spcBef>
                <a:spcPts val="1800"/>
              </a:spcBef>
              <a:defRPr sz="2000"/>
            </a:lvl4pPr>
            <a:lvl5pPr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28C33A21-5030-4D7B-A261-646E7F8EB457}" type="datetimeFigureOut">
              <a:rPr lang="en-IN" smtClean="0"/>
              <a:pPr/>
              <a:t>10-02-2026</a:t>
            </a:fld>
            <a:endParaRPr lang="en-IN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2B45CE-63CF-41F9-9548-46D8C4719AD8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6654021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ble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60" y="202400"/>
            <a:ext cx="10972800" cy="1570325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sp>
        <p:nvSpPr>
          <p:cNvPr id="9" name="Table Placeholder 2">
            <a:extLst>
              <a:ext uri="{FF2B5EF4-FFF2-40B4-BE49-F238E27FC236}">
                <a16:creationId xmlns:a16="http://schemas.microsoft.com/office/drawing/2014/main" id="{1506B022-475A-6647-98FF-D5C319A0C7C4}"/>
              </a:ext>
            </a:extLst>
          </p:cNvPr>
          <p:cNvSpPr>
            <a:spLocks noGrp="1"/>
          </p:cNvSpPr>
          <p:nvPr>
            <p:ph type="tbl" sz="quarter" idx="10"/>
          </p:nvPr>
        </p:nvSpPr>
        <p:spPr>
          <a:xfrm>
            <a:off x="594360" y="2628629"/>
            <a:ext cx="10972800" cy="3636740"/>
          </a:xfrm>
        </p:spPr>
        <p:txBody>
          <a:bodyPr>
            <a:noAutofit/>
          </a:bodyPr>
          <a:lstStyle>
            <a:lvl1pPr>
              <a:defRPr/>
            </a:lvl1pPr>
          </a:lstStyle>
          <a:p>
            <a:r>
              <a:rPr lang="en-US"/>
              <a:t>Click icon to add table</a:t>
            </a:r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2B45CE-63CF-41F9-9548-46D8C4719AD8}" type="slidenum">
              <a:rPr lang="en-IN" smtClean="0"/>
              <a:pPr/>
              <a:t>‹#›</a:t>
            </a:fld>
            <a:endParaRPr lang="en-IN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28C33A21-5030-4D7B-A261-646E7F8EB457}" type="datetimeFigureOut">
              <a:rPr lang="en-IN" smtClean="0"/>
              <a:pPr/>
              <a:t>10-02-2026</a:t>
            </a:fld>
            <a:endParaRPr lang="en-IN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594360" y="214884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4070949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3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B6987D-0137-DE42-B76B-FF621E808D9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94360" y="411479"/>
            <a:ext cx="5486400" cy="3291840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algn="l">
              <a:lnSpc>
                <a:spcPct val="80000"/>
              </a:lnSpc>
              <a:defRPr sz="6000" b="1" i="0" spc="10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C26C18C3-ED25-DD4B-BA72-24932D54DE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/>
        </p:nvGrpSpPr>
        <p:grpSpPr bwMode="auto">
          <a:xfrm flipH="1" flipV="1">
            <a:off x="6092752" y="0"/>
            <a:ext cx="6099248" cy="6099248"/>
            <a:chOff x="0" y="12289"/>
            <a:chExt cx="3550" cy="3551"/>
          </a:xfrm>
        </p:grpSpPr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C07CC263-2515-F147-8CC5-F8E9FF9FA8E4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43B40037-7481-524B-8685-404D965690F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7B759713-8408-EE47-9394-3DA6F5E4B624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8" name="Text Placeholder 29">
            <a:extLst>
              <a:ext uri="{FF2B5EF4-FFF2-40B4-BE49-F238E27FC236}">
                <a16:creationId xmlns:a16="http://schemas.microsoft.com/office/drawing/2014/main" id="{276A9CD7-E675-3048-86D3-3546A2F6B45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94360" y="4549552"/>
            <a:ext cx="5486400" cy="1645920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2400" b="1" i="0">
                <a:solidFill>
                  <a:schemeClr val="tx2">
                    <a:lumMod val="75000"/>
                  </a:schemeClr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58B149C6-5AAC-B8E5-5411-EA38821F67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594360" y="3950208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1728803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>
  <p:cSld name="Title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1078523" y="1098388"/>
            <a:ext cx="10318418" cy="4394988"/>
          </a:xfrm>
        </p:spPr>
        <p:txBody>
          <a:bodyPr anchor="ctr">
            <a:noAutofit/>
          </a:bodyPr>
          <a:lstStyle>
            <a:lvl1pPr algn="ctr">
              <a:defRPr sz="10000" spc="800" baseline="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1078523" y="5953318"/>
            <a:ext cx="10318418" cy="742279"/>
          </a:xfrm>
        </p:spPr>
        <p:txBody>
          <a:bodyPr anchor="ctr">
            <a:normAutofit/>
          </a:bodyPr>
          <a:lstStyle>
            <a:lvl1pPr marL="0" indent="0" algn="ctr">
              <a:lnSpc>
                <a:spcPct val="100000"/>
              </a:lnSpc>
              <a:buNone/>
              <a:defRPr sz="2800" b="0" i="0" cap="all" spc="0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234006802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C33A21-5030-4D7B-A261-646E7F8EB457}" type="datetimeFigureOut">
              <a:rPr lang="en-IN" smtClean="0"/>
              <a:pPr/>
              <a:t>10-02-2026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2B45CE-63CF-41F9-9548-46D8C4719AD8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9868386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177" b="0" i="0">
                <a:solidFill>
                  <a:srgbClr val="F28311"/>
                </a:solidFill>
                <a:latin typeface="Arial Black"/>
                <a:cs typeface="Arial Black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927" b="0" i="0">
                <a:solidFill>
                  <a:srgbClr val="404040"/>
                </a:solidFill>
                <a:latin typeface="Calibri"/>
                <a:cs typeface="Calibri"/>
              </a:defRPr>
            </a:lvl1pPr>
          </a:lstStyle>
          <a:p>
            <a:pPr marL="71161">
              <a:spcBef>
                <a:spcPts val="44"/>
              </a:spcBef>
            </a:pPr>
            <a:r>
              <a:rPr lang="en-GB" sz="882"/>
              <a:t>Introduction</a:t>
            </a:r>
            <a:r>
              <a:rPr lang="en-GB" sz="882" spc="-22"/>
              <a:t> </a:t>
            </a:r>
            <a:r>
              <a:rPr lang="en-GB" sz="882"/>
              <a:t>to</a:t>
            </a:r>
            <a:r>
              <a:rPr lang="en-GB" sz="882" spc="-9"/>
              <a:t> </a:t>
            </a:r>
            <a:r>
              <a:rPr lang="en-GB" sz="882"/>
              <a:t>CUDA</a:t>
            </a:r>
            <a:r>
              <a:rPr lang="en-GB" sz="882" spc="-13"/>
              <a:t> </a:t>
            </a:r>
            <a:r>
              <a:rPr lang="en-GB" sz="882"/>
              <a:t>Programming</a:t>
            </a:r>
            <a:r>
              <a:rPr lang="en-GB" sz="882" spc="-9"/>
              <a:t> </a:t>
            </a:r>
            <a:r>
              <a:rPr lang="en-GB" sz="882" spc="-180"/>
              <a:t>-­‐</a:t>
            </a:r>
            <a:r>
              <a:rPr lang="en-GB" sz="882"/>
              <a:t> Hemant</a:t>
            </a:r>
            <a:r>
              <a:rPr lang="en-GB" sz="882" spc="-9"/>
              <a:t> Shukla</a:t>
            </a:r>
            <a:endParaRPr lang="en-GB" sz="882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2/10/2026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59" b="0" i="0">
                <a:solidFill>
                  <a:srgbClr val="404040"/>
                </a:solidFill>
                <a:latin typeface="Calibri"/>
                <a:cs typeface="Calibri"/>
              </a:defRPr>
            </a:lvl1pPr>
          </a:lstStyle>
          <a:p>
            <a:pPr marL="101419">
              <a:spcBef>
                <a:spcPts val="35"/>
              </a:spcBef>
            </a:pPr>
            <a:fld id="{81D60167-4931-47E6-BA6A-407CBD079E47}" type="slidenum">
              <a:rPr lang="en-IN" spc="-44" smtClean="0"/>
              <a:pPr marL="101419">
                <a:spcBef>
                  <a:spcPts val="35"/>
                </a:spcBef>
              </a:pPr>
              <a:t>‹#›</a:t>
            </a:fld>
            <a:endParaRPr lang="en-IN" spc="-44" dirty="0"/>
          </a:p>
        </p:txBody>
      </p:sp>
    </p:spTree>
    <p:extLst>
      <p:ext uri="{BB962C8B-B14F-4D97-AF65-F5344CB8AC3E}">
        <p14:creationId xmlns:p14="http://schemas.microsoft.com/office/powerpoint/2010/main" val="18575457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EED84C6-50E6-6C43-8031-AFF6268E0C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94360" y="1825625"/>
            <a:ext cx="1038225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Title Placeholder 11">
            <a:extLst>
              <a:ext uri="{FF2B5EF4-FFF2-40B4-BE49-F238E27FC236}">
                <a16:creationId xmlns:a16="http://schemas.microsoft.com/office/drawing/2014/main" id="{D41FC0AE-253D-D242-9C88-017078F8A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365125"/>
            <a:ext cx="104013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0" name="Date Placeholder 3">
            <a:extLst>
              <a:ext uri="{FF2B5EF4-FFF2-40B4-BE49-F238E27FC236}">
                <a16:creationId xmlns:a16="http://schemas.microsoft.com/office/drawing/2014/main" id="{EF47083A-6D76-4B4D-87CA-E08E212F781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133648" y="6332220"/>
            <a:ext cx="1313180" cy="247651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sz="1100" b="0" i="0">
                <a:solidFill>
                  <a:schemeClr val="bg1"/>
                </a:solidFill>
                <a:latin typeface="+mn-lt"/>
              </a:defRPr>
            </a:lvl1pPr>
          </a:lstStyle>
          <a:p>
            <a:fld id="{28C33A21-5030-4D7B-A261-646E7F8EB457}" type="datetimeFigureOut">
              <a:rPr lang="en-IN" smtClean="0"/>
              <a:pPr/>
              <a:t>10-02-2026</a:t>
            </a:fld>
            <a:endParaRPr lang="en-IN"/>
          </a:p>
        </p:txBody>
      </p:sp>
      <p:sp>
        <p:nvSpPr>
          <p:cNvPr id="32" name="Slide Number Placeholder 5">
            <a:extLst>
              <a:ext uri="{FF2B5EF4-FFF2-40B4-BE49-F238E27FC236}">
                <a16:creationId xmlns:a16="http://schemas.microsoft.com/office/drawing/2014/main" id="{C8ADA0DF-3751-9A48-8A21-59F01C782D7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94360" y="6332220"/>
            <a:ext cx="523240" cy="247651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sz="1100" b="1" i="0">
                <a:solidFill>
                  <a:schemeClr val="bg1"/>
                </a:solidFill>
                <a:latin typeface="+mn-lt"/>
              </a:defRPr>
            </a:lvl1pPr>
          </a:lstStyle>
          <a:p>
            <a:fld id="{272B45CE-63CF-41F9-9548-46D8C4719AD8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4839502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  <p:sldLayoutId id="2147483732" r:id="rId12"/>
    <p:sldLayoutId id="2147483733" r:id="rId13"/>
    <p:sldLayoutId id="2147483734" r:id="rId14"/>
    <p:sldLayoutId id="2147483736" r:id="rId15"/>
    <p:sldLayoutId id="2147483737" r:id="rId16"/>
  </p:sldLayoutIdLst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4400" b="1" i="0" kern="1200" spc="100" baseline="0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28600" indent="-283464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b="0" i="0" kern="1200">
          <a:solidFill>
            <a:schemeClr val="bg1"/>
          </a:solidFill>
          <a:latin typeface="+mn-lt"/>
          <a:ea typeface="+mn-ea"/>
          <a:cs typeface="+mn-cs"/>
        </a:defRPr>
      </a:lvl1pPr>
      <a:lvl2pPr marL="685800" indent="-283464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b="0" i="0" kern="1200">
          <a:solidFill>
            <a:schemeClr val="bg1"/>
          </a:solidFill>
          <a:latin typeface="+mn-lt"/>
          <a:ea typeface="+mn-ea"/>
          <a:cs typeface="+mn-cs"/>
        </a:defRPr>
      </a:lvl2pPr>
      <a:lvl3pPr marL="1143000" indent="-283464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b="0" i="0" kern="1200">
          <a:solidFill>
            <a:schemeClr val="bg1"/>
          </a:solidFill>
          <a:latin typeface="+mn-lt"/>
          <a:ea typeface="+mn-ea"/>
          <a:cs typeface="+mn-cs"/>
        </a:defRPr>
      </a:lvl3pPr>
      <a:lvl4pPr marL="1600200" indent="-283464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bg1"/>
          </a:solidFill>
          <a:latin typeface="+mn-lt"/>
          <a:ea typeface="+mn-ea"/>
          <a:cs typeface="+mn-cs"/>
        </a:defRPr>
      </a:lvl4pPr>
      <a:lvl5pPr marL="2057400" indent="-283464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  <p15:guide id="3" pos="240">
          <p15:clr>
            <a:srgbClr val="547EBF"/>
          </p15:clr>
        </p15:guide>
        <p15:guide id="4" orient="horz" pos="240">
          <p15:clr>
            <a:srgbClr val="547EBF"/>
          </p15:clr>
        </p15:guide>
        <p15:guide id="5" pos="7440">
          <p15:clr>
            <a:srgbClr val="547EBF"/>
          </p15:clr>
        </p15:guide>
        <p15:guide id="6" orient="horz" pos="4080">
          <p15:clr>
            <a:srgbClr val="547EBF"/>
          </p15:clr>
        </p15:guide>
        <p15:guide id="7" pos="600">
          <p15:clr>
            <a:srgbClr val="547EBF"/>
          </p15:clr>
        </p15:guide>
        <p15:guide id="8" pos="3720">
          <p15:clr>
            <a:srgbClr val="547EBF"/>
          </p15:clr>
        </p15:guide>
        <p15:guide id="9" pos="2112">
          <p15:clr>
            <a:srgbClr val="547EBF"/>
          </p15:clr>
        </p15:guide>
        <p15:guide id="10" pos="1848">
          <p15:clr>
            <a:srgbClr val="547EBF"/>
          </p15:clr>
        </p15:guide>
        <p15:guide id="11" pos="5568">
          <p15:clr>
            <a:srgbClr val="547EBF"/>
          </p15:clr>
        </p15:guide>
        <p15:guide id="12" pos="5832">
          <p15:clr>
            <a:srgbClr val="547EBF"/>
          </p15:clr>
        </p15:guide>
        <p15:guide id="13" pos="4968">
          <p15:clr>
            <a:srgbClr val="9FCC3B"/>
          </p15:clr>
        </p15:guide>
        <p15:guide id="14" pos="5208">
          <p15:clr>
            <a:srgbClr val="9FCC3B"/>
          </p15:clr>
        </p15:guide>
        <p15:guide id="15" pos="2712">
          <p15:clr>
            <a:srgbClr val="9FCC3B"/>
          </p15:clr>
        </p15:guide>
        <p15:guide id="16" pos="2472">
          <p15:clr>
            <a:srgbClr val="9FCC3B"/>
          </p15:clr>
        </p15:guide>
        <p15:guide id="17" pos="39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2.jpeg"/><Relationship Id="rId7" Type="http://schemas.openxmlformats.org/officeDocument/2006/relationships/image" Target="../media/image16.pn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15.jpeg"/><Relationship Id="rId11" Type="http://schemas.openxmlformats.org/officeDocument/2006/relationships/image" Target="../media/image20.png"/><Relationship Id="rId5" Type="http://schemas.openxmlformats.org/officeDocument/2006/relationships/image" Target="../media/image14.png"/><Relationship Id="rId10" Type="http://schemas.openxmlformats.org/officeDocument/2006/relationships/image" Target="../media/image19.png"/><Relationship Id="rId4" Type="http://schemas.openxmlformats.org/officeDocument/2006/relationships/image" Target="../media/image13.png"/><Relationship Id="rId9" Type="http://schemas.openxmlformats.org/officeDocument/2006/relationships/image" Target="../media/image18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13" Type="http://schemas.openxmlformats.org/officeDocument/2006/relationships/image" Target="../media/image32.png"/><Relationship Id="rId3" Type="http://schemas.openxmlformats.org/officeDocument/2006/relationships/image" Target="../media/image22.png"/><Relationship Id="rId7" Type="http://schemas.openxmlformats.org/officeDocument/2006/relationships/image" Target="../media/image26.png"/><Relationship Id="rId12" Type="http://schemas.openxmlformats.org/officeDocument/2006/relationships/image" Target="../media/image31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5.png"/><Relationship Id="rId11" Type="http://schemas.openxmlformats.org/officeDocument/2006/relationships/image" Target="../media/image30.png"/><Relationship Id="rId5" Type="http://schemas.openxmlformats.org/officeDocument/2006/relationships/image" Target="../media/image24.png"/><Relationship Id="rId10" Type="http://schemas.openxmlformats.org/officeDocument/2006/relationships/image" Target="../media/image29.png"/><Relationship Id="rId4" Type="http://schemas.openxmlformats.org/officeDocument/2006/relationships/image" Target="../media/image23.png"/><Relationship Id="rId9" Type="http://schemas.openxmlformats.org/officeDocument/2006/relationships/image" Target="../media/image28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6000" b="1" dirty="0"/>
              <a:t>Graphics Processing Unit</a:t>
            </a:r>
          </a:p>
        </p:txBody>
      </p:sp>
      <p:sp>
        <p:nvSpPr>
          <p:cNvPr id="6" name="Subtitle 2"/>
          <p:cNvSpPr>
            <a:spLocks noGrp="1"/>
          </p:cNvSpPr>
          <p:nvPr>
            <p:ph type="subTitle" idx="4294967295"/>
          </p:nvPr>
        </p:nvSpPr>
        <p:spPr>
          <a:xfrm>
            <a:off x="6096000" y="4184780"/>
            <a:ext cx="5911970" cy="1752600"/>
          </a:xfrm>
        </p:spPr>
        <p:txBody>
          <a:bodyPr>
            <a:normAutofit/>
          </a:bodyPr>
          <a:lstStyle/>
          <a:p>
            <a:endParaRPr lang="en-US" sz="3200" dirty="0"/>
          </a:p>
          <a:p>
            <a:pPr marL="0" indent="0">
              <a:buNone/>
            </a:pPr>
            <a:r>
              <a:rPr lang="en-US" sz="3200" dirty="0"/>
              <a:t>Computer Division</a:t>
            </a:r>
          </a:p>
          <a:p>
            <a:pPr marL="0" indent="0">
              <a:buNone/>
            </a:pPr>
            <a:r>
              <a:rPr lang="en-US" sz="3200" dirty="0"/>
              <a:t>Bhabha Atomic Research Centre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6000" b="1" dirty="0"/>
              <a:t>Topics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>
          <a:xfrm>
            <a:off x="594359" y="2281918"/>
            <a:ext cx="7874727" cy="4576082"/>
          </a:xfrm>
        </p:spPr>
        <p:txBody>
          <a:bodyPr>
            <a:normAutofit/>
          </a:bodyPr>
          <a:lstStyle/>
          <a:p>
            <a:pPr>
              <a:spcBef>
                <a:spcPts val="600"/>
              </a:spcBef>
            </a:pPr>
            <a:r>
              <a:rPr lang="en-US" sz="3200" dirty="0"/>
              <a:t>Evolution of Performance</a:t>
            </a:r>
          </a:p>
          <a:p>
            <a:pPr>
              <a:spcBef>
                <a:spcPts val="600"/>
              </a:spcBef>
            </a:pPr>
            <a:r>
              <a:rPr lang="en-US" sz="3200" dirty="0"/>
              <a:t>Applications of GPU</a:t>
            </a:r>
          </a:p>
          <a:p>
            <a:pPr>
              <a:spcBef>
                <a:spcPts val="600"/>
              </a:spcBef>
            </a:pPr>
            <a:r>
              <a:rPr lang="en-US" sz="3200" dirty="0"/>
              <a:t>CPU v/s GPU</a:t>
            </a:r>
          </a:p>
          <a:p>
            <a:pPr>
              <a:spcBef>
                <a:spcPts val="600"/>
              </a:spcBef>
            </a:pPr>
            <a:r>
              <a:rPr lang="en-US" sz="3200" dirty="0"/>
              <a:t>GPU as a Co-processor</a:t>
            </a:r>
          </a:p>
          <a:p>
            <a:pPr>
              <a:spcBef>
                <a:spcPts val="600"/>
              </a:spcBef>
            </a:pPr>
            <a:r>
              <a:rPr lang="en-US" sz="3200" dirty="0"/>
              <a:t>Heterogeneous Computing</a:t>
            </a:r>
          </a:p>
          <a:p>
            <a:pPr>
              <a:spcBef>
                <a:spcPts val="600"/>
              </a:spcBef>
            </a:pPr>
            <a:r>
              <a:rPr lang="en-US" sz="3200" dirty="0"/>
              <a:t>GPU Architecture</a:t>
            </a:r>
          </a:p>
          <a:p>
            <a:pPr>
              <a:spcBef>
                <a:spcPts val="600"/>
              </a:spcBef>
            </a:pPr>
            <a:r>
              <a:rPr lang="en-US" sz="3200" dirty="0"/>
              <a:t>Streaming Multiprocessor</a:t>
            </a:r>
          </a:p>
          <a:p>
            <a:pPr>
              <a:spcBef>
                <a:spcPts val="600"/>
              </a:spcBef>
            </a:pPr>
            <a:r>
              <a:rPr lang="en-US" sz="3200" dirty="0"/>
              <a:t>Memory Hierarchy</a:t>
            </a:r>
          </a:p>
          <a:p>
            <a:pPr>
              <a:spcBef>
                <a:spcPts val="600"/>
              </a:spcBef>
            </a:pPr>
            <a:r>
              <a:rPr lang="en-US" sz="3200" dirty="0"/>
              <a:t>Thread Hierarchy</a:t>
            </a:r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320864-DD42-FFA5-F46E-60C1D9BE50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Evolution of Performance (1)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831B6D-DFCE-EC22-C52A-AD874D3A1DF2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58621" y="2267340"/>
            <a:ext cx="11408540" cy="4590660"/>
          </a:xfrm>
        </p:spPr>
        <p:txBody>
          <a:bodyPr>
            <a:normAutofit/>
          </a:bodyPr>
          <a:lstStyle/>
          <a:p>
            <a:pPr>
              <a:spcBef>
                <a:spcPts val="600"/>
              </a:spcBef>
            </a:pPr>
            <a:r>
              <a:rPr lang="en-GB" sz="2400" b="1" dirty="0"/>
              <a:t>Early Processors:</a:t>
            </a:r>
          </a:p>
          <a:p>
            <a:pPr lvl="1"/>
            <a:r>
              <a:rPr lang="en-GB" sz="2400" dirty="0"/>
              <a:t>Single core</a:t>
            </a:r>
          </a:p>
          <a:p>
            <a:pPr lvl="1"/>
            <a:r>
              <a:rPr lang="en-GB" sz="2400" dirty="0"/>
              <a:t>Increase clock speed</a:t>
            </a:r>
          </a:p>
          <a:p>
            <a:pPr lvl="2"/>
            <a:r>
              <a:rPr lang="en-IN" sz="2400" dirty="0"/>
              <a:t>Number of cycles per second</a:t>
            </a:r>
          </a:p>
          <a:p>
            <a:pPr lvl="2"/>
            <a:r>
              <a:rPr lang="en-IN" sz="2400" dirty="0"/>
              <a:t>Number of instructions per second</a:t>
            </a:r>
            <a:endParaRPr lang="en-GB" sz="2400" dirty="0"/>
          </a:p>
          <a:p>
            <a:pPr lvl="1"/>
            <a:r>
              <a:rPr lang="en-GB" sz="2400" dirty="0"/>
              <a:t>Faster execution of individual instructions</a:t>
            </a:r>
          </a:p>
          <a:p>
            <a:pPr lvl="1"/>
            <a:r>
              <a:rPr lang="en-GB" sz="2400" dirty="0"/>
              <a:t>Limitations of Clock Speed</a:t>
            </a:r>
          </a:p>
          <a:p>
            <a:pPr lvl="2"/>
            <a:r>
              <a:rPr lang="en-GB" sz="2400" dirty="0"/>
              <a:t>Physical limits on clock speeds </a:t>
            </a:r>
          </a:p>
          <a:p>
            <a:pPr lvl="2"/>
            <a:r>
              <a:rPr lang="en-GB" sz="2400" dirty="0"/>
              <a:t>Power or heat dissipation</a:t>
            </a:r>
          </a:p>
        </p:txBody>
      </p:sp>
    </p:spTree>
    <p:extLst>
      <p:ext uri="{BB962C8B-B14F-4D97-AF65-F5344CB8AC3E}">
        <p14:creationId xmlns:p14="http://schemas.microsoft.com/office/powerpoint/2010/main" val="21031643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320864-DD42-FFA5-F46E-60C1D9BE50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Evolution of Performance (2)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831B6D-DFCE-EC22-C52A-AD874D3A1DF2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58621" y="2267340"/>
            <a:ext cx="11408540" cy="4590660"/>
          </a:xfrm>
        </p:spPr>
        <p:txBody>
          <a:bodyPr>
            <a:normAutofit/>
          </a:bodyPr>
          <a:lstStyle/>
          <a:p>
            <a:pPr>
              <a:spcBef>
                <a:spcPts val="600"/>
              </a:spcBef>
            </a:pPr>
            <a:r>
              <a:rPr lang="en-GB" sz="2400" b="1" dirty="0"/>
              <a:t>Multi Core Architecture:</a:t>
            </a:r>
          </a:p>
          <a:p>
            <a:pPr lvl="1"/>
            <a:r>
              <a:rPr lang="en-GB" sz="2400" dirty="0"/>
              <a:t>Multiple cores on Single chip</a:t>
            </a:r>
          </a:p>
          <a:p>
            <a:pPr lvl="1"/>
            <a:r>
              <a:rPr lang="en-GB" sz="2400" dirty="0"/>
              <a:t>Parallel execution of tasks</a:t>
            </a:r>
          </a:p>
          <a:p>
            <a:pPr lvl="1"/>
            <a:r>
              <a:rPr lang="en-GB" sz="2400" dirty="0"/>
              <a:t>Significant overall performance improvement </a:t>
            </a:r>
          </a:p>
          <a:p>
            <a:pPr lvl="1"/>
            <a:r>
              <a:rPr lang="en-GB" sz="2400" dirty="0"/>
              <a:t>Multiple cores – Different threads – Simultaneous execution </a:t>
            </a:r>
          </a:p>
          <a:p>
            <a:pPr lvl="1"/>
            <a:r>
              <a:rPr lang="en-GB" sz="2400" dirty="0"/>
              <a:t>Multi threaded tasks – Performance improvement </a:t>
            </a:r>
          </a:p>
          <a:p>
            <a:pPr lvl="1"/>
            <a:r>
              <a:rPr lang="en-GB" sz="2400" dirty="0"/>
              <a:t>Power Efficiency: </a:t>
            </a:r>
          </a:p>
          <a:p>
            <a:pPr lvl="2"/>
            <a:r>
              <a:rPr lang="en-GB" sz="2400" dirty="0"/>
              <a:t>Individual cores </a:t>
            </a:r>
          </a:p>
          <a:p>
            <a:pPr lvl="2"/>
            <a:r>
              <a:rPr lang="en-GB" sz="2400" dirty="0"/>
              <a:t>Lower clock speed</a:t>
            </a:r>
          </a:p>
          <a:p>
            <a:pPr lvl="2"/>
            <a:r>
              <a:rPr lang="en-GB" sz="2400" dirty="0"/>
              <a:t>Better power efficiency</a:t>
            </a:r>
          </a:p>
        </p:txBody>
      </p:sp>
    </p:spTree>
    <p:extLst>
      <p:ext uri="{BB962C8B-B14F-4D97-AF65-F5344CB8AC3E}">
        <p14:creationId xmlns:p14="http://schemas.microsoft.com/office/powerpoint/2010/main" val="21031643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320864-DD42-FFA5-F46E-60C1D9BE50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Evolution of Performance (3)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831B6D-DFCE-EC22-C52A-AD874D3A1DF2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76201" y="2341984"/>
            <a:ext cx="11633718" cy="4376057"/>
          </a:xfrm>
        </p:spPr>
        <p:txBody>
          <a:bodyPr>
            <a:normAutofit/>
          </a:bodyPr>
          <a:lstStyle/>
          <a:p>
            <a:pPr>
              <a:spcBef>
                <a:spcPts val="600"/>
              </a:spcBef>
            </a:pPr>
            <a:r>
              <a:rPr lang="en-GB" sz="2800" b="1" dirty="0"/>
              <a:t>Heterogeneous Computing</a:t>
            </a:r>
          </a:p>
          <a:p>
            <a:pPr lvl="1">
              <a:spcBef>
                <a:spcPts val="600"/>
              </a:spcBef>
            </a:pPr>
            <a:r>
              <a:rPr lang="en-GB" sz="2400" dirty="0"/>
              <a:t>GPU – </a:t>
            </a:r>
            <a:r>
              <a:rPr lang="en-GB" sz="2400" b="1" dirty="0">
                <a:solidFill>
                  <a:srgbClr val="00B050"/>
                </a:solidFill>
              </a:rPr>
              <a:t>G</a:t>
            </a:r>
            <a:r>
              <a:rPr lang="en-GB" sz="2400" dirty="0"/>
              <a:t>raphics </a:t>
            </a:r>
            <a:r>
              <a:rPr lang="en-GB" sz="2400" b="1" dirty="0">
                <a:solidFill>
                  <a:srgbClr val="00B050"/>
                </a:solidFill>
              </a:rPr>
              <a:t>P</a:t>
            </a:r>
            <a:r>
              <a:rPr lang="en-GB" sz="2400" dirty="0"/>
              <a:t>rocessing </a:t>
            </a:r>
            <a:r>
              <a:rPr lang="en-GB" sz="2400" b="1" dirty="0">
                <a:solidFill>
                  <a:srgbClr val="00B050"/>
                </a:solidFill>
              </a:rPr>
              <a:t>U</a:t>
            </a:r>
            <a:r>
              <a:rPr lang="en-GB" sz="2400" dirty="0"/>
              <a:t>nit</a:t>
            </a:r>
          </a:p>
          <a:p>
            <a:pPr lvl="1">
              <a:spcBef>
                <a:spcPts val="600"/>
              </a:spcBef>
            </a:pPr>
            <a:r>
              <a:rPr lang="en-GB" sz="2400" dirty="0"/>
              <a:t>Specialized processor</a:t>
            </a:r>
          </a:p>
          <a:p>
            <a:pPr lvl="2">
              <a:spcBef>
                <a:spcPts val="600"/>
              </a:spcBef>
            </a:pPr>
            <a:r>
              <a:rPr lang="en-GB" sz="2400" dirty="0"/>
              <a:t>Process large amounts of data</a:t>
            </a:r>
            <a:endParaRPr lang="en-US" sz="2400" dirty="0"/>
          </a:p>
          <a:p>
            <a:pPr lvl="2">
              <a:spcBef>
                <a:spcPts val="600"/>
              </a:spcBef>
            </a:pPr>
            <a:r>
              <a:rPr lang="en-US" sz="2400" dirty="0"/>
              <a:t>High performance </a:t>
            </a:r>
          </a:p>
          <a:p>
            <a:pPr lvl="2">
              <a:spcBef>
                <a:spcPts val="600"/>
              </a:spcBef>
            </a:pPr>
            <a:r>
              <a:rPr lang="en-US" sz="2400" dirty="0"/>
              <a:t>Many core processors </a:t>
            </a:r>
          </a:p>
          <a:p>
            <a:pPr lvl="2">
              <a:spcBef>
                <a:spcPts val="600"/>
              </a:spcBef>
            </a:pPr>
            <a:r>
              <a:rPr lang="en-US" sz="2400" dirty="0"/>
              <a:t>Very high memory bandwidth</a:t>
            </a:r>
          </a:p>
          <a:p>
            <a:pPr lvl="2">
              <a:spcBef>
                <a:spcPts val="600"/>
              </a:spcBef>
            </a:pPr>
            <a:r>
              <a:rPr lang="en-US" sz="2400" dirty="0" err="1"/>
              <a:t>TeraFLOPs</a:t>
            </a:r>
            <a:r>
              <a:rPr lang="en-US" sz="2400" dirty="0"/>
              <a:t> peak performance</a:t>
            </a:r>
          </a:p>
          <a:p>
            <a:pPr lvl="1">
              <a:spcBef>
                <a:spcPts val="600"/>
              </a:spcBef>
            </a:pPr>
            <a:r>
              <a:rPr lang="en-US" sz="2400" dirty="0"/>
              <a:t>Single Instruction Multiple Data (SIMD)</a:t>
            </a:r>
          </a:p>
          <a:p>
            <a:pPr lvl="1">
              <a:spcBef>
                <a:spcPts val="600"/>
              </a:spcBef>
            </a:pPr>
            <a:r>
              <a:rPr lang="en-US" sz="2400" dirty="0"/>
              <a:t>Offload computationally intensive tasks to GPU</a:t>
            </a:r>
          </a:p>
          <a:p>
            <a:pPr marL="0" lvl="1" indent="0">
              <a:spcBef>
                <a:spcPts val="600"/>
              </a:spcBef>
              <a:buNone/>
            </a:pPr>
            <a:endParaRPr lang="en-IN" sz="2400" dirty="0"/>
          </a:p>
          <a:p>
            <a:endParaRPr lang="en-GB" dirty="0"/>
          </a:p>
          <a:p>
            <a:pPr lvl="1"/>
            <a:endParaRPr lang="en-GB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7F123AC-A990-66B2-67F3-0D82CA7D0C1C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74" r="5525"/>
          <a:stretch/>
        </p:blipFill>
        <p:spPr>
          <a:xfrm>
            <a:off x="6520541" y="3685592"/>
            <a:ext cx="5595258" cy="3172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58645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320864-DD42-FFA5-F46E-60C1D9BE50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Evolution of Performance (4)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831B6D-DFCE-EC22-C52A-AD874D3A1DF2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345233" y="2341984"/>
            <a:ext cx="11364685" cy="4376057"/>
          </a:xfrm>
        </p:spPr>
        <p:txBody>
          <a:bodyPr>
            <a:normAutofit/>
          </a:bodyPr>
          <a:lstStyle/>
          <a:p>
            <a:endParaRPr lang="en-GB" dirty="0"/>
          </a:p>
          <a:p>
            <a:pPr lvl="1"/>
            <a:endParaRPr lang="en-GB" dirty="0"/>
          </a:p>
        </p:txBody>
      </p:sp>
      <p:pic>
        <p:nvPicPr>
          <p:cNvPr id="4" name="object 4">
            <a:extLst>
              <a:ext uri="{FF2B5EF4-FFF2-40B4-BE49-F238E27FC236}">
                <a16:creationId xmlns:a16="http://schemas.microsoft.com/office/drawing/2014/main" id="{DA92088D-7C62-B5D8-17F1-35F71812AA3F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0549" y="1759732"/>
            <a:ext cx="5100598" cy="495830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EB0608D-0163-F30F-744E-6089F4D48D2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60337" y="1772725"/>
            <a:ext cx="6314719" cy="49591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62648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3FBA90-AE9C-7774-D2ED-8531A652C1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E436B3-EDA7-C018-FBA9-AA53AB1C48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719632" y="1192529"/>
            <a:ext cx="9778365" cy="710916"/>
          </a:xfrm>
        </p:spPr>
        <p:txBody>
          <a:bodyPr/>
          <a:lstStyle/>
          <a:p>
            <a:pPr algn="ctr"/>
            <a:r>
              <a:rPr lang="en-IN" b="1" dirty="0"/>
              <a:t>Applications of </a:t>
            </a:r>
            <a:r>
              <a:rPr lang="en-IN" dirty="0"/>
              <a:t>GPU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72A2B3-9C48-0873-A6B6-A3F576CFA8C2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285749" y="2209800"/>
            <a:ext cx="11644993" cy="4648200"/>
          </a:xfrm>
        </p:spPr>
        <p:txBody>
          <a:bodyPr>
            <a:normAutofit/>
          </a:bodyPr>
          <a:lstStyle/>
          <a:p>
            <a:pPr>
              <a:spcBef>
                <a:spcPts val="600"/>
              </a:spcBef>
            </a:pPr>
            <a:r>
              <a:rPr lang="en-US" sz="3000" b="1" dirty="0"/>
              <a:t>Computer Graphics – Image Synthesis </a:t>
            </a:r>
          </a:p>
          <a:p>
            <a:pPr lvl="2">
              <a:spcBef>
                <a:spcPts val="600"/>
              </a:spcBef>
            </a:pPr>
            <a:r>
              <a:rPr lang="en-GB" sz="2600" dirty="0"/>
              <a:t>Generates images – Video games, Animated movies</a:t>
            </a:r>
          </a:p>
          <a:p>
            <a:pPr lvl="2">
              <a:spcBef>
                <a:spcPts val="600"/>
              </a:spcBef>
            </a:pPr>
            <a:r>
              <a:rPr lang="en-US" sz="2600" dirty="0"/>
              <a:t>X-ray computed tomography</a:t>
            </a:r>
          </a:p>
          <a:p>
            <a:pPr>
              <a:spcBef>
                <a:spcPts val="600"/>
              </a:spcBef>
            </a:pPr>
            <a:r>
              <a:rPr lang="en-US" sz="3000" b="1" dirty="0"/>
              <a:t>Image Processing </a:t>
            </a:r>
          </a:p>
          <a:p>
            <a:pPr lvl="2">
              <a:spcBef>
                <a:spcPts val="600"/>
              </a:spcBef>
            </a:pPr>
            <a:r>
              <a:rPr lang="en-US" sz="2600" dirty="0"/>
              <a:t> Image analysis – Template matching, SURF features</a:t>
            </a:r>
          </a:p>
          <a:p>
            <a:pPr>
              <a:spcBef>
                <a:spcPts val="600"/>
              </a:spcBef>
            </a:pPr>
            <a:r>
              <a:rPr lang="en-US" sz="3000" b="1" dirty="0"/>
              <a:t>High Performance Computing</a:t>
            </a:r>
          </a:p>
          <a:p>
            <a:pPr lvl="2">
              <a:spcBef>
                <a:spcPts val="600"/>
              </a:spcBef>
            </a:pPr>
            <a:r>
              <a:rPr lang="en-US" sz="2600" dirty="0"/>
              <a:t>Computational Fluid Dynamics (CFD), Molecular Dynamics</a:t>
            </a:r>
          </a:p>
          <a:p>
            <a:pPr>
              <a:spcBef>
                <a:spcPts val="600"/>
              </a:spcBef>
            </a:pPr>
            <a:r>
              <a:rPr lang="en-US" sz="3000" b="1" dirty="0"/>
              <a:t>AI/ML</a:t>
            </a:r>
          </a:p>
          <a:p>
            <a:pPr lvl="2">
              <a:spcBef>
                <a:spcPts val="600"/>
              </a:spcBef>
            </a:pPr>
            <a:r>
              <a:rPr lang="en-US" sz="2600" dirty="0"/>
              <a:t>Deep Learning – Object detection, object recognition, image segmentation</a:t>
            </a:r>
          </a:p>
          <a:p>
            <a:pPr lvl="2">
              <a:spcBef>
                <a:spcPts val="600"/>
              </a:spcBef>
            </a:pPr>
            <a:r>
              <a:rPr lang="en-US" sz="2600" dirty="0"/>
              <a:t>Large Language Models (LLM) – </a:t>
            </a:r>
            <a:r>
              <a:rPr lang="en-US" sz="2600" dirty="0" err="1"/>
              <a:t>ChatGPT</a:t>
            </a:r>
            <a:r>
              <a:rPr lang="en-US" sz="2600" dirty="0"/>
              <a:t>, Llama  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951844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B79359-4A0A-91FD-7260-8BC06768DD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2083526" y="582929"/>
            <a:ext cx="9778365" cy="1494596"/>
          </a:xfrm>
        </p:spPr>
        <p:txBody>
          <a:bodyPr>
            <a:normAutofit/>
          </a:bodyPr>
          <a:lstStyle/>
          <a:p>
            <a:pPr algn="ctr"/>
            <a:r>
              <a:rPr lang="en-US" sz="6000" b="1" dirty="0"/>
              <a:t>CPU v/s GPU</a:t>
            </a:r>
            <a:endParaRPr lang="en-IN" sz="6000" b="1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35CC757-BF73-1C15-8582-4990B3130F8C}"/>
              </a:ext>
            </a:extLst>
          </p:cNvPr>
          <p:cNvPicPr>
            <a:picLocks noGrp="1" noChangeAspect="1"/>
          </p:cNvPicPr>
          <p:nvPr>
            <p:ph sz="quarter" idx="1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65203" y="2492830"/>
            <a:ext cx="8411306" cy="4109522"/>
          </a:xfrm>
        </p:spPr>
      </p:pic>
    </p:spTree>
    <p:extLst>
      <p:ext uri="{BB962C8B-B14F-4D97-AF65-F5344CB8AC3E}">
        <p14:creationId xmlns:p14="http://schemas.microsoft.com/office/powerpoint/2010/main" val="149551364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DAADB7-A8BC-A927-7CA8-9D084E0E32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E55247-09F3-96F2-B6BC-92FF654C7E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2671354" y="572044"/>
            <a:ext cx="9778365" cy="1494596"/>
          </a:xfrm>
        </p:spPr>
        <p:txBody>
          <a:bodyPr/>
          <a:lstStyle/>
          <a:p>
            <a:pPr algn="ctr"/>
            <a:r>
              <a:rPr lang="en-US" b="1" dirty="0"/>
              <a:t>CPU v/s GPU</a:t>
            </a:r>
            <a:endParaRPr lang="en-IN" b="1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86D016A-BB63-BC72-7B6D-7929EDD32604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363895" y="2295330"/>
            <a:ext cx="5019868" cy="4497355"/>
          </a:xfrm>
        </p:spPr>
        <p:txBody>
          <a:bodyPr>
            <a:normAutofit fontScale="85000" lnSpcReduction="20000"/>
          </a:bodyPr>
          <a:lstStyle/>
          <a:p>
            <a:pPr>
              <a:spcBef>
                <a:spcPts val="600"/>
              </a:spcBef>
            </a:pPr>
            <a:r>
              <a:rPr lang="en-US" sz="3200" b="1" dirty="0"/>
              <a:t>Central Processing Unit – CPU </a:t>
            </a:r>
          </a:p>
          <a:p>
            <a:pPr marL="342900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3200" dirty="0"/>
              <a:t>Less number of cores (~100)</a:t>
            </a:r>
          </a:p>
          <a:p>
            <a:pPr marL="342900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3200" dirty="0"/>
              <a:t>Low compute density</a:t>
            </a:r>
          </a:p>
          <a:p>
            <a:pPr marL="342900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3200" dirty="0"/>
              <a:t>Low latency</a:t>
            </a:r>
          </a:p>
          <a:p>
            <a:pPr marL="342900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3200" dirty="0"/>
              <a:t>Higher clock speed</a:t>
            </a:r>
          </a:p>
          <a:p>
            <a:pPr marL="342900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3200" dirty="0"/>
              <a:t>Powerful cores</a:t>
            </a:r>
          </a:p>
          <a:p>
            <a:pPr marL="342900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3200" dirty="0"/>
              <a:t>Serial instruction processing</a:t>
            </a:r>
          </a:p>
          <a:p>
            <a:pPr marL="342900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3200" dirty="0"/>
              <a:t>Handful of operations at once</a:t>
            </a:r>
          </a:p>
          <a:p>
            <a:pPr marL="342900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3200" dirty="0"/>
              <a:t>Suitable for serial instruction processing</a:t>
            </a:r>
          </a:p>
          <a:p>
            <a:pPr marL="342900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3200" dirty="0"/>
              <a:t>Versatility - C</a:t>
            </a:r>
            <a:r>
              <a:rPr lang="en-GB" sz="3200" dirty="0"/>
              <a:t>an be used for tasks such as OS or I/O etc</a:t>
            </a:r>
            <a:endParaRPr lang="en-US" sz="32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/>
          </a:p>
          <a:p>
            <a:endParaRPr lang="en-IN" dirty="0"/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3573FD39-B831-D144-F60E-DF94A95800D4}"/>
              </a:ext>
            </a:extLst>
          </p:cNvPr>
          <p:cNvSpPr txBox="1">
            <a:spLocks/>
          </p:cNvSpPr>
          <p:nvPr/>
        </p:nvSpPr>
        <p:spPr>
          <a:xfrm>
            <a:off x="5821248" y="2230015"/>
            <a:ext cx="5809360" cy="4562670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600"/>
              </a:spcBef>
              <a:buNone/>
            </a:pPr>
            <a:r>
              <a:rPr lang="en-IN" b="1" dirty="0">
                <a:solidFill>
                  <a:schemeClr val="bg1"/>
                </a:solidFill>
              </a:rPr>
              <a:t>Graphics Processing Unit – GPU </a:t>
            </a:r>
          </a:p>
          <a:p>
            <a:pPr marL="342900" indent="-342900">
              <a:spcBef>
                <a:spcPts val="600"/>
              </a:spcBef>
            </a:pPr>
            <a:r>
              <a:rPr lang="en-IN" sz="2900" dirty="0">
                <a:solidFill>
                  <a:schemeClr val="bg1"/>
                </a:solidFill>
              </a:rPr>
              <a:t>Large number of cores (~5000)</a:t>
            </a:r>
          </a:p>
          <a:p>
            <a:pPr marL="342900" indent="-342900">
              <a:spcBef>
                <a:spcPts val="600"/>
              </a:spcBef>
            </a:pPr>
            <a:r>
              <a:rPr lang="en-IN" sz="2900" dirty="0">
                <a:solidFill>
                  <a:schemeClr val="bg1"/>
                </a:solidFill>
              </a:rPr>
              <a:t>High compute density</a:t>
            </a:r>
          </a:p>
          <a:p>
            <a:pPr marL="342900" indent="-342900">
              <a:spcBef>
                <a:spcPts val="600"/>
              </a:spcBef>
            </a:pPr>
            <a:r>
              <a:rPr lang="en-IN" sz="2900" dirty="0">
                <a:solidFill>
                  <a:schemeClr val="bg1"/>
                </a:solidFill>
              </a:rPr>
              <a:t>High throughput</a:t>
            </a:r>
          </a:p>
          <a:p>
            <a:pPr marL="342900" indent="-342900">
              <a:spcBef>
                <a:spcPts val="600"/>
              </a:spcBef>
            </a:pPr>
            <a:r>
              <a:rPr lang="en-IN" sz="2900" dirty="0">
                <a:solidFill>
                  <a:schemeClr val="bg1"/>
                </a:solidFill>
              </a:rPr>
              <a:t>Lower clock speed</a:t>
            </a:r>
          </a:p>
          <a:p>
            <a:pPr marL="342900" indent="-342900">
              <a:spcBef>
                <a:spcPts val="600"/>
              </a:spcBef>
            </a:pPr>
            <a:r>
              <a:rPr lang="en-IN" sz="2900" dirty="0">
                <a:solidFill>
                  <a:schemeClr val="bg1"/>
                </a:solidFill>
              </a:rPr>
              <a:t>Weak cores</a:t>
            </a:r>
          </a:p>
          <a:p>
            <a:pPr marL="342900" indent="-342900">
              <a:spcBef>
                <a:spcPts val="600"/>
              </a:spcBef>
            </a:pPr>
            <a:r>
              <a:rPr lang="en-IN" sz="2900" dirty="0">
                <a:solidFill>
                  <a:schemeClr val="bg1"/>
                </a:solidFill>
              </a:rPr>
              <a:t>Parallel </a:t>
            </a:r>
            <a:r>
              <a:rPr lang="en-US" sz="2900" dirty="0">
                <a:solidFill>
                  <a:schemeClr val="bg1"/>
                </a:solidFill>
              </a:rPr>
              <a:t>instruction</a:t>
            </a:r>
            <a:r>
              <a:rPr lang="en-IN" sz="2900" dirty="0">
                <a:solidFill>
                  <a:schemeClr val="bg1"/>
                </a:solidFill>
              </a:rPr>
              <a:t> processing</a:t>
            </a:r>
          </a:p>
          <a:p>
            <a:pPr marL="342900" indent="-342900">
              <a:spcBef>
                <a:spcPts val="600"/>
              </a:spcBef>
            </a:pPr>
            <a:r>
              <a:rPr lang="en-US" sz="2900" dirty="0">
                <a:solidFill>
                  <a:schemeClr val="bg1"/>
                </a:solidFill>
              </a:rPr>
              <a:t>Thousands of operations at once</a:t>
            </a:r>
            <a:endParaRPr lang="en-IN" sz="2900" dirty="0">
              <a:solidFill>
                <a:schemeClr val="bg1"/>
              </a:solidFill>
            </a:endParaRPr>
          </a:p>
          <a:p>
            <a:pPr marL="342900" indent="-342900">
              <a:spcBef>
                <a:spcPts val="600"/>
              </a:spcBef>
            </a:pPr>
            <a:r>
              <a:rPr lang="en-GB" sz="2900" dirty="0">
                <a:solidFill>
                  <a:schemeClr val="bg1"/>
                </a:solidFill>
              </a:rPr>
              <a:t>Not suitable for serial instruction processing</a:t>
            </a:r>
          </a:p>
          <a:p>
            <a:pPr marL="342900" indent="-342900">
              <a:spcBef>
                <a:spcPts val="600"/>
              </a:spcBef>
            </a:pPr>
            <a:r>
              <a:rPr lang="en-GB" sz="2900" dirty="0">
                <a:solidFill>
                  <a:schemeClr val="bg1"/>
                </a:solidFill>
              </a:rPr>
              <a:t>Not Versatile – Cannot be used for tasks such as OS or I/O etc</a:t>
            </a:r>
            <a:endParaRPr lang="en-IN" sz="29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5103364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Text Box 1">
            <a:extLst>
              <a:ext uri="{FF2B5EF4-FFF2-40B4-BE49-F238E27FC236}">
                <a16:creationId xmlns:a16="http://schemas.microsoft.com/office/drawing/2014/main" id="{52D8AABF-8150-4DB0-179A-D08727AEBA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1197428" y="1095634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ts val="8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buChar char="•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3200">
                <a:solidFill>
                  <a:srgbClr val="000000"/>
                </a:solidFill>
                <a:latin typeface="Calibri" panose="020F0502020204030204" pitchFamily="34" charset="0"/>
                <a:ea typeface="Microsoft YaHei" panose="020B0503020204020204" pitchFamily="34" charset="-122"/>
              </a:defRPr>
            </a:lvl1pPr>
            <a:lvl2pPr>
              <a:spcBef>
                <a:spcPts val="7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buChar char="–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800">
                <a:solidFill>
                  <a:srgbClr val="000000"/>
                </a:solidFill>
                <a:latin typeface="Calibri" panose="020F0502020204030204" pitchFamily="34" charset="0"/>
                <a:ea typeface="Microsoft YaHei" panose="020B0503020204020204" pitchFamily="34" charset="-122"/>
              </a:defRPr>
            </a:lvl2pPr>
            <a:lvl3pPr>
              <a:spcBef>
                <a:spcPts val="6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buChar char="•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rgbClr val="000000"/>
                </a:solidFill>
                <a:latin typeface="Calibri" panose="020F0502020204030204" pitchFamily="34" charset="0"/>
                <a:ea typeface="Microsoft YaHei" panose="020B0503020204020204" pitchFamily="34" charset="-122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buChar char="–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Calibri" panose="020F0502020204030204" pitchFamily="34" charset="0"/>
                <a:ea typeface="Microsoft YaHei" panose="020B0503020204020204" pitchFamily="34" charset="-122"/>
              </a:defRPr>
            </a:lvl4pPr>
            <a:lvl5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buChar char="»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Calibri" panose="020F0502020204030204" pitchFamily="34" charset="0"/>
                <a:ea typeface="Microsoft YaHei" panose="020B0503020204020204" pitchFamily="34" charset="-122"/>
              </a:defRPr>
            </a:lvl5pPr>
            <a:lvl6pPr marL="25146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Char char="»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Calibri" panose="020F0502020204030204" pitchFamily="34" charset="0"/>
                <a:ea typeface="Microsoft YaHei" panose="020B0503020204020204" pitchFamily="34" charset="-122"/>
              </a:defRPr>
            </a:lvl6pPr>
            <a:lvl7pPr marL="29718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Char char="»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Calibri" panose="020F0502020204030204" pitchFamily="34" charset="0"/>
                <a:ea typeface="Microsoft YaHei" panose="020B0503020204020204" pitchFamily="34" charset="-122"/>
              </a:defRPr>
            </a:lvl7pPr>
            <a:lvl8pPr marL="34290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Char char="»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Calibri" panose="020F0502020204030204" pitchFamily="34" charset="0"/>
                <a:ea typeface="Microsoft YaHei" panose="020B0503020204020204" pitchFamily="34" charset="-122"/>
              </a:defRPr>
            </a:lvl8pPr>
            <a:lvl9pPr marL="38862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Char char="»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Calibri" panose="020F0502020204030204" pitchFamily="34" charset="0"/>
                <a:ea typeface="Microsoft YaHei" panose="020B0503020204020204" pitchFamily="34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4400" b="1" dirty="0"/>
              <a:t>GPU as Co-processor</a:t>
            </a:r>
          </a:p>
        </p:txBody>
      </p:sp>
      <p:sp>
        <p:nvSpPr>
          <p:cNvPr id="13314" name="Text Box 2">
            <a:extLst>
              <a:ext uri="{FF2B5EF4-FFF2-40B4-BE49-F238E27FC236}">
                <a16:creationId xmlns:a16="http://schemas.microsoft.com/office/drawing/2014/main" id="{AC4E3C81-A98A-43E0-B8D3-51771FA98F5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8971" y="2351314"/>
            <a:ext cx="10722429" cy="3631974"/>
          </a:xfrm>
          <a:prstGeom prst="rect">
            <a:avLst/>
          </a:prstGeom>
          <a:noFill/>
          <a:ln w="9525" cap="flat">
            <a:noFill/>
            <a:round/>
            <a:headEnd/>
            <a:tailEnd/>
          </a:ln>
          <a:effectLst/>
        </p:spPr>
        <p:txBody>
          <a:bodyPr/>
          <a:lstStyle/>
          <a:p>
            <a:pPr>
              <a:lnSpc>
                <a:spcPct val="90000"/>
              </a:lnSpc>
              <a:spcBef>
                <a:spcPts val="800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  <a:tab pos="104775" algn="l"/>
                <a:tab pos="554038" algn="l"/>
                <a:tab pos="1003300" algn="l"/>
                <a:tab pos="1452563" algn="l"/>
                <a:tab pos="1901825" algn="l"/>
                <a:tab pos="2351088" algn="l"/>
                <a:tab pos="2800350" algn="l"/>
                <a:tab pos="3249613" algn="l"/>
                <a:tab pos="3698875" algn="l"/>
                <a:tab pos="4148138" algn="l"/>
                <a:tab pos="4597400" algn="l"/>
                <a:tab pos="5046663" algn="l"/>
                <a:tab pos="5495925" algn="l"/>
                <a:tab pos="5945188" algn="l"/>
                <a:tab pos="6394450" algn="l"/>
                <a:tab pos="6843713" algn="l"/>
                <a:tab pos="7292975" algn="l"/>
                <a:tab pos="7742238" algn="l"/>
                <a:tab pos="8191500" algn="l"/>
                <a:tab pos="8640763" algn="l"/>
              </a:tabLst>
              <a:defRPr/>
            </a:pPr>
            <a:r>
              <a:rPr lang="en-US" sz="3200" dirty="0">
                <a:solidFill>
                  <a:srgbClr val="000000"/>
                </a:solidFill>
                <a:latin typeface="Calibri" pitchFamily="32" charset="0"/>
              </a:rPr>
              <a:t> </a:t>
            </a:r>
            <a:r>
              <a:rPr lang="en-US" sz="3200" dirty="0">
                <a:solidFill>
                  <a:srgbClr val="FF0000"/>
                </a:solidFill>
                <a:latin typeface="Calibri" pitchFamily="32" charset="0"/>
              </a:rPr>
              <a:t>GPU as Compute device</a:t>
            </a:r>
          </a:p>
          <a:p>
            <a:pPr marL="1174750" lvl="1" indent="-500063">
              <a:spcBef>
                <a:spcPts val="700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  <a:tab pos="104775" algn="l"/>
                <a:tab pos="554038" algn="l"/>
                <a:tab pos="1003300" algn="l"/>
                <a:tab pos="1452563" algn="l"/>
                <a:tab pos="1901825" algn="l"/>
                <a:tab pos="2351088" algn="l"/>
                <a:tab pos="2800350" algn="l"/>
                <a:tab pos="3249613" algn="l"/>
                <a:tab pos="3698875" algn="l"/>
                <a:tab pos="4148138" algn="l"/>
                <a:tab pos="4597400" algn="l"/>
                <a:tab pos="5046663" algn="l"/>
                <a:tab pos="5495925" algn="l"/>
                <a:tab pos="5945188" algn="l"/>
                <a:tab pos="6394450" algn="l"/>
                <a:tab pos="6843713" algn="l"/>
                <a:tab pos="7292975" algn="l"/>
                <a:tab pos="7742238" algn="l"/>
                <a:tab pos="8191500" algn="l"/>
                <a:tab pos="8640763" algn="l"/>
              </a:tabLst>
              <a:defRPr/>
            </a:pPr>
            <a:r>
              <a:rPr lang="en-US" sz="2800" dirty="0">
                <a:solidFill>
                  <a:srgbClr val="0070C0"/>
                </a:solidFill>
                <a:latin typeface="Calibri" pitchFamily="32" charset="0"/>
              </a:rPr>
              <a:t>Has its own DRAM</a:t>
            </a:r>
          </a:p>
          <a:p>
            <a:pPr marL="1174750" lvl="1" indent="-500063">
              <a:spcBef>
                <a:spcPts val="700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  <a:tab pos="104775" algn="l"/>
                <a:tab pos="554038" algn="l"/>
                <a:tab pos="1003300" algn="l"/>
                <a:tab pos="1452563" algn="l"/>
                <a:tab pos="1901825" algn="l"/>
                <a:tab pos="2351088" algn="l"/>
                <a:tab pos="2800350" algn="l"/>
                <a:tab pos="3249613" algn="l"/>
                <a:tab pos="3698875" algn="l"/>
                <a:tab pos="4148138" algn="l"/>
                <a:tab pos="4597400" algn="l"/>
                <a:tab pos="5046663" algn="l"/>
                <a:tab pos="5495925" algn="l"/>
                <a:tab pos="5945188" algn="l"/>
                <a:tab pos="6394450" algn="l"/>
                <a:tab pos="6843713" algn="l"/>
                <a:tab pos="7292975" algn="l"/>
                <a:tab pos="7742238" algn="l"/>
                <a:tab pos="8191500" algn="l"/>
                <a:tab pos="8640763" algn="l"/>
              </a:tabLst>
              <a:defRPr/>
            </a:pPr>
            <a:r>
              <a:rPr lang="en-US" sz="2800" dirty="0">
                <a:solidFill>
                  <a:srgbClr val="0070C0"/>
                </a:solidFill>
                <a:latin typeface="Calibri" pitchFamily="32" charset="0"/>
              </a:rPr>
              <a:t>Can run multiple threads in parallel</a:t>
            </a:r>
          </a:p>
          <a:p>
            <a:pPr>
              <a:lnSpc>
                <a:spcPct val="90000"/>
              </a:lnSpc>
              <a:spcBef>
                <a:spcPts val="800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  <a:tab pos="104775" algn="l"/>
                <a:tab pos="554038" algn="l"/>
                <a:tab pos="1003300" algn="l"/>
                <a:tab pos="1452563" algn="l"/>
                <a:tab pos="1901825" algn="l"/>
                <a:tab pos="2351088" algn="l"/>
                <a:tab pos="2800350" algn="l"/>
                <a:tab pos="3249613" algn="l"/>
                <a:tab pos="3698875" algn="l"/>
                <a:tab pos="4148138" algn="l"/>
                <a:tab pos="4597400" algn="l"/>
                <a:tab pos="5046663" algn="l"/>
                <a:tab pos="5495925" algn="l"/>
                <a:tab pos="5945188" algn="l"/>
                <a:tab pos="6394450" algn="l"/>
                <a:tab pos="6843713" algn="l"/>
                <a:tab pos="7292975" algn="l"/>
                <a:tab pos="7742238" algn="l"/>
                <a:tab pos="8191500" algn="l"/>
                <a:tab pos="8640763" algn="l"/>
              </a:tabLst>
              <a:defRPr/>
            </a:pPr>
            <a:r>
              <a:rPr lang="en-US" sz="3200" dirty="0">
                <a:solidFill>
                  <a:srgbClr val="000000"/>
                </a:solidFill>
                <a:latin typeface="Calibri" pitchFamily="32" charset="0"/>
              </a:rPr>
              <a:t> </a:t>
            </a:r>
            <a:r>
              <a:rPr lang="en-US" sz="3200" dirty="0">
                <a:solidFill>
                  <a:srgbClr val="FF0000"/>
                </a:solidFill>
                <a:latin typeface="Calibri" pitchFamily="32" charset="0"/>
              </a:rPr>
              <a:t>Application runs on host</a:t>
            </a:r>
          </a:p>
          <a:p>
            <a:pPr marL="233363" indent="-233363">
              <a:lnSpc>
                <a:spcPct val="90000"/>
              </a:lnSpc>
              <a:spcBef>
                <a:spcPts val="800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  <a:tab pos="104775" algn="l"/>
                <a:tab pos="554038" algn="l"/>
                <a:tab pos="1003300" algn="l"/>
                <a:tab pos="1452563" algn="l"/>
                <a:tab pos="1901825" algn="l"/>
                <a:tab pos="2351088" algn="l"/>
                <a:tab pos="2800350" algn="l"/>
                <a:tab pos="3249613" algn="l"/>
                <a:tab pos="3698875" algn="l"/>
                <a:tab pos="4148138" algn="l"/>
                <a:tab pos="4597400" algn="l"/>
                <a:tab pos="5046663" algn="l"/>
                <a:tab pos="5495925" algn="l"/>
                <a:tab pos="5945188" algn="l"/>
                <a:tab pos="6394450" algn="l"/>
                <a:tab pos="6843713" algn="l"/>
                <a:tab pos="7292975" algn="l"/>
                <a:tab pos="7742238" algn="l"/>
                <a:tab pos="8191500" algn="l"/>
                <a:tab pos="8640763" algn="l"/>
              </a:tabLst>
              <a:defRPr/>
            </a:pPr>
            <a:r>
              <a:rPr lang="en-US" sz="3200" dirty="0">
                <a:solidFill>
                  <a:srgbClr val="FF0000"/>
                </a:solidFill>
                <a:latin typeface="Calibri" pitchFamily="32" charset="0"/>
              </a:rPr>
              <a:t>The compute intensive, data-parallel part is sent to GPU</a:t>
            </a:r>
          </a:p>
          <a:p>
            <a:pPr marL="1174750" lvl="1" indent="-500063">
              <a:spcBef>
                <a:spcPts val="700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  <a:tab pos="104775" algn="l"/>
                <a:tab pos="554038" algn="l"/>
                <a:tab pos="1003300" algn="l"/>
                <a:tab pos="1452563" algn="l"/>
                <a:tab pos="1901825" algn="l"/>
                <a:tab pos="2351088" algn="l"/>
                <a:tab pos="2800350" algn="l"/>
                <a:tab pos="3249613" algn="l"/>
                <a:tab pos="3698875" algn="l"/>
                <a:tab pos="4148138" algn="l"/>
                <a:tab pos="4597400" algn="l"/>
                <a:tab pos="5046663" algn="l"/>
                <a:tab pos="5495925" algn="l"/>
                <a:tab pos="5945188" algn="l"/>
                <a:tab pos="6394450" algn="l"/>
                <a:tab pos="6843713" algn="l"/>
                <a:tab pos="7292975" algn="l"/>
                <a:tab pos="7742238" algn="l"/>
                <a:tab pos="8191500" algn="l"/>
                <a:tab pos="8640763" algn="l"/>
              </a:tabLst>
              <a:defRPr/>
            </a:pPr>
            <a:r>
              <a:rPr lang="en-US" sz="3200" dirty="0">
                <a:solidFill>
                  <a:srgbClr val="0070C0"/>
                </a:solidFill>
                <a:latin typeface="Calibri" pitchFamily="32" charset="0"/>
              </a:rPr>
              <a:t>Written as C functions called kernel</a:t>
            </a:r>
          </a:p>
          <a:p>
            <a:pPr marL="1174750" lvl="1" indent="-500063">
              <a:spcBef>
                <a:spcPts val="700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  <a:tab pos="104775" algn="l"/>
                <a:tab pos="554038" algn="l"/>
                <a:tab pos="1003300" algn="l"/>
                <a:tab pos="1452563" algn="l"/>
                <a:tab pos="1901825" algn="l"/>
                <a:tab pos="2351088" algn="l"/>
                <a:tab pos="2800350" algn="l"/>
                <a:tab pos="3249613" algn="l"/>
                <a:tab pos="3698875" algn="l"/>
                <a:tab pos="4148138" algn="l"/>
                <a:tab pos="4597400" algn="l"/>
                <a:tab pos="5046663" algn="l"/>
                <a:tab pos="5495925" algn="l"/>
                <a:tab pos="5945188" algn="l"/>
                <a:tab pos="6394450" algn="l"/>
                <a:tab pos="6843713" algn="l"/>
                <a:tab pos="7292975" algn="l"/>
                <a:tab pos="7742238" algn="l"/>
                <a:tab pos="8191500" algn="l"/>
                <a:tab pos="8640763" algn="l"/>
              </a:tabLst>
              <a:defRPr/>
            </a:pPr>
            <a:r>
              <a:rPr lang="en-US" sz="3200" dirty="0">
                <a:solidFill>
                  <a:srgbClr val="0070C0"/>
                </a:solidFill>
                <a:latin typeface="Calibri" pitchFamily="32" charset="0"/>
              </a:rPr>
              <a:t>The kernel is executed on device simultaneously by multiple threads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DE225C6-4803-DBFA-865A-C75C2B30C94B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07" r="3566"/>
          <a:stretch/>
        </p:blipFill>
        <p:spPr>
          <a:xfrm>
            <a:off x="7652656" y="-1"/>
            <a:ext cx="4542405" cy="659674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5D384CA-E7EA-AA7E-605E-102EB90DA4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889207" y="455410"/>
            <a:ext cx="9778365" cy="1494596"/>
          </a:xfrm>
        </p:spPr>
        <p:txBody>
          <a:bodyPr/>
          <a:lstStyle/>
          <a:p>
            <a:pPr algn="ctr"/>
            <a:r>
              <a:rPr lang="en-GB" dirty="0"/>
              <a:t>Heterogeneous Computing</a:t>
            </a:r>
            <a:endParaRPr lang="en-IN" b="1" dirty="0"/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786D016A-BB63-BC72-7B6D-7929EDD32604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354874" y="2405417"/>
            <a:ext cx="4490827" cy="4486274"/>
          </a:xfrm>
        </p:spPr>
        <p:txBody>
          <a:bodyPr>
            <a:normAutofit/>
          </a:bodyPr>
          <a:lstStyle/>
          <a:p>
            <a:pPr>
              <a:spcBef>
                <a:spcPts val="600"/>
              </a:spcBef>
            </a:pPr>
            <a:r>
              <a:rPr lang="en-US" sz="2800" b="1" dirty="0"/>
              <a:t>Serial Code</a:t>
            </a:r>
          </a:p>
          <a:p>
            <a:pPr lvl="2">
              <a:spcBef>
                <a:spcPts val="600"/>
              </a:spcBef>
            </a:pPr>
            <a:r>
              <a:rPr lang="en-US" sz="2800" dirty="0"/>
              <a:t>Executed on CPU</a:t>
            </a:r>
          </a:p>
          <a:p>
            <a:pPr lvl="2">
              <a:spcBef>
                <a:spcPts val="600"/>
              </a:spcBef>
            </a:pPr>
            <a:r>
              <a:rPr lang="en-US" sz="2800" dirty="0"/>
              <a:t>Host Code</a:t>
            </a:r>
          </a:p>
          <a:p>
            <a:pPr>
              <a:spcBef>
                <a:spcPts val="600"/>
              </a:spcBef>
            </a:pPr>
            <a:r>
              <a:rPr lang="en-US" sz="2800" b="1" dirty="0"/>
              <a:t>Parallel Code</a:t>
            </a:r>
          </a:p>
          <a:p>
            <a:pPr lvl="2">
              <a:spcBef>
                <a:spcPts val="600"/>
              </a:spcBef>
            </a:pPr>
            <a:r>
              <a:rPr lang="en-US" sz="2800" dirty="0"/>
              <a:t>Executed on GPU</a:t>
            </a:r>
          </a:p>
          <a:p>
            <a:pPr lvl="2">
              <a:spcBef>
                <a:spcPts val="600"/>
              </a:spcBef>
            </a:pPr>
            <a:r>
              <a:rPr lang="en-US" sz="2800" dirty="0"/>
              <a:t>Device Code</a:t>
            </a:r>
          </a:p>
          <a:p>
            <a:pPr lvl="2">
              <a:spcBef>
                <a:spcPts val="600"/>
              </a:spcBef>
            </a:pPr>
            <a:r>
              <a:rPr lang="en-US" sz="2800" dirty="0"/>
              <a:t>Kernel</a:t>
            </a:r>
          </a:p>
          <a:p>
            <a:pPr>
              <a:spcBef>
                <a:spcPts val="600"/>
              </a:spcBef>
            </a:pPr>
            <a:r>
              <a:rPr lang="en-US" sz="2800" dirty="0"/>
              <a:t>CPU – Host  </a:t>
            </a:r>
          </a:p>
          <a:p>
            <a:pPr>
              <a:spcBef>
                <a:spcPts val="600"/>
              </a:spcBef>
            </a:pPr>
            <a:r>
              <a:rPr lang="en-US" sz="2800" dirty="0"/>
              <a:t>GPU – Co–processor 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0948753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3AAE83-E854-CBC8-81E2-69A2892FD4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dirty="0"/>
              <a:t>Heterogeneous Computing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C78C9A-ED2A-D365-8FB6-B2355E309873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594360" y="2295526"/>
            <a:ext cx="10006965" cy="4448174"/>
          </a:xfrm>
        </p:spPr>
        <p:txBody>
          <a:bodyPr>
            <a:normAutofit/>
          </a:bodyPr>
          <a:lstStyle/>
          <a:p>
            <a:r>
              <a:rPr lang="en-US" sz="2800" b="1" dirty="0"/>
              <a:t>Step 1:</a:t>
            </a:r>
            <a:r>
              <a:rPr lang="en-US" sz="2800" dirty="0"/>
              <a:t> Initialize the memories on both CPU and GPU.</a:t>
            </a:r>
          </a:p>
          <a:p>
            <a:r>
              <a:rPr lang="en-US" sz="2800" b="1" dirty="0"/>
              <a:t>Step 2:</a:t>
            </a:r>
            <a:r>
              <a:rPr lang="en-US" sz="2800" dirty="0"/>
              <a:t> Transfer the data to a GPU.</a:t>
            </a:r>
          </a:p>
          <a:p>
            <a:r>
              <a:rPr lang="en-US" sz="2800" b="1" dirty="0"/>
              <a:t>Step 3:</a:t>
            </a:r>
            <a:r>
              <a:rPr lang="en-US" sz="2800" dirty="0"/>
              <a:t> Do the computation on a GPU.</a:t>
            </a:r>
          </a:p>
          <a:p>
            <a:r>
              <a:rPr lang="en-US" sz="2800" b="1" dirty="0"/>
              <a:t>Step 4:</a:t>
            </a:r>
            <a:r>
              <a:rPr lang="en-US" sz="2800" dirty="0"/>
              <a:t> Transfer the data back to a CPU.</a:t>
            </a:r>
          </a:p>
          <a:p>
            <a:r>
              <a:rPr lang="en-US" sz="2800" b="1" dirty="0"/>
              <a:t>Step 5:</a:t>
            </a:r>
            <a:r>
              <a:rPr lang="en-US" sz="2800" dirty="0"/>
              <a:t> Delete the memories on both CPU and GPU.</a:t>
            </a: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716212152"/>
      </p:ext>
    </p:extLst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26365024"/>
              </p:ext>
            </p:extLst>
          </p:nvPr>
        </p:nvGraphicFramePr>
        <p:xfrm>
          <a:off x="3402456" y="2635284"/>
          <a:ext cx="1181660" cy="75807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8660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845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660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763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57150">
                      <a:solidFill>
                        <a:srgbClr val="FFFFFF"/>
                      </a:solidFill>
                      <a:prstDash val="solid"/>
                    </a:lnR>
                    <a:lnB w="76200">
                      <a:solidFill>
                        <a:srgbClr val="FFFFFF"/>
                      </a:solidFill>
                      <a:prstDash val="solid"/>
                    </a:lnB>
                    <a:solidFill>
                      <a:srgbClr val="CDDCA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57150">
                      <a:solidFill>
                        <a:srgbClr val="FFFFFF"/>
                      </a:solidFill>
                      <a:prstDash val="solid"/>
                    </a:lnL>
                    <a:lnR w="57150">
                      <a:solidFill>
                        <a:srgbClr val="FFFFFF"/>
                      </a:solidFill>
                      <a:prstDash val="solid"/>
                    </a:lnR>
                    <a:lnB w="76200">
                      <a:solidFill>
                        <a:srgbClr val="FFFFFF"/>
                      </a:solidFill>
                      <a:prstDash val="solid"/>
                    </a:lnB>
                    <a:solidFill>
                      <a:srgbClr val="CDDCA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57150">
                      <a:solidFill>
                        <a:srgbClr val="FFFFFF"/>
                      </a:solidFill>
                      <a:prstDash val="solid"/>
                    </a:lnL>
                    <a:lnB w="76200">
                      <a:solidFill>
                        <a:srgbClr val="FFFFFF"/>
                      </a:solidFill>
                      <a:prstDash val="solid"/>
                    </a:lnB>
                    <a:solidFill>
                      <a:srgbClr val="CDDCA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04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57150">
                      <a:solidFill>
                        <a:srgbClr val="FFFFFF"/>
                      </a:solidFill>
                      <a:prstDash val="solid"/>
                    </a:lnR>
                    <a:lnT w="76200">
                      <a:solidFill>
                        <a:srgbClr val="FFFFFF"/>
                      </a:solidFill>
                      <a:prstDash val="solid"/>
                    </a:lnT>
                    <a:solidFill>
                      <a:srgbClr val="CDDCA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57150">
                      <a:solidFill>
                        <a:srgbClr val="FFFFFF"/>
                      </a:solidFill>
                      <a:prstDash val="solid"/>
                    </a:lnL>
                    <a:lnR w="57150">
                      <a:solidFill>
                        <a:srgbClr val="FFFFFF"/>
                      </a:solidFill>
                      <a:prstDash val="solid"/>
                    </a:lnR>
                    <a:lnT w="76200">
                      <a:solidFill>
                        <a:srgbClr val="FFFFFF"/>
                      </a:solidFill>
                      <a:prstDash val="solid"/>
                    </a:lnT>
                    <a:solidFill>
                      <a:srgbClr val="CDDCA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57150">
                      <a:solidFill>
                        <a:srgbClr val="FFFFFF"/>
                      </a:solidFill>
                      <a:prstDash val="solid"/>
                    </a:lnL>
                    <a:lnT w="76200">
                      <a:solidFill>
                        <a:srgbClr val="FFFFFF"/>
                      </a:solidFill>
                      <a:prstDash val="solid"/>
                    </a:lnT>
                    <a:solidFill>
                      <a:srgbClr val="CDDCA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5" name="object 5"/>
          <p:cNvSpPr/>
          <p:nvPr/>
        </p:nvSpPr>
        <p:spPr>
          <a:xfrm>
            <a:off x="2780882" y="3486472"/>
            <a:ext cx="1803026" cy="442632"/>
          </a:xfrm>
          <a:custGeom>
            <a:avLst/>
            <a:gdLst/>
            <a:ahLst/>
            <a:cxnLst/>
            <a:rect l="l" t="t" r="r" b="b"/>
            <a:pathLst>
              <a:path w="2043430" h="501650">
                <a:moveTo>
                  <a:pt x="2042999" y="0"/>
                </a:moveTo>
                <a:lnTo>
                  <a:pt x="0" y="0"/>
                </a:lnTo>
                <a:lnTo>
                  <a:pt x="0" y="501516"/>
                </a:lnTo>
                <a:lnTo>
                  <a:pt x="2042999" y="501516"/>
                </a:lnTo>
                <a:lnTo>
                  <a:pt x="2042999" y="0"/>
                </a:lnTo>
                <a:close/>
              </a:path>
            </a:pathLst>
          </a:custGeom>
          <a:solidFill>
            <a:srgbClr val="9EC2E9"/>
          </a:solidFill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6" name="object 6"/>
          <p:cNvSpPr txBox="1"/>
          <p:nvPr/>
        </p:nvSpPr>
        <p:spPr>
          <a:xfrm>
            <a:off x="2781201" y="3991865"/>
            <a:ext cx="1802707" cy="397507"/>
          </a:xfrm>
          <a:prstGeom prst="rect">
            <a:avLst/>
          </a:prstGeom>
          <a:solidFill>
            <a:srgbClr val="B5B5B5"/>
          </a:solidFill>
        </p:spPr>
        <p:txBody>
          <a:bodyPr vert="horz" wrap="square" lIns="0" tIns="119343" rIns="0" bIns="0" rtlCol="0">
            <a:spAutoFit/>
          </a:bodyPr>
          <a:lstStyle/>
          <a:p>
            <a:pPr marL="402873">
              <a:spcBef>
                <a:spcPts val="940"/>
              </a:spcBef>
            </a:pPr>
            <a:r>
              <a:rPr b="1" dirty="0">
                <a:solidFill>
                  <a:schemeClr val="bg1"/>
                </a:solidFill>
                <a:latin typeface="Calibri"/>
                <a:cs typeface="Calibri"/>
              </a:rPr>
              <a:t>Host</a:t>
            </a:r>
            <a:r>
              <a:rPr b="1" spc="-31" dirty="0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b="1" spc="-9" dirty="0">
                <a:solidFill>
                  <a:schemeClr val="bg1"/>
                </a:solidFill>
                <a:latin typeface="Calibri"/>
                <a:cs typeface="Calibri"/>
              </a:rPr>
              <a:t>Memory</a:t>
            </a:r>
            <a:endParaRPr b="1" dirty="0">
              <a:solidFill>
                <a:schemeClr val="bg1"/>
              </a:solidFill>
              <a:latin typeface="Calibri"/>
              <a:cs typeface="Calibri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2781201" y="2632589"/>
            <a:ext cx="522194" cy="759199"/>
          </a:xfrm>
          <a:custGeom>
            <a:avLst/>
            <a:gdLst/>
            <a:ahLst/>
            <a:cxnLst/>
            <a:rect l="l" t="t" r="r" b="b"/>
            <a:pathLst>
              <a:path w="591819" h="860425">
                <a:moveTo>
                  <a:pt x="591434" y="0"/>
                </a:moveTo>
                <a:lnTo>
                  <a:pt x="0" y="0"/>
                </a:lnTo>
                <a:lnTo>
                  <a:pt x="0" y="859858"/>
                </a:lnTo>
                <a:lnTo>
                  <a:pt x="591434" y="859858"/>
                </a:lnTo>
                <a:lnTo>
                  <a:pt x="591434" y="0"/>
                </a:lnTo>
                <a:close/>
              </a:path>
            </a:pathLst>
          </a:custGeom>
          <a:solidFill>
            <a:srgbClr val="FAA757"/>
          </a:solidFill>
        </p:spPr>
        <p:txBody>
          <a:bodyPr wrap="square" lIns="0" tIns="0" rIns="0" bIns="0" rtlCol="0"/>
          <a:lstStyle/>
          <a:p>
            <a:endParaRPr sz="1588"/>
          </a:p>
        </p:txBody>
      </p:sp>
      <p:grpSp>
        <p:nvGrpSpPr>
          <p:cNvPr id="8" name="object 8"/>
          <p:cNvGrpSpPr/>
          <p:nvPr/>
        </p:nvGrpSpPr>
        <p:grpSpPr>
          <a:xfrm>
            <a:off x="6254518" y="3270559"/>
            <a:ext cx="1770529" cy="1339663"/>
            <a:chOff x="5122491" y="2991078"/>
            <a:chExt cx="2006600" cy="1518285"/>
          </a:xfrm>
        </p:grpSpPr>
        <p:sp>
          <p:nvSpPr>
            <p:cNvPr id="9" name="object 9"/>
            <p:cNvSpPr/>
            <p:nvPr/>
          </p:nvSpPr>
          <p:spPr>
            <a:xfrm>
              <a:off x="5344833" y="2995129"/>
              <a:ext cx="1784350" cy="172085"/>
            </a:xfrm>
            <a:custGeom>
              <a:avLst/>
              <a:gdLst/>
              <a:ahLst/>
              <a:cxnLst/>
              <a:rect l="l" t="t" r="r" b="b"/>
              <a:pathLst>
                <a:path w="1784350" h="172085">
                  <a:moveTo>
                    <a:pt x="199453" y="660"/>
                  </a:moveTo>
                  <a:lnTo>
                    <a:pt x="0" y="660"/>
                  </a:lnTo>
                  <a:lnTo>
                    <a:pt x="0" y="171564"/>
                  </a:lnTo>
                  <a:lnTo>
                    <a:pt x="199453" y="171564"/>
                  </a:lnTo>
                  <a:lnTo>
                    <a:pt x="199453" y="660"/>
                  </a:lnTo>
                  <a:close/>
                </a:path>
                <a:path w="1784350" h="172085">
                  <a:moveTo>
                    <a:pt x="425958" y="330"/>
                  </a:moveTo>
                  <a:lnTo>
                    <a:pt x="226504" y="330"/>
                  </a:lnTo>
                  <a:lnTo>
                    <a:pt x="226504" y="171246"/>
                  </a:lnTo>
                  <a:lnTo>
                    <a:pt x="425958" y="171246"/>
                  </a:lnTo>
                  <a:lnTo>
                    <a:pt x="425958" y="330"/>
                  </a:lnTo>
                  <a:close/>
                </a:path>
                <a:path w="1784350" h="172085">
                  <a:moveTo>
                    <a:pt x="652056" y="330"/>
                  </a:moveTo>
                  <a:lnTo>
                    <a:pt x="452615" y="330"/>
                  </a:lnTo>
                  <a:lnTo>
                    <a:pt x="452615" y="171246"/>
                  </a:lnTo>
                  <a:lnTo>
                    <a:pt x="652056" y="171246"/>
                  </a:lnTo>
                  <a:lnTo>
                    <a:pt x="652056" y="330"/>
                  </a:lnTo>
                  <a:close/>
                </a:path>
                <a:path w="1784350" h="172085">
                  <a:moveTo>
                    <a:pt x="878560" y="0"/>
                  </a:moveTo>
                  <a:lnTo>
                    <a:pt x="679119" y="0"/>
                  </a:lnTo>
                  <a:lnTo>
                    <a:pt x="679119" y="170916"/>
                  </a:lnTo>
                  <a:lnTo>
                    <a:pt x="878560" y="170916"/>
                  </a:lnTo>
                  <a:lnTo>
                    <a:pt x="878560" y="0"/>
                  </a:lnTo>
                  <a:close/>
                </a:path>
                <a:path w="1784350" h="172085">
                  <a:moveTo>
                    <a:pt x="1105077" y="660"/>
                  </a:moveTo>
                  <a:lnTo>
                    <a:pt x="905624" y="660"/>
                  </a:lnTo>
                  <a:lnTo>
                    <a:pt x="905624" y="171564"/>
                  </a:lnTo>
                  <a:lnTo>
                    <a:pt x="1105077" y="171564"/>
                  </a:lnTo>
                  <a:lnTo>
                    <a:pt x="1105077" y="660"/>
                  </a:lnTo>
                  <a:close/>
                </a:path>
                <a:path w="1784350" h="172085">
                  <a:moveTo>
                    <a:pt x="1331582" y="330"/>
                  </a:moveTo>
                  <a:lnTo>
                    <a:pt x="1132141" y="330"/>
                  </a:lnTo>
                  <a:lnTo>
                    <a:pt x="1132141" y="171246"/>
                  </a:lnTo>
                  <a:lnTo>
                    <a:pt x="1331582" y="171246"/>
                  </a:lnTo>
                  <a:lnTo>
                    <a:pt x="1331582" y="330"/>
                  </a:lnTo>
                  <a:close/>
                </a:path>
                <a:path w="1784350" h="172085">
                  <a:moveTo>
                    <a:pt x="1557693" y="330"/>
                  </a:moveTo>
                  <a:lnTo>
                    <a:pt x="1358239" y="330"/>
                  </a:lnTo>
                  <a:lnTo>
                    <a:pt x="1358239" y="171246"/>
                  </a:lnTo>
                  <a:lnTo>
                    <a:pt x="1557693" y="171246"/>
                  </a:lnTo>
                  <a:lnTo>
                    <a:pt x="1557693" y="330"/>
                  </a:lnTo>
                  <a:close/>
                </a:path>
                <a:path w="1784350" h="172085">
                  <a:moveTo>
                    <a:pt x="1784197" y="0"/>
                  </a:moveTo>
                  <a:lnTo>
                    <a:pt x="1584744" y="0"/>
                  </a:lnTo>
                  <a:lnTo>
                    <a:pt x="1584744" y="170916"/>
                  </a:lnTo>
                  <a:lnTo>
                    <a:pt x="1784197" y="170916"/>
                  </a:lnTo>
                  <a:lnTo>
                    <a:pt x="1784197" y="0"/>
                  </a:lnTo>
                  <a:close/>
                </a:path>
              </a:pathLst>
            </a:custGeom>
            <a:solidFill>
              <a:srgbClr val="CDDCAB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10" name="object 10"/>
            <p:cNvSpPr/>
            <p:nvPr/>
          </p:nvSpPr>
          <p:spPr>
            <a:xfrm>
              <a:off x="5122491" y="2991078"/>
              <a:ext cx="200025" cy="85725"/>
            </a:xfrm>
            <a:custGeom>
              <a:avLst/>
              <a:gdLst/>
              <a:ahLst/>
              <a:cxnLst/>
              <a:rect l="l" t="t" r="r" b="b"/>
              <a:pathLst>
                <a:path w="200025" h="85725">
                  <a:moveTo>
                    <a:pt x="199450" y="0"/>
                  </a:moveTo>
                  <a:lnTo>
                    <a:pt x="0" y="0"/>
                  </a:lnTo>
                  <a:lnTo>
                    <a:pt x="0" y="85455"/>
                  </a:lnTo>
                  <a:lnTo>
                    <a:pt x="199450" y="85455"/>
                  </a:lnTo>
                  <a:lnTo>
                    <a:pt x="199450" y="0"/>
                  </a:lnTo>
                  <a:close/>
                </a:path>
              </a:pathLst>
            </a:custGeom>
            <a:solidFill>
              <a:srgbClr val="FAA757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11" name="object 11"/>
            <p:cNvSpPr/>
            <p:nvPr/>
          </p:nvSpPr>
          <p:spPr>
            <a:xfrm>
              <a:off x="5124075" y="3081100"/>
              <a:ext cx="200025" cy="85725"/>
            </a:xfrm>
            <a:custGeom>
              <a:avLst/>
              <a:gdLst/>
              <a:ahLst/>
              <a:cxnLst/>
              <a:rect l="l" t="t" r="r" b="b"/>
              <a:pathLst>
                <a:path w="200025" h="85725">
                  <a:moveTo>
                    <a:pt x="199452" y="0"/>
                  </a:moveTo>
                  <a:lnTo>
                    <a:pt x="0" y="0"/>
                  </a:lnTo>
                  <a:lnTo>
                    <a:pt x="0" y="85455"/>
                  </a:lnTo>
                  <a:lnTo>
                    <a:pt x="199452" y="85455"/>
                  </a:lnTo>
                  <a:lnTo>
                    <a:pt x="199452" y="0"/>
                  </a:lnTo>
                  <a:close/>
                </a:path>
              </a:pathLst>
            </a:custGeom>
            <a:solidFill>
              <a:srgbClr val="9EC2E9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12" name="object 12"/>
            <p:cNvSpPr/>
            <p:nvPr/>
          </p:nvSpPr>
          <p:spPr>
            <a:xfrm>
              <a:off x="5344833" y="3186861"/>
              <a:ext cx="1784350" cy="172085"/>
            </a:xfrm>
            <a:custGeom>
              <a:avLst/>
              <a:gdLst/>
              <a:ahLst/>
              <a:cxnLst/>
              <a:rect l="l" t="t" r="r" b="b"/>
              <a:pathLst>
                <a:path w="1784350" h="172085">
                  <a:moveTo>
                    <a:pt x="199453" y="660"/>
                  </a:moveTo>
                  <a:lnTo>
                    <a:pt x="0" y="660"/>
                  </a:lnTo>
                  <a:lnTo>
                    <a:pt x="0" y="171564"/>
                  </a:lnTo>
                  <a:lnTo>
                    <a:pt x="199453" y="171564"/>
                  </a:lnTo>
                  <a:lnTo>
                    <a:pt x="199453" y="660"/>
                  </a:lnTo>
                  <a:close/>
                </a:path>
                <a:path w="1784350" h="172085">
                  <a:moveTo>
                    <a:pt x="425958" y="330"/>
                  </a:moveTo>
                  <a:lnTo>
                    <a:pt x="226504" y="330"/>
                  </a:lnTo>
                  <a:lnTo>
                    <a:pt x="226504" y="171246"/>
                  </a:lnTo>
                  <a:lnTo>
                    <a:pt x="425958" y="171246"/>
                  </a:lnTo>
                  <a:lnTo>
                    <a:pt x="425958" y="330"/>
                  </a:lnTo>
                  <a:close/>
                </a:path>
                <a:path w="1784350" h="172085">
                  <a:moveTo>
                    <a:pt x="652056" y="330"/>
                  </a:moveTo>
                  <a:lnTo>
                    <a:pt x="452615" y="330"/>
                  </a:lnTo>
                  <a:lnTo>
                    <a:pt x="452615" y="171246"/>
                  </a:lnTo>
                  <a:lnTo>
                    <a:pt x="652056" y="171246"/>
                  </a:lnTo>
                  <a:lnTo>
                    <a:pt x="652056" y="330"/>
                  </a:lnTo>
                  <a:close/>
                </a:path>
                <a:path w="1784350" h="172085">
                  <a:moveTo>
                    <a:pt x="878560" y="0"/>
                  </a:moveTo>
                  <a:lnTo>
                    <a:pt x="679119" y="0"/>
                  </a:lnTo>
                  <a:lnTo>
                    <a:pt x="679119" y="170916"/>
                  </a:lnTo>
                  <a:lnTo>
                    <a:pt x="878560" y="170916"/>
                  </a:lnTo>
                  <a:lnTo>
                    <a:pt x="878560" y="0"/>
                  </a:lnTo>
                  <a:close/>
                </a:path>
                <a:path w="1784350" h="172085">
                  <a:moveTo>
                    <a:pt x="1105077" y="660"/>
                  </a:moveTo>
                  <a:lnTo>
                    <a:pt x="905624" y="660"/>
                  </a:lnTo>
                  <a:lnTo>
                    <a:pt x="905624" y="171564"/>
                  </a:lnTo>
                  <a:lnTo>
                    <a:pt x="1105077" y="171564"/>
                  </a:lnTo>
                  <a:lnTo>
                    <a:pt x="1105077" y="660"/>
                  </a:lnTo>
                  <a:close/>
                </a:path>
                <a:path w="1784350" h="172085">
                  <a:moveTo>
                    <a:pt x="1331582" y="330"/>
                  </a:moveTo>
                  <a:lnTo>
                    <a:pt x="1132141" y="330"/>
                  </a:lnTo>
                  <a:lnTo>
                    <a:pt x="1132141" y="171246"/>
                  </a:lnTo>
                  <a:lnTo>
                    <a:pt x="1331582" y="171246"/>
                  </a:lnTo>
                  <a:lnTo>
                    <a:pt x="1331582" y="330"/>
                  </a:lnTo>
                  <a:close/>
                </a:path>
                <a:path w="1784350" h="172085">
                  <a:moveTo>
                    <a:pt x="1557693" y="330"/>
                  </a:moveTo>
                  <a:lnTo>
                    <a:pt x="1358239" y="330"/>
                  </a:lnTo>
                  <a:lnTo>
                    <a:pt x="1358239" y="171246"/>
                  </a:lnTo>
                  <a:lnTo>
                    <a:pt x="1557693" y="171246"/>
                  </a:lnTo>
                  <a:lnTo>
                    <a:pt x="1557693" y="330"/>
                  </a:lnTo>
                  <a:close/>
                </a:path>
                <a:path w="1784350" h="172085">
                  <a:moveTo>
                    <a:pt x="1784197" y="0"/>
                  </a:moveTo>
                  <a:lnTo>
                    <a:pt x="1584744" y="0"/>
                  </a:lnTo>
                  <a:lnTo>
                    <a:pt x="1584744" y="170916"/>
                  </a:lnTo>
                  <a:lnTo>
                    <a:pt x="1784197" y="170916"/>
                  </a:lnTo>
                  <a:lnTo>
                    <a:pt x="1784197" y="0"/>
                  </a:lnTo>
                  <a:close/>
                </a:path>
              </a:pathLst>
            </a:custGeom>
            <a:solidFill>
              <a:srgbClr val="CDDCAB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13" name="object 13"/>
            <p:cNvSpPr/>
            <p:nvPr/>
          </p:nvSpPr>
          <p:spPr>
            <a:xfrm>
              <a:off x="5122491" y="3182806"/>
              <a:ext cx="200025" cy="85725"/>
            </a:xfrm>
            <a:custGeom>
              <a:avLst/>
              <a:gdLst/>
              <a:ahLst/>
              <a:cxnLst/>
              <a:rect l="l" t="t" r="r" b="b"/>
              <a:pathLst>
                <a:path w="200025" h="85725">
                  <a:moveTo>
                    <a:pt x="199450" y="0"/>
                  </a:moveTo>
                  <a:lnTo>
                    <a:pt x="0" y="0"/>
                  </a:lnTo>
                  <a:lnTo>
                    <a:pt x="0" y="85455"/>
                  </a:lnTo>
                  <a:lnTo>
                    <a:pt x="199450" y="85455"/>
                  </a:lnTo>
                  <a:lnTo>
                    <a:pt x="199450" y="0"/>
                  </a:lnTo>
                  <a:close/>
                </a:path>
              </a:pathLst>
            </a:custGeom>
            <a:solidFill>
              <a:srgbClr val="FAA757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14" name="object 14"/>
            <p:cNvSpPr/>
            <p:nvPr/>
          </p:nvSpPr>
          <p:spPr>
            <a:xfrm>
              <a:off x="5124075" y="3272826"/>
              <a:ext cx="200025" cy="85725"/>
            </a:xfrm>
            <a:custGeom>
              <a:avLst/>
              <a:gdLst/>
              <a:ahLst/>
              <a:cxnLst/>
              <a:rect l="l" t="t" r="r" b="b"/>
              <a:pathLst>
                <a:path w="200025" h="85725">
                  <a:moveTo>
                    <a:pt x="199452" y="0"/>
                  </a:moveTo>
                  <a:lnTo>
                    <a:pt x="0" y="0"/>
                  </a:lnTo>
                  <a:lnTo>
                    <a:pt x="0" y="85457"/>
                  </a:lnTo>
                  <a:lnTo>
                    <a:pt x="199452" y="85457"/>
                  </a:lnTo>
                  <a:lnTo>
                    <a:pt x="199452" y="0"/>
                  </a:lnTo>
                  <a:close/>
                </a:path>
              </a:pathLst>
            </a:custGeom>
            <a:solidFill>
              <a:srgbClr val="9EC2E9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15" name="object 15"/>
            <p:cNvSpPr/>
            <p:nvPr/>
          </p:nvSpPr>
          <p:spPr>
            <a:xfrm>
              <a:off x="5344833" y="3378593"/>
              <a:ext cx="1784350" cy="172085"/>
            </a:xfrm>
            <a:custGeom>
              <a:avLst/>
              <a:gdLst/>
              <a:ahLst/>
              <a:cxnLst/>
              <a:rect l="l" t="t" r="r" b="b"/>
              <a:pathLst>
                <a:path w="1784350" h="172085">
                  <a:moveTo>
                    <a:pt x="199453" y="647"/>
                  </a:moveTo>
                  <a:lnTo>
                    <a:pt x="0" y="647"/>
                  </a:lnTo>
                  <a:lnTo>
                    <a:pt x="0" y="171564"/>
                  </a:lnTo>
                  <a:lnTo>
                    <a:pt x="199453" y="171564"/>
                  </a:lnTo>
                  <a:lnTo>
                    <a:pt x="199453" y="647"/>
                  </a:lnTo>
                  <a:close/>
                </a:path>
                <a:path w="1784350" h="172085">
                  <a:moveTo>
                    <a:pt x="425958" y="330"/>
                  </a:moveTo>
                  <a:lnTo>
                    <a:pt x="226504" y="330"/>
                  </a:lnTo>
                  <a:lnTo>
                    <a:pt x="226504" y="171234"/>
                  </a:lnTo>
                  <a:lnTo>
                    <a:pt x="425958" y="171234"/>
                  </a:lnTo>
                  <a:lnTo>
                    <a:pt x="425958" y="330"/>
                  </a:lnTo>
                  <a:close/>
                </a:path>
                <a:path w="1784350" h="172085">
                  <a:moveTo>
                    <a:pt x="652056" y="330"/>
                  </a:moveTo>
                  <a:lnTo>
                    <a:pt x="452615" y="330"/>
                  </a:lnTo>
                  <a:lnTo>
                    <a:pt x="452615" y="171234"/>
                  </a:lnTo>
                  <a:lnTo>
                    <a:pt x="652056" y="171234"/>
                  </a:lnTo>
                  <a:lnTo>
                    <a:pt x="652056" y="330"/>
                  </a:lnTo>
                  <a:close/>
                </a:path>
                <a:path w="1784350" h="172085">
                  <a:moveTo>
                    <a:pt x="878560" y="0"/>
                  </a:moveTo>
                  <a:lnTo>
                    <a:pt x="679119" y="0"/>
                  </a:lnTo>
                  <a:lnTo>
                    <a:pt x="679119" y="170903"/>
                  </a:lnTo>
                  <a:lnTo>
                    <a:pt x="878560" y="170903"/>
                  </a:lnTo>
                  <a:lnTo>
                    <a:pt x="878560" y="0"/>
                  </a:lnTo>
                  <a:close/>
                </a:path>
                <a:path w="1784350" h="172085">
                  <a:moveTo>
                    <a:pt x="1105077" y="647"/>
                  </a:moveTo>
                  <a:lnTo>
                    <a:pt x="905624" y="647"/>
                  </a:lnTo>
                  <a:lnTo>
                    <a:pt x="905624" y="171564"/>
                  </a:lnTo>
                  <a:lnTo>
                    <a:pt x="1105077" y="171564"/>
                  </a:lnTo>
                  <a:lnTo>
                    <a:pt x="1105077" y="647"/>
                  </a:lnTo>
                  <a:close/>
                </a:path>
                <a:path w="1784350" h="172085">
                  <a:moveTo>
                    <a:pt x="1331582" y="330"/>
                  </a:moveTo>
                  <a:lnTo>
                    <a:pt x="1132141" y="330"/>
                  </a:lnTo>
                  <a:lnTo>
                    <a:pt x="1132141" y="171234"/>
                  </a:lnTo>
                  <a:lnTo>
                    <a:pt x="1331582" y="171234"/>
                  </a:lnTo>
                  <a:lnTo>
                    <a:pt x="1331582" y="330"/>
                  </a:lnTo>
                  <a:close/>
                </a:path>
                <a:path w="1784350" h="172085">
                  <a:moveTo>
                    <a:pt x="1557693" y="330"/>
                  </a:moveTo>
                  <a:lnTo>
                    <a:pt x="1358239" y="330"/>
                  </a:lnTo>
                  <a:lnTo>
                    <a:pt x="1358239" y="171234"/>
                  </a:lnTo>
                  <a:lnTo>
                    <a:pt x="1557693" y="171234"/>
                  </a:lnTo>
                  <a:lnTo>
                    <a:pt x="1557693" y="330"/>
                  </a:lnTo>
                  <a:close/>
                </a:path>
                <a:path w="1784350" h="172085">
                  <a:moveTo>
                    <a:pt x="1784197" y="0"/>
                  </a:moveTo>
                  <a:lnTo>
                    <a:pt x="1584744" y="0"/>
                  </a:lnTo>
                  <a:lnTo>
                    <a:pt x="1584744" y="170903"/>
                  </a:lnTo>
                  <a:lnTo>
                    <a:pt x="1784197" y="170903"/>
                  </a:lnTo>
                  <a:lnTo>
                    <a:pt x="1784197" y="0"/>
                  </a:lnTo>
                  <a:close/>
                </a:path>
              </a:pathLst>
            </a:custGeom>
            <a:solidFill>
              <a:srgbClr val="CDDCAB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16" name="object 16"/>
            <p:cNvSpPr/>
            <p:nvPr/>
          </p:nvSpPr>
          <p:spPr>
            <a:xfrm>
              <a:off x="5122491" y="3374534"/>
              <a:ext cx="200025" cy="85725"/>
            </a:xfrm>
            <a:custGeom>
              <a:avLst/>
              <a:gdLst/>
              <a:ahLst/>
              <a:cxnLst/>
              <a:rect l="l" t="t" r="r" b="b"/>
              <a:pathLst>
                <a:path w="200025" h="85725">
                  <a:moveTo>
                    <a:pt x="199450" y="0"/>
                  </a:moveTo>
                  <a:lnTo>
                    <a:pt x="0" y="0"/>
                  </a:lnTo>
                  <a:lnTo>
                    <a:pt x="0" y="85455"/>
                  </a:lnTo>
                  <a:lnTo>
                    <a:pt x="199450" y="85455"/>
                  </a:lnTo>
                  <a:lnTo>
                    <a:pt x="199450" y="0"/>
                  </a:lnTo>
                  <a:close/>
                </a:path>
              </a:pathLst>
            </a:custGeom>
            <a:solidFill>
              <a:srgbClr val="FAA757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17" name="object 17"/>
            <p:cNvSpPr/>
            <p:nvPr/>
          </p:nvSpPr>
          <p:spPr>
            <a:xfrm>
              <a:off x="5124075" y="3464556"/>
              <a:ext cx="200025" cy="85725"/>
            </a:xfrm>
            <a:custGeom>
              <a:avLst/>
              <a:gdLst/>
              <a:ahLst/>
              <a:cxnLst/>
              <a:rect l="l" t="t" r="r" b="b"/>
              <a:pathLst>
                <a:path w="200025" h="85725">
                  <a:moveTo>
                    <a:pt x="199452" y="0"/>
                  </a:moveTo>
                  <a:lnTo>
                    <a:pt x="0" y="0"/>
                  </a:lnTo>
                  <a:lnTo>
                    <a:pt x="0" y="85455"/>
                  </a:lnTo>
                  <a:lnTo>
                    <a:pt x="199452" y="85455"/>
                  </a:lnTo>
                  <a:lnTo>
                    <a:pt x="199452" y="0"/>
                  </a:lnTo>
                  <a:close/>
                </a:path>
              </a:pathLst>
            </a:custGeom>
            <a:solidFill>
              <a:srgbClr val="9EC2E9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18" name="object 18"/>
            <p:cNvSpPr/>
            <p:nvPr/>
          </p:nvSpPr>
          <p:spPr>
            <a:xfrm>
              <a:off x="5344833" y="3570312"/>
              <a:ext cx="1784350" cy="172085"/>
            </a:xfrm>
            <a:custGeom>
              <a:avLst/>
              <a:gdLst/>
              <a:ahLst/>
              <a:cxnLst/>
              <a:rect l="l" t="t" r="r" b="b"/>
              <a:pathLst>
                <a:path w="1784350" h="172085">
                  <a:moveTo>
                    <a:pt x="199453" y="660"/>
                  </a:moveTo>
                  <a:lnTo>
                    <a:pt x="0" y="660"/>
                  </a:lnTo>
                  <a:lnTo>
                    <a:pt x="0" y="171577"/>
                  </a:lnTo>
                  <a:lnTo>
                    <a:pt x="199453" y="171577"/>
                  </a:lnTo>
                  <a:lnTo>
                    <a:pt x="199453" y="660"/>
                  </a:lnTo>
                  <a:close/>
                </a:path>
                <a:path w="1784350" h="172085">
                  <a:moveTo>
                    <a:pt x="425958" y="330"/>
                  </a:moveTo>
                  <a:lnTo>
                    <a:pt x="226504" y="330"/>
                  </a:lnTo>
                  <a:lnTo>
                    <a:pt x="226504" y="171246"/>
                  </a:lnTo>
                  <a:lnTo>
                    <a:pt x="425958" y="171246"/>
                  </a:lnTo>
                  <a:lnTo>
                    <a:pt x="425958" y="330"/>
                  </a:lnTo>
                  <a:close/>
                </a:path>
                <a:path w="1784350" h="172085">
                  <a:moveTo>
                    <a:pt x="652056" y="330"/>
                  </a:moveTo>
                  <a:lnTo>
                    <a:pt x="452615" y="330"/>
                  </a:lnTo>
                  <a:lnTo>
                    <a:pt x="452615" y="171246"/>
                  </a:lnTo>
                  <a:lnTo>
                    <a:pt x="652056" y="171246"/>
                  </a:lnTo>
                  <a:lnTo>
                    <a:pt x="652056" y="330"/>
                  </a:lnTo>
                  <a:close/>
                </a:path>
                <a:path w="1784350" h="172085">
                  <a:moveTo>
                    <a:pt x="878560" y="0"/>
                  </a:moveTo>
                  <a:lnTo>
                    <a:pt x="679119" y="0"/>
                  </a:lnTo>
                  <a:lnTo>
                    <a:pt x="679119" y="170916"/>
                  </a:lnTo>
                  <a:lnTo>
                    <a:pt x="878560" y="170916"/>
                  </a:lnTo>
                  <a:lnTo>
                    <a:pt x="878560" y="0"/>
                  </a:lnTo>
                  <a:close/>
                </a:path>
                <a:path w="1784350" h="172085">
                  <a:moveTo>
                    <a:pt x="1105077" y="660"/>
                  </a:moveTo>
                  <a:lnTo>
                    <a:pt x="905624" y="660"/>
                  </a:lnTo>
                  <a:lnTo>
                    <a:pt x="905624" y="171577"/>
                  </a:lnTo>
                  <a:lnTo>
                    <a:pt x="1105077" y="171577"/>
                  </a:lnTo>
                  <a:lnTo>
                    <a:pt x="1105077" y="660"/>
                  </a:lnTo>
                  <a:close/>
                </a:path>
                <a:path w="1784350" h="172085">
                  <a:moveTo>
                    <a:pt x="1331582" y="330"/>
                  </a:moveTo>
                  <a:lnTo>
                    <a:pt x="1132141" y="330"/>
                  </a:lnTo>
                  <a:lnTo>
                    <a:pt x="1132141" y="171246"/>
                  </a:lnTo>
                  <a:lnTo>
                    <a:pt x="1331582" y="171246"/>
                  </a:lnTo>
                  <a:lnTo>
                    <a:pt x="1331582" y="330"/>
                  </a:lnTo>
                  <a:close/>
                </a:path>
                <a:path w="1784350" h="172085">
                  <a:moveTo>
                    <a:pt x="1557693" y="330"/>
                  </a:moveTo>
                  <a:lnTo>
                    <a:pt x="1358239" y="330"/>
                  </a:lnTo>
                  <a:lnTo>
                    <a:pt x="1358239" y="171246"/>
                  </a:lnTo>
                  <a:lnTo>
                    <a:pt x="1557693" y="171246"/>
                  </a:lnTo>
                  <a:lnTo>
                    <a:pt x="1557693" y="330"/>
                  </a:lnTo>
                  <a:close/>
                </a:path>
                <a:path w="1784350" h="172085">
                  <a:moveTo>
                    <a:pt x="1784197" y="0"/>
                  </a:moveTo>
                  <a:lnTo>
                    <a:pt x="1584744" y="0"/>
                  </a:lnTo>
                  <a:lnTo>
                    <a:pt x="1584744" y="170916"/>
                  </a:lnTo>
                  <a:lnTo>
                    <a:pt x="1784197" y="170916"/>
                  </a:lnTo>
                  <a:lnTo>
                    <a:pt x="1784197" y="0"/>
                  </a:lnTo>
                  <a:close/>
                </a:path>
              </a:pathLst>
            </a:custGeom>
            <a:solidFill>
              <a:srgbClr val="CDDCAB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19" name="object 19"/>
            <p:cNvSpPr/>
            <p:nvPr/>
          </p:nvSpPr>
          <p:spPr>
            <a:xfrm>
              <a:off x="5122491" y="3566261"/>
              <a:ext cx="200025" cy="85725"/>
            </a:xfrm>
            <a:custGeom>
              <a:avLst/>
              <a:gdLst/>
              <a:ahLst/>
              <a:cxnLst/>
              <a:rect l="l" t="t" r="r" b="b"/>
              <a:pathLst>
                <a:path w="200025" h="85725">
                  <a:moveTo>
                    <a:pt x="199450" y="0"/>
                  </a:moveTo>
                  <a:lnTo>
                    <a:pt x="0" y="0"/>
                  </a:lnTo>
                  <a:lnTo>
                    <a:pt x="0" y="85457"/>
                  </a:lnTo>
                  <a:lnTo>
                    <a:pt x="199450" y="85457"/>
                  </a:lnTo>
                  <a:lnTo>
                    <a:pt x="199450" y="0"/>
                  </a:lnTo>
                  <a:close/>
                </a:path>
              </a:pathLst>
            </a:custGeom>
            <a:solidFill>
              <a:srgbClr val="FAA757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20" name="object 20"/>
            <p:cNvSpPr/>
            <p:nvPr/>
          </p:nvSpPr>
          <p:spPr>
            <a:xfrm>
              <a:off x="5124075" y="3656283"/>
              <a:ext cx="200025" cy="85725"/>
            </a:xfrm>
            <a:custGeom>
              <a:avLst/>
              <a:gdLst/>
              <a:ahLst/>
              <a:cxnLst/>
              <a:rect l="l" t="t" r="r" b="b"/>
              <a:pathLst>
                <a:path w="200025" h="85725">
                  <a:moveTo>
                    <a:pt x="199452" y="0"/>
                  </a:moveTo>
                  <a:lnTo>
                    <a:pt x="0" y="0"/>
                  </a:lnTo>
                  <a:lnTo>
                    <a:pt x="0" y="85457"/>
                  </a:lnTo>
                  <a:lnTo>
                    <a:pt x="199452" y="85457"/>
                  </a:lnTo>
                  <a:lnTo>
                    <a:pt x="199452" y="0"/>
                  </a:lnTo>
                  <a:close/>
                </a:path>
              </a:pathLst>
            </a:custGeom>
            <a:solidFill>
              <a:srgbClr val="9EC2E9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21" name="object 21"/>
            <p:cNvSpPr/>
            <p:nvPr/>
          </p:nvSpPr>
          <p:spPr>
            <a:xfrm>
              <a:off x="5344833" y="3762044"/>
              <a:ext cx="1784350" cy="172085"/>
            </a:xfrm>
            <a:custGeom>
              <a:avLst/>
              <a:gdLst/>
              <a:ahLst/>
              <a:cxnLst/>
              <a:rect l="l" t="t" r="r" b="b"/>
              <a:pathLst>
                <a:path w="1784350" h="172085">
                  <a:moveTo>
                    <a:pt x="199453" y="660"/>
                  </a:moveTo>
                  <a:lnTo>
                    <a:pt x="0" y="660"/>
                  </a:lnTo>
                  <a:lnTo>
                    <a:pt x="0" y="171564"/>
                  </a:lnTo>
                  <a:lnTo>
                    <a:pt x="199453" y="171564"/>
                  </a:lnTo>
                  <a:lnTo>
                    <a:pt x="199453" y="660"/>
                  </a:lnTo>
                  <a:close/>
                </a:path>
                <a:path w="1784350" h="172085">
                  <a:moveTo>
                    <a:pt x="425958" y="330"/>
                  </a:moveTo>
                  <a:lnTo>
                    <a:pt x="226504" y="330"/>
                  </a:lnTo>
                  <a:lnTo>
                    <a:pt x="226504" y="171246"/>
                  </a:lnTo>
                  <a:lnTo>
                    <a:pt x="425958" y="171246"/>
                  </a:lnTo>
                  <a:lnTo>
                    <a:pt x="425958" y="330"/>
                  </a:lnTo>
                  <a:close/>
                </a:path>
                <a:path w="1784350" h="172085">
                  <a:moveTo>
                    <a:pt x="652056" y="330"/>
                  </a:moveTo>
                  <a:lnTo>
                    <a:pt x="452615" y="330"/>
                  </a:lnTo>
                  <a:lnTo>
                    <a:pt x="452615" y="171246"/>
                  </a:lnTo>
                  <a:lnTo>
                    <a:pt x="652056" y="171246"/>
                  </a:lnTo>
                  <a:lnTo>
                    <a:pt x="652056" y="330"/>
                  </a:lnTo>
                  <a:close/>
                </a:path>
                <a:path w="1784350" h="172085">
                  <a:moveTo>
                    <a:pt x="878560" y="0"/>
                  </a:moveTo>
                  <a:lnTo>
                    <a:pt x="679119" y="0"/>
                  </a:lnTo>
                  <a:lnTo>
                    <a:pt x="679119" y="170916"/>
                  </a:lnTo>
                  <a:lnTo>
                    <a:pt x="878560" y="170916"/>
                  </a:lnTo>
                  <a:lnTo>
                    <a:pt x="878560" y="0"/>
                  </a:lnTo>
                  <a:close/>
                </a:path>
                <a:path w="1784350" h="172085">
                  <a:moveTo>
                    <a:pt x="1105077" y="660"/>
                  </a:moveTo>
                  <a:lnTo>
                    <a:pt x="905624" y="660"/>
                  </a:lnTo>
                  <a:lnTo>
                    <a:pt x="905624" y="171564"/>
                  </a:lnTo>
                  <a:lnTo>
                    <a:pt x="1105077" y="171564"/>
                  </a:lnTo>
                  <a:lnTo>
                    <a:pt x="1105077" y="660"/>
                  </a:lnTo>
                  <a:close/>
                </a:path>
                <a:path w="1784350" h="172085">
                  <a:moveTo>
                    <a:pt x="1331582" y="330"/>
                  </a:moveTo>
                  <a:lnTo>
                    <a:pt x="1132141" y="330"/>
                  </a:lnTo>
                  <a:lnTo>
                    <a:pt x="1132141" y="171246"/>
                  </a:lnTo>
                  <a:lnTo>
                    <a:pt x="1331582" y="171246"/>
                  </a:lnTo>
                  <a:lnTo>
                    <a:pt x="1331582" y="330"/>
                  </a:lnTo>
                  <a:close/>
                </a:path>
                <a:path w="1784350" h="172085">
                  <a:moveTo>
                    <a:pt x="1557693" y="330"/>
                  </a:moveTo>
                  <a:lnTo>
                    <a:pt x="1358239" y="330"/>
                  </a:lnTo>
                  <a:lnTo>
                    <a:pt x="1358239" y="171246"/>
                  </a:lnTo>
                  <a:lnTo>
                    <a:pt x="1557693" y="171246"/>
                  </a:lnTo>
                  <a:lnTo>
                    <a:pt x="1557693" y="330"/>
                  </a:lnTo>
                  <a:close/>
                </a:path>
                <a:path w="1784350" h="172085">
                  <a:moveTo>
                    <a:pt x="1784197" y="0"/>
                  </a:moveTo>
                  <a:lnTo>
                    <a:pt x="1584744" y="0"/>
                  </a:lnTo>
                  <a:lnTo>
                    <a:pt x="1584744" y="170916"/>
                  </a:lnTo>
                  <a:lnTo>
                    <a:pt x="1784197" y="170916"/>
                  </a:lnTo>
                  <a:lnTo>
                    <a:pt x="1784197" y="0"/>
                  </a:lnTo>
                  <a:close/>
                </a:path>
              </a:pathLst>
            </a:custGeom>
            <a:solidFill>
              <a:srgbClr val="CDDCAB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22" name="object 22"/>
            <p:cNvSpPr/>
            <p:nvPr/>
          </p:nvSpPr>
          <p:spPr>
            <a:xfrm>
              <a:off x="5122491" y="3757991"/>
              <a:ext cx="200025" cy="85725"/>
            </a:xfrm>
            <a:custGeom>
              <a:avLst/>
              <a:gdLst/>
              <a:ahLst/>
              <a:cxnLst/>
              <a:rect l="l" t="t" r="r" b="b"/>
              <a:pathLst>
                <a:path w="200025" h="85725">
                  <a:moveTo>
                    <a:pt x="199450" y="0"/>
                  </a:moveTo>
                  <a:lnTo>
                    <a:pt x="0" y="0"/>
                  </a:lnTo>
                  <a:lnTo>
                    <a:pt x="0" y="85455"/>
                  </a:lnTo>
                  <a:lnTo>
                    <a:pt x="199450" y="85455"/>
                  </a:lnTo>
                  <a:lnTo>
                    <a:pt x="199450" y="0"/>
                  </a:lnTo>
                  <a:close/>
                </a:path>
              </a:pathLst>
            </a:custGeom>
            <a:solidFill>
              <a:srgbClr val="FAA757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23" name="object 23"/>
            <p:cNvSpPr/>
            <p:nvPr/>
          </p:nvSpPr>
          <p:spPr>
            <a:xfrm>
              <a:off x="5124075" y="3848011"/>
              <a:ext cx="200025" cy="85725"/>
            </a:xfrm>
            <a:custGeom>
              <a:avLst/>
              <a:gdLst/>
              <a:ahLst/>
              <a:cxnLst/>
              <a:rect l="l" t="t" r="r" b="b"/>
              <a:pathLst>
                <a:path w="200025" h="85725">
                  <a:moveTo>
                    <a:pt x="199452" y="0"/>
                  </a:moveTo>
                  <a:lnTo>
                    <a:pt x="0" y="0"/>
                  </a:lnTo>
                  <a:lnTo>
                    <a:pt x="0" y="85457"/>
                  </a:lnTo>
                  <a:lnTo>
                    <a:pt x="199452" y="85457"/>
                  </a:lnTo>
                  <a:lnTo>
                    <a:pt x="199452" y="0"/>
                  </a:lnTo>
                  <a:close/>
                </a:path>
              </a:pathLst>
            </a:custGeom>
            <a:solidFill>
              <a:srgbClr val="9EC2E9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24" name="object 24"/>
            <p:cNvSpPr/>
            <p:nvPr/>
          </p:nvSpPr>
          <p:spPr>
            <a:xfrm>
              <a:off x="5344833" y="3953776"/>
              <a:ext cx="1784350" cy="172085"/>
            </a:xfrm>
            <a:custGeom>
              <a:avLst/>
              <a:gdLst/>
              <a:ahLst/>
              <a:cxnLst/>
              <a:rect l="l" t="t" r="r" b="b"/>
              <a:pathLst>
                <a:path w="1784350" h="172085">
                  <a:moveTo>
                    <a:pt x="199453" y="647"/>
                  </a:moveTo>
                  <a:lnTo>
                    <a:pt x="0" y="647"/>
                  </a:lnTo>
                  <a:lnTo>
                    <a:pt x="0" y="171564"/>
                  </a:lnTo>
                  <a:lnTo>
                    <a:pt x="199453" y="171564"/>
                  </a:lnTo>
                  <a:lnTo>
                    <a:pt x="199453" y="647"/>
                  </a:lnTo>
                  <a:close/>
                </a:path>
                <a:path w="1784350" h="172085">
                  <a:moveTo>
                    <a:pt x="425958" y="330"/>
                  </a:moveTo>
                  <a:lnTo>
                    <a:pt x="226504" y="330"/>
                  </a:lnTo>
                  <a:lnTo>
                    <a:pt x="226504" y="171234"/>
                  </a:lnTo>
                  <a:lnTo>
                    <a:pt x="425958" y="171234"/>
                  </a:lnTo>
                  <a:lnTo>
                    <a:pt x="425958" y="330"/>
                  </a:lnTo>
                  <a:close/>
                </a:path>
                <a:path w="1784350" h="172085">
                  <a:moveTo>
                    <a:pt x="652056" y="330"/>
                  </a:moveTo>
                  <a:lnTo>
                    <a:pt x="452615" y="330"/>
                  </a:lnTo>
                  <a:lnTo>
                    <a:pt x="452615" y="171234"/>
                  </a:lnTo>
                  <a:lnTo>
                    <a:pt x="652056" y="171234"/>
                  </a:lnTo>
                  <a:lnTo>
                    <a:pt x="652056" y="330"/>
                  </a:lnTo>
                  <a:close/>
                </a:path>
                <a:path w="1784350" h="172085">
                  <a:moveTo>
                    <a:pt x="878560" y="0"/>
                  </a:moveTo>
                  <a:lnTo>
                    <a:pt x="679119" y="0"/>
                  </a:lnTo>
                  <a:lnTo>
                    <a:pt x="679119" y="170916"/>
                  </a:lnTo>
                  <a:lnTo>
                    <a:pt x="878560" y="170916"/>
                  </a:lnTo>
                  <a:lnTo>
                    <a:pt x="878560" y="0"/>
                  </a:lnTo>
                  <a:close/>
                </a:path>
                <a:path w="1784350" h="172085">
                  <a:moveTo>
                    <a:pt x="1105077" y="647"/>
                  </a:moveTo>
                  <a:lnTo>
                    <a:pt x="905624" y="647"/>
                  </a:lnTo>
                  <a:lnTo>
                    <a:pt x="905624" y="171564"/>
                  </a:lnTo>
                  <a:lnTo>
                    <a:pt x="1105077" y="171564"/>
                  </a:lnTo>
                  <a:lnTo>
                    <a:pt x="1105077" y="647"/>
                  </a:lnTo>
                  <a:close/>
                </a:path>
                <a:path w="1784350" h="172085">
                  <a:moveTo>
                    <a:pt x="1331582" y="330"/>
                  </a:moveTo>
                  <a:lnTo>
                    <a:pt x="1132141" y="330"/>
                  </a:lnTo>
                  <a:lnTo>
                    <a:pt x="1132141" y="171234"/>
                  </a:lnTo>
                  <a:lnTo>
                    <a:pt x="1331582" y="171234"/>
                  </a:lnTo>
                  <a:lnTo>
                    <a:pt x="1331582" y="330"/>
                  </a:lnTo>
                  <a:close/>
                </a:path>
                <a:path w="1784350" h="172085">
                  <a:moveTo>
                    <a:pt x="1557693" y="330"/>
                  </a:moveTo>
                  <a:lnTo>
                    <a:pt x="1358239" y="330"/>
                  </a:lnTo>
                  <a:lnTo>
                    <a:pt x="1358239" y="171234"/>
                  </a:lnTo>
                  <a:lnTo>
                    <a:pt x="1557693" y="171234"/>
                  </a:lnTo>
                  <a:lnTo>
                    <a:pt x="1557693" y="330"/>
                  </a:lnTo>
                  <a:close/>
                </a:path>
                <a:path w="1784350" h="172085">
                  <a:moveTo>
                    <a:pt x="1784197" y="0"/>
                  </a:moveTo>
                  <a:lnTo>
                    <a:pt x="1584744" y="0"/>
                  </a:lnTo>
                  <a:lnTo>
                    <a:pt x="1584744" y="170916"/>
                  </a:lnTo>
                  <a:lnTo>
                    <a:pt x="1784197" y="170916"/>
                  </a:lnTo>
                  <a:lnTo>
                    <a:pt x="1784197" y="0"/>
                  </a:lnTo>
                  <a:close/>
                </a:path>
              </a:pathLst>
            </a:custGeom>
            <a:solidFill>
              <a:srgbClr val="CDDCAB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25" name="object 25"/>
            <p:cNvSpPr/>
            <p:nvPr/>
          </p:nvSpPr>
          <p:spPr>
            <a:xfrm>
              <a:off x="5122491" y="3949717"/>
              <a:ext cx="200025" cy="85725"/>
            </a:xfrm>
            <a:custGeom>
              <a:avLst/>
              <a:gdLst/>
              <a:ahLst/>
              <a:cxnLst/>
              <a:rect l="l" t="t" r="r" b="b"/>
              <a:pathLst>
                <a:path w="200025" h="85725">
                  <a:moveTo>
                    <a:pt x="199450" y="0"/>
                  </a:moveTo>
                  <a:lnTo>
                    <a:pt x="0" y="0"/>
                  </a:lnTo>
                  <a:lnTo>
                    <a:pt x="0" y="85457"/>
                  </a:lnTo>
                  <a:lnTo>
                    <a:pt x="199450" y="85457"/>
                  </a:lnTo>
                  <a:lnTo>
                    <a:pt x="199450" y="0"/>
                  </a:lnTo>
                  <a:close/>
                </a:path>
              </a:pathLst>
            </a:custGeom>
            <a:solidFill>
              <a:srgbClr val="FAA757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26" name="object 26"/>
            <p:cNvSpPr/>
            <p:nvPr/>
          </p:nvSpPr>
          <p:spPr>
            <a:xfrm>
              <a:off x="5124075" y="4039739"/>
              <a:ext cx="200025" cy="85725"/>
            </a:xfrm>
            <a:custGeom>
              <a:avLst/>
              <a:gdLst/>
              <a:ahLst/>
              <a:cxnLst/>
              <a:rect l="l" t="t" r="r" b="b"/>
              <a:pathLst>
                <a:path w="200025" h="85725">
                  <a:moveTo>
                    <a:pt x="199452" y="0"/>
                  </a:moveTo>
                  <a:lnTo>
                    <a:pt x="0" y="0"/>
                  </a:lnTo>
                  <a:lnTo>
                    <a:pt x="0" y="85455"/>
                  </a:lnTo>
                  <a:lnTo>
                    <a:pt x="199452" y="85455"/>
                  </a:lnTo>
                  <a:lnTo>
                    <a:pt x="199452" y="0"/>
                  </a:lnTo>
                  <a:close/>
                </a:path>
              </a:pathLst>
            </a:custGeom>
            <a:solidFill>
              <a:srgbClr val="9EC2E9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27" name="object 27"/>
            <p:cNvSpPr/>
            <p:nvPr/>
          </p:nvSpPr>
          <p:spPr>
            <a:xfrm>
              <a:off x="5344833" y="4145508"/>
              <a:ext cx="1784350" cy="172085"/>
            </a:xfrm>
            <a:custGeom>
              <a:avLst/>
              <a:gdLst/>
              <a:ahLst/>
              <a:cxnLst/>
              <a:rect l="l" t="t" r="r" b="b"/>
              <a:pathLst>
                <a:path w="1784350" h="172085">
                  <a:moveTo>
                    <a:pt x="199453" y="647"/>
                  </a:moveTo>
                  <a:lnTo>
                    <a:pt x="0" y="647"/>
                  </a:lnTo>
                  <a:lnTo>
                    <a:pt x="0" y="171564"/>
                  </a:lnTo>
                  <a:lnTo>
                    <a:pt x="199453" y="171564"/>
                  </a:lnTo>
                  <a:lnTo>
                    <a:pt x="199453" y="647"/>
                  </a:lnTo>
                  <a:close/>
                </a:path>
                <a:path w="1784350" h="172085">
                  <a:moveTo>
                    <a:pt x="425958" y="317"/>
                  </a:moveTo>
                  <a:lnTo>
                    <a:pt x="226504" y="317"/>
                  </a:lnTo>
                  <a:lnTo>
                    <a:pt x="226504" y="171234"/>
                  </a:lnTo>
                  <a:lnTo>
                    <a:pt x="425958" y="171234"/>
                  </a:lnTo>
                  <a:lnTo>
                    <a:pt x="425958" y="317"/>
                  </a:lnTo>
                  <a:close/>
                </a:path>
                <a:path w="1784350" h="172085">
                  <a:moveTo>
                    <a:pt x="652056" y="317"/>
                  </a:moveTo>
                  <a:lnTo>
                    <a:pt x="452615" y="317"/>
                  </a:lnTo>
                  <a:lnTo>
                    <a:pt x="452615" y="171234"/>
                  </a:lnTo>
                  <a:lnTo>
                    <a:pt x="652056" y="171234"/>
                  </a:lnTo>
                  <a:lnTo>
                    <a:pt x="652056" y="317"/>
                  </a:lnTo>
                  <a:close/>
                </a:path>
                <a:path w="1784350" h="172085">
                  <a:moveTo>
                    <a:pt x="878560" y="0"/>
                  </a:moveTo>
                  <a:lnTo>
                    <a:pt x="679119" y="0"/>
                  </a:lnTo>
                  <a:lnTo>
                    <a:pt x="679119" y="170903"/>
                  </a:lnTo>
                  <a:lnTo>
                    <a:pt x="878560" y="170903"/>
                  </a:lnTo>
                  <a:lnTo>
                    <a:pt x="878560" y="0"/>
                  </a:lnTo>
                  <a:close/>
                </a:path>
                <a:path w="1784350" h="172085">
                  <a:moveTo>
                    <a:pt x="1105077" y="647"/>
                  </a:moveTo>
                  <a:lnTo>
                    <a:pt x="905624" y="647"/>
                  </a:lnTo>
                  <a:lnTo>
                    <a:pt x="905624" y="171564"/>
                  </a:lnTo>
                  <a:lnTo>
                    <a:pt x="1105077" y="171564"/>
                  </a:lnTo>
                  <a:lnTo>
                    <a:pt x="1105077" y="647"/>
                  </a:lnTo>
                  <a:close/>
                </a:path>
                <a:path w="1784350" h="172085">
                  <a:moveTo>
                    <a:pt x="1331582" y="317"/>
                  </a:moveTo>
                  <a:lnTo>
                    <a:pt x="1132141" y="317"/>
                  </a:lnTo>
                  <a:lnTo>
                    <a:pt x="1132141" y="171234"/>
                  </a:lnTo>
                  <a:lnTo>
                    <a:pt x="1331582" y="171234"/>
                  </a:lnTo>
                  <a:lnTo>
                    <a:pt x="1331582" y="317"/>
                  </a:lnTo>
                  <a:close/>
                </a:path>
                <a:path w="1784350" h="172085">
                  <a:moveTo>
                    <a:pt x="1557693" y="317"/>
                  </a:moveTo>
                  <a:lnTo>
                    <a:pt x="1358239" y="317"/>
                  </a:lnTo>
                  <a:lnTo>
                    <a:pt x="1358239" y="171234"/>
                  </a:lnTo>
                  <a:lnTo>
                    <a:pt x="1557693" y="171234"/>
                  </a:lnTo>
                  <a:lnTo>
                    <a:pt x="1557693" y="317"/>
                  </a:lnTo>
                  <a:close/>
                </a:path>
                <a:path w="1784350" h="172085">
                  <a:moveTo>
                    <a:pt x="1784197" y="0"/>
                  </a:moveTo>
                  <a:lnTo>
                    <a:pt x="1584744" y="0"/>
                  </a:lnTo>
                  <a:lnTo>
                    <a:pt x="1584744" y="170903"/>
                  </a:lnTo>
                  <a:lnTo>
                    <a:pt x="1784197" y="170903"/>
                  </a:lnTo>
                  <a:lnTo>
                    <a:pt x="1784197" y="0"/>
                  </a:lnTo>
                  <a:close/>
                </a:path>
              </a:pathLst>
            </a:custGeom>
            <a:solidFill>
              <a:srgbClr val="CDDCAB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28" name="object 28"/>
            <p:cNvSpPr/>
            <p:nvPr/>
          </p:nvSpPr>
          <p:spPr>
            <a:xfrm>
              <a:off x="5122491" y="4141445"/>
              <a:ext cx="200025" cy="85725"/>
            </a:xfrm>
            <a:custGeom>
              <a:avLst/>
              <a:gdLst/>
              <a:ahLst/>
              <a:cxnLst/>
              <a:rect l="l" t="t" r="r" b="b"/>
              <a:pathLst>
                <a:path w="200025" h="85725">
                  <a:moveTo>
                    <a:pt x="199450" y="0"/>
                  </a:moveTo>
                  <a:lnTo>
                    <a:pt x="0" y="0"/>
                  </a:lnTo>
                  <a:lnTo>
                    <a:pt x="0" y="85457"/>
                  </a:lnTo>
                  <a:lnTo>
                    <a:pt x="199450" y="85457"/>
                  </a:lnTo>
                  <a:lnTo>
                    <a:pt x="199450" y="0"/>
                  </a:lnTo>
                  <a:close/>
                </a:path>
              </a:pathLst>
            </a:custGeom>
            <a:solidFill>
              <a:srgbClr val="FAA757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29" name="object 29"/>
            <p:cNvSpPr/>
            <p:nvPr/>
          </p:nvSpPr>
          <p:spPr>
            <a:xfrm>
              <a:off x="5124075" y="4231467"/>
              <a:ext cx="200025" cy="85725"/>
            </a:xfrm>
            <a:custGeom>
              <a:avLst/>
              <a:gdLst/>
              <a:ahLst/>
              <a:cxnLst/>
              <a:rect l="l" t="t" r="r" b="b"/>
              <a:pathLst>
                <a:path w="200025" h="85725">
                  <a:moveTo>
                    <a:pt x="199452" y="0"/>
                  </a:moveTo>
                  <a:lnTo>
                    <a:pt x="0" y="0"/>
                  </a:lnTo>
                  <a:lnTo>
                    <a:pt x="0" y="85455"/>
                  </a:lnTo>
                  <a:lnTo>
                    <a:pt x="199452" y="85455"/>
                  </a:lnTo>
                  <a:lnTo>
                    <a:pt x="199452" y="0"/>
                  </a:lnTo>
                  <a:close/>
                </a:path>
              </a:pathLst>
            </a:custGeom>
            <a:solidFill>
              <a:srgbClr val="9EC2E9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30" name="object 30"/>
            <p:cNvSpPr/>
            <p:nvPr/>
          </p:nvSpPr>
          <p:spPr>
            <a:xfrm>
              <a:off x="5344833" y="4337227"/>
              <a:ext cx="1784350" cy="172085"/>
            </a:xfrm>
            <a:custGeom>
              <a:avLst/>
              <a:gdLst/>
              <a:ahLst/>
              <a:cxnLst/>
              <a:rect l="l" t="t" r="r" b="b"/>
              <a:pathLst>
                <a:path w="1784350" h="172085">
                  <a:moveTo>
                    <a:pt x="199453" y="660"/>
                  </a:moveTo>
                  <a:lnTo>
                    <a:pt x="0" y="660"/>
                  </a:lnTo>
                  <a:lnTo>
                    <a:pt x="0" y="171564"/>
                  </a:lnTo>
                  <a:lnTo>
                    <a:pt x="199453" y="171564"/>
                  </a:lnTo>
                  <a:lnTo>
                    <a:pt x="199453" y="660"/>
                  </a:lnTo>
                  <a:close/>
                </a:path>
                <a:path w="1784350" h="172085">
                  <a:moveTo>
                    <a:pt x="425958" y="330"/>
                  </a:moveTo>
                  <a:lnTo>
                    <a:pt x="226504" y="330"/>
                  </a:lnTo>
                  <a:lnTo>
                    <a:pt x="226504" y="171246"/>
                  </a:lnTo>
                  <a:lnTo>
                    <a:pt x="425958" y="171246"/>
                  </a:lnTo>
                  <a:lnTo>
                    <a:pt x="425958" y="330"/>
                  </a:lnTo>
                  <a:close/>
                </a:path>
                <a:path w="1784350" h="172085">
                  <a:moveTo>
                    <a:pt x="652056" y="330"/>
                  </a:moveTo>
                  <a:lnTo>
                    <a:pt x="452615" y="330"/>
                  </a:lnTo>
                  <a:lnTo>
                    <a:pt x="452615" y="171246"/>
                  </a:lnTo>
                  <a:lnTo>
                    <a:pt x="652056" y="171246"/>
                  </a:lnTo>
                  <a:lnTo>
                    <a:pt x="652056" y="330"/>
                  </a:lnTo>
                  <a:close/>
                </a:path>
                <a:path w="1784350" h="172085">
                  <a:moveTo>
                    <a:pt x="878560" y="0"/>
                  </a:moveTo>
                  <a:lnTo>
                    <a:pt x="679119" y="0"/>
                  </a:lnTo>
                  <a:lnTo>
                    <a:pt x="679119" y="170916"/>
                  </a:lnTo>
                  <a:lnTo>
                    <a:pt x="878560" y="170916"/>
                  </a:lnTo>
                  <a:lnTo>
                    <a:pt x="878560" y="0"/>
                  </a:lnTo>
                  <a:close/>
                </a:path>
                <a:path w="1784350" h="172085">
                  <a:moveTo>
                    <a:pt x="1105077" y="660"/>
                  </a:moveTo>
                  <a:lnTo>
                    <a:pt x="905624" y="660"/>
                  </a:lnTo>
                  <a:lnTo>
                    <a:pt x="905624" y="171564"/>
                  </a:lnTo>
                  <a:lnTo>
                    <a:pt x="1105077" y="171564"/>
                  </a:lnTo>
                  <a:lnTo>
                    <a:pt x="1105077" y="660"/>
                  </a:lnTo>
                  <a:close/>
                </a:path>
                <a:path w="1784350" h="172085">
                  <a:moveTo>
                    <a:pt x="1331582" y="330"/>
                  </a:moveTo>
                  <a:lnTo>
                    <a:pt x="1132141" y="330"/>
                  </a:lnTo>
                  <a:lnTo>
                    <a:pt x="1132141" y="171246"/>
                  </a:lnTo>
                  <a:lnTo>
                    <a:pt x="1331582" y="171246"/>
                  </a:lnTo>
                  <a:lnTo>
                    <a:pt x="1331582" y="330"/>
                  </a:lnTo>
                  <a:close/>
                </a:path>
                <a:path w="1784350" h="172085">
                  <a:moveTo>
                    <a:pt x="1557693" y="330"/>
                  </a:moveTo>
                  <a:lnTo>
                    <a:pt x="1358239" y="330"/>
                  </a:lnTo>
                  <a:lnTo>
                    <a:pt x="1358239" y="171246"/>
                  </a:lnTo>
                  <a:lnTo>
                    <a:pt x="1557693" y="171246"/>
                  </a:lnTo>
                  <a:lnTo>
                    <a:pt x="1557693" y="330"/>
                  </a:lnTo>
                  <a:close/>
                </a:path>
                <a:path w="1784350" h="172085">
                  <a:moveTo>
                    <a:pt x="1784197" y="0"/>
                  </a:moveTo>
                  <a:lnTo>
                    <a:pt x="1584744" y="0"/>
                  </a:lnTo>
                  <a:lnTo>
                    <a:pt x="1584744" y="170916"/>
                  </a:lnTo>
                  <a:lnTo>
                    <a:pt x="1784197" y="170916"/>
                  </a:lnTo>
                  <a:lnTo>
                    <a:pt x="1784197" y="0"/>
                  </a:lnTo>
                  <a:close/>
                </a:path>
              </a:pathLst>
            </a:custGeom>
            <a:solidFill>
              <a:srgbClr val="CDDCAB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31" name="object 31"/>
            <p:cNvSpPr/>
            <p:nvPr/>
          </p:nvSpPr>
          <p:spPr>
            <a:xfrm>
              <a:off x="5122491" y="4333174"/>
              <a:ext cx="200025" cy="85725"/>
            </a:xfrm>
            <a:custGeom>
              <a:avLst/>
              <a:gdLst/>
              <a:ahLst/>
              <a:cxnLst/>
              <a:rect l="l" t="t" r="r" b="b"/>
              <a:pathLst>
                <a:path w="200025" h="85725">
                  <a:moveTo>
                    <a:pt x="199450" y="0"/>
                  </a:moveTo>
                  <a:lnTo>
                    <a:pt x="0" y="0"/>
                  </a:lnTo>
                  <a:lnTo>
                    <a:pt x="0" y="85455"/>
                  </a:lnTo>
                  <a:lnTo>
                    <a:pt x="199450" y="85455"/>
                  </a:lnTo>
                  <a:lnTo>
                    <a:pt x="199450" y="0"/>
                  </a:lnTo>
                  <a:close/>
                </a:path>
              </a:pathLst>
            </a:custGeom>
            <a:solidFill>
              <a:srgbClr val="FAA757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32" name="object 32"/>
            <p:cNvSpPr/>
            <p:nvPr/>
          </p:nvSpPr>
          <p:spPr>
            <a:xfrm>
              <a:off x="5124075" y="4423195"/>
              <a:ext cx="200025" cy="85725"/>
            </a:xfrm>
            <a:custGeom>
              <a:avLst/>
              <a:gdLst/>
              <a:ahLst/>
              <a:cxnLst/>
              <a:rect l="l" t="t" r="r" b="b"/>
              <a:pathLst>
                <a:path w="200025" h="85725">
                  <a:moveTo>
                    <a:pt x="199452" y="0"/>
                  </a:moveTo>
                  <a:lnTo>
                    <a:pt x="0" y="0"/>
                  </a:lnTo>
                  <a:lnTo>
                    <a:pt x="0" y="85455"/>
                  </a:lnTo>
                  <a:lnTo>
                    <a:pt x="199452" y="85455"/>
                  </a:lnTo>
                  <a:lnTo>
                    <a:pt x="199452" y="0"/>
                  </a:lnTo>
                  <a:close/>
                </a:path>
              </a:pathLst>
            </a:custGeom>
            <a:solidFill>
              <a:srgbClr val="9EC2E9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33" name="object 33"/>
          <p:cNvSpPr txBox="1"/>
          <p:nvPr/>
        </p:nvSpPr>
        <p:spPr>
          <a:xfrm>
            <a:off x="6254517" y="4649029"/>
            <a:ext cx="1770529" cy="307437"/>
          </a:xfrm>
          <a:prstGeom prst="rect">
            <a:avLst/>
          </a:prstGeom>
          <a:solidFill>
            <a:srgbClr val="B5B5B5"/>
          </a:solidFill>
        </p:spPr>
        <p:txBody>
          <a:bodyPr vert="horz" wrap="square" lIns="0" tIns="45384" rIns="0" bIns="0" rtlCol="0">
            <a:spAutoFit/>
          </a:bodyPr>
          <a:lstStyle/>
          <a:p>
            <a:pPr marL="311540">
              <a:spcBef>
                <a:spcPts val="357"/>
              </a:spcBef>
            </a:pPr>
            <a:r>
              <a:rPr sz="1700" b="1" dirty="0">
                <a:solidFill>
                  <a:schemeClr val="bg1"/>
                </a:solidFill>
                <a:latin typeface="Calibri"/>
                <a:cs typeface="Calibri"/>
              </a:rPr>
              <a:t>Device</a:t>
            </a:r>
            <a:r>
              <a:rPr sz="1700" b="1" spc="-31" dirty="0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1700" b="1" spc="-9" dirty="0">
                <a:solidFill>
                  <a:schemeClr val="bg1"/>
                </a:solidFill>
                <a:latin typeface="Calibri"/>
                <a:cs typeface="Calibri"/>
              </a:rPr>
              <a:t>Memory</a:t>
            </a:r>
            <a:endParaRPr sz="1700" b="1" dirty="0">
              <a:solidFill>
                <a:schemeClr val="bg1"/>
              </a:solidFill>
              <a:latin typeface="Calibri"/>
              <a:cs typeface="Calibri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3187416" y="2254519"/>
            <a:ext cx="1181659" cy="319092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2000" b="1" dirty="0">
                <a:solidFill>
                  <a:srgbClr val="4F81BD"/>
                </a:solidFill>
                <a:latin typeface="Calibri"/>
                <a:cs typeface="Calibri"/>
              </a:rPr>
              <a:t>Host</a:t>
            </a:r>
            <a:r>
              <a:rPr sz="2000" b="1" spc="-31" dirty="0">
                <a:solidFill>
                  <a:srgbClr val="4F81BD"/>
                </a:solidFill>
                <a:latin typeface="Calibri"/>
                <a:cs typeface="Calibri"/>
              </a:rPr>
              <a:t> </a:t>
            </a:r>
            <a:r>
              <a:rPr sz="2000" b="1" spc="-9" dirty="0">
                <a:solidFill>
                  <a:srgbClr val="4F81BD"/>
                </a:solidFill>
                <a:latin typeface="Calibri"/>
                <a:cs typeface="Calibri"/>
              </a:rPr>
              <a:t>(CPU)</a:t>
            </a:r>
            <a:endParaRPr sz="2000" b="1" dirty="0">
              <a:latin typeface="Calibri"/>
              <a:cs typeface="Calibri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6543170" y="2901768"/>
            <a:ext cx="1481830" cy="319092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2000" b="1" dirty="0">
                <a:solidFill>
                  <a:srgbClr val="4F81BD"/>
                </a:solidFill>
                <a:latin typeface="Calibri"/>
                <a:cs typeface="Calibri"/>
              </a:rPr>
              <a:t>Device</a:t>
            </a:r>
            <a:r>
              <a:rPr sz="2000" b="1" spc="-53" dirty="0">
                <a:solidFill>
                  <a:srgbClr val="4F81BD"/>
                </a:solidFill>
                <a:latin typeface="Calibri"/>
                <a:cs typeface="Calibri"/>
              </a:rPr>
              <a:t> </a:t>
            </a:r>
            <a:r>
              <a:rPr sz="2000" b="1" spc="-18" dirty="0">
                <a:solidFill>
                  <a:srgbClr val="4F81BD"/>
                </a:solidFill>
                <a:latin typeface="Calibri"/>
                <a:cs typeface="Calibri"/>
              </a:rPr>
              <a:t>(GPU)</a:t>
            </a:r>
            <a:endParaRPr sz="2000" b="1" dirty="0">
              <a:latin typeface="Calibri"/>
              <a:cs typeface="Calibri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2761757" y="4921115"/>
            <a:ext cx="2286044" cy="1705217"/>
          </a:xfrm>
          <a:prstGeom prst="rect">
            <a:avLst/>
          </a:prstGeom>
        </p:spPr>
        <p:txBody>
          <a:bodyPr vert="horz" wrap="square" lIns="0" tIns="12326" rIns="0" bIns="0" rtlCol="0">
            <a:spAutoFit/>
          </a:bodyPr>
          <a:lstStyle/>
          <a:p>
            <a:pPr marL="11206" marR="4483" indent="-560" algn="ctr">
              <a:lnSpc>
                <a:spcPct val="99500"/>
              </a:lnSpc>
              <a:spcBef>
                <a:spcPts val="97"/>
              </a:spcBef>
            </a:pPr>
            <a:r>
              <a:rPr sz="2200" b="1" dirty="0">
                <a:solidFill>
                  <a:schemeClr val="bg1"/>
                </a:solidFill>
                <a:latin typeface="Calibri"/>
                <a:cs typeface="Calibri"/>
              </a:rPr>
              <a:t>Data</a:t>
            </a:r>
            <a:r>
              <a:rPr sz="2200" b="1" spc="-9" dirty="0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2200" b="1" dirty="0">
                <a:solidFill>
                  <a:schemeClr val="bg1"/>
                </a:solidFill>
                <a:latin typeface="Calibri"/>
                <a:cs typeface="Calibri"/>
              </a:rPr>
              <a:t>is</a:t>
            </a:r>
            <a:r>
              <a:rPr sz="2200" b="1" spc="-9" dirty="0">
                <a:solidFill>
                  <a:schemeClr val="bg1"/>
                </a:solidFill>
                <a:latin typeface="Calibri"/>
                <a:cs typeface="Calibri"/>
              </a:rPr>
              <a:t> copied </a:t>
            </a:r>
            <a:r>
              <a:rPr sz="2200" b="1" dirty="0">
                <a:solidFill>
                  <a:schemeClr val="bg1"/>
                </a:solidFill>
                <a:latin typeface="Calibri"/>
                <a:cs typeface="Calibri"/>
              </a:rPr>
              <a:t>from</a:t>
            </a:r>
            <a:r>
              <a:rPr sz="2200" b="1" spc="-26" dirty="0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2200" b="1" dirty="0">
                <a:solidFill>
                  <a:schemeClr val="bg1"/>
                </a:solidFill>
                <a:latin typeface="Calibri"/>
                <a:cs typeface="Calibri"/>
              </a:rPr>
              <a:t>the</a:t>
            </a:r>
            <a:r>
              <a:rPr sz="2200" b="1" spc="-22" dirty="0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2200" b="1" spc="-18" dirty="0">
                <a:solidFill>
                  <a:schemeClr val="bg1"/>
                </a:solidFill>
                <a:latin typeface="Calibri"/>
                <a:cs typeface="Calibri"/>
              </a:rPr>
              <a:t>host </a:t>
            </a:r>
            <a:r>
              <a:rPr sz="2200" b="1" dirty="0">
                <a:solidFill>
                  <a:schemeClr val="bg1"/>
                </a:solidFill>
                <a:latin typeface="Calibri"/>
                <a:cs typeface="Calibri"/>
              </a:rPr>
              <a:t>memory</a:t>
            </a:r>
            <a:r>
              <a:rPr sz="2200" b="1" spc="-22" dirty="0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2200" b="1" dirty="0">
                <a:solidFill>
                  <a:schemeClr val="bg1"/>
                </a:solidFill>
                <a:latin typeface="Calibri"/>
                <a:cs typeface="Calibri"/>
              </a:rPr>
              <a:t>to</a:t>
            </a:r>
            <a:r>
              <a:rPr sz="2200" b="1" spc="-18" dirty="0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2200" b="1" spc="-22" dirty="0">
                <a:solidFill>
                  <a:schemeClr val="bg1"/>
                </a:solidFill>
                <a:latin typeface="Calibri"/>
                <a:cs typeface="Calibri"/>
              </a:rPr>
              <a:t>the </a:t>
            </a:r>
            <a:r>
              <a:rPr sz="2200" b="1" dirty="0">
                <a:solidFill>
                  <a:schemeClr val="bg1"/>
                </a:solidFill>
                <a:latin typeface="Calibri"/>
                <a:cs typeface="Calibri"/>
              </a:rPr>
              <a:t>device</a:t>
            </a:r>
            <a:r>
              <a:rPr sz="2200" b="1" spc="-49" dirty="0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2200" b="1" spc="-9" dirty="0">
                <a:solidFill>
                  <a:schemeClr val="bg1"/>
                </a:solidFill>
                <a:latin typeface="Calibri"/>
                <a:cs typeface="Calibri"/>
              </a:rPr>
              <a:t>memory </a:t>
            </a:r>
            <a:r>
              <a:rPr sz="2200" b="1" dirty="0">
                <a:solidFill>
                  <a:schemeClr val="bg1"/>
                </a:solidFill>
                <a:latin typeface="Calibri"/>
                <a:cs typeface="Calibri"/>
              </a:rPr>
              <a:t>via</a:t>
            </a:r>
            <a:r>
              <a:rPr sz="2200" b="1" spc="-22" dirty="0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2200" b="1" dirty="0">
                <a:solidFill>
                  <a:schemeClr val="bg1"/>
                </a:solidFill>
                <a:latin typeface="Calibri"/>
                <a:cs typeface="Calibri"/>
              </a:rPr>
              <a:t>PCIe</a:t>
            </a:r>
            <a:r>
              <a:rPr sz="2200" b="1" spc="-18" dirty="0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2200" b="1" spc="-22" dirty="0">
                <a:solidFill>
                  <a:schemeClr val="bg1"/>
                </a:solidFill>
                <a:latin typeface="Calibri"/>
                <a:cs typeface="Calibri"/>
              </a:rPr>
              <a:t>Bus</a:t>
            </a:r>
            <a:endParaRPr sz="2200" b="1" dirty="0">
              <a:solidFill>
                <a:schemeClr val="bg1"/>
              </a:solidFill>
              <a:latin typeface="Calibri"/>
              <a:cs typeface="Calibri"/>
            </a:endParaRPr>
          </a:p>
        </p:txBody>
      </p:sp>
      <p:grpSp>
        <p:nvGrpSpPr>
          <p:cNvPr id="41" name="object 41"/>
          <p:cNvGrpSpPr/>
          <p:nvPr/>
        </p:nvGrpSpPr>
        <p:grpSpPr>
          <a:xfrm>
            <a:off x="2377279" y="4808518"/>
            <a:ext cx="366993" cy="366993"/>
            <a:chOff x="728287" y="4734098"/>
            <a:chExt cx="415925" cy="415925"/>
          </a:xfrm>
        </p:grpSpPr>
        <p:pic>
          <p:nvPicPr>
            <p:cNvPr id="42" name="object 4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28287" y="4734098"/>
              <a:ext cx="415636" cy="415636"/>
            </a:xfrm>
            <a:prstGeom prst="rect">
              <a:avLst/>
            </a:prstGeom>
          </p:spPr>
        </p:pic>
        <p:sp>
          <p:nvSpPr>
            <p:cNvPr id="43" name="object 43"/>
            <p:cNvSpPr/>
            <p:nvPr/>
          </p:nvSpPr>
          <p:spPr>
            <a:xfrm>
              <a:off x="773889" y="4758659"/>
              <a:ext cx="323215" cy="323215"/>
            </a:xfrm>
            <a:custGeom>
              <a:avLst/>
              <a:gdLst/>
              <a:ahLst/>
              <a:cxnLst/>
              <a:rect l="l" t="t" r="r" b="b"/>
              <a:pathLst>
                <a:path w="323215" h="323214">
                  <a:moveTo>
                    <a:pt x="161300" y="0"/>
                  </a:moveTo>
                  <a:lnTo>
                    <a:pt x="118420" y="5761"/>
                  </a:lnTo>
                  <a:lnTo>
                    <a:pt x="79888" y="22022"/>
                  </a:lnTo>
                  <a:lnTo>
                    <a:pt x="47243" y="47243"/>
                  </a:lnTo>
                  <a:lnTo>
                    <a:pt x="22022" y="79888"/>
                  </a:lnTo>
                  <a:lnTo>
                    <a:pt x="5761" y="118420"/>
                  </a:lnTo>
                  <a:lnTo>
                    <a:pt x="0" y="161300"/>
                  </a:lnTo>
                  <a:lnTo>
                    <a:pt x="5761" y="204179"/>
                  </a:lnTo>
                  <a:lnTo>
                    <a:pt x="22022" y="242710"/>
                  </a:lnTo>
                  <a:lnTo>
                    <a:pt x="47243" y="275355"/>
                  </a:lnTo>
                  <a:lnTo>
                    <a:pt x="79888" y="300577"/>
                  </a:lnTo>
                  <a:lnTo>
                    <a:pt x="118420" y="316837"/>
                  </a:lnTo>
                  <a:lnTo>
                    <a:pt x="161300" y="322599"/>
                  </a:lnTo>
                  <a:lnTo>
                    <a:pt x="204179" y="316837"/>
                  </a:lnTo>
                  <a:lnTo>
                    <a:pt x="242711" y="300577"/>
                  </a:lnTo>
                  <a:lnTo>
                    <a:pt x="275356" y="275355"/>
                  </a:lnTo>
                  <a:lnTo>
                    <a:pt x="300577" y="242710"/>
                  </a:lnTo>
                  <a:lnTo>
                    <a:pt x="316838" y="204179"/>
                  </a:lnTo>
                  <a:lnTo>
                    <a:pt x="322599" y="161300"/>
                  </a:lnTo>
                  <a:lnTo>
                    <a:pt x="316838" y="118420"/>
                  </a:lnTo>
                  <a:lnTo>
                    <a:pt x="300577" y="79888"/>
                  </a:lnTo>
                  <a:lnTo>
                    <a:pt x="275356" y="47243"/>
                  </a:lnTo>
                  <a:lnTo>
                    <a:pt x="242711" y="22022"/>
                  </a:lnTo>
                  <a:lnTo>
                    <a:pt x="204179" y="5761"/>
                  </a:lnTo>
                  <a:lnTo>
                    <a:pt x="161300" y="0"/>
                  </a:lnTo>
                  <a:close/>
                </a:path>
              </a:pathLst>
            </a:custGeom>
            <a:solidFill>
              <a:srgbClr val="FF2600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44" name="object 44"/>
          <p:cNvSpPr txBox="1"/>
          <p:nvPr/>
        </p:nvSpPr>
        <p:spPr>
          <a:xfrm>
            <a:off x="2500432" y="4846253"/>
            <a:ext cx="122144" cy="228619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412" spc="-44" dirty="0">
                <a:solidFill>
                  <a:srgbClr val="FFFFFF"/>
                </a:solidFill>
                <a:latin typeface="Arial MT"/>
                <a:cs typeface="Arial MT"/>
              </a:rPr>
              <a:t>1</a:t>
            </a:r>
            <a:endParaRPr sz="1412">
              <a:latin typeface="Arial MT"/>
              <a:cs typeface="Arial MT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4977450" y="2150658"/>
            <a:ext cx="1803026" cy="1028109"/>
          </a:xfrm>
          <a:prstGeom prst="rect">
            <a:avLst/>
          </a:prstGeom>
        </p:spPr>
        <p:txBody>
          <a:bodyPr vert="horz" wrap="square" lIns="0" tIns="12326" rIns="0" bIns="0" rtlCol="0">
            <a:spAutoFit/>
          </a:bodyPr>
          <a:lstStyle/>
          <a:p>
            <a:pPr marL="10646" marR="4483" algn="ctr">
              <a:lnSpc>
                <a:spcPct val="99500"/>
              </a:lnSpc>
              <a:spcBef>
                <a:spcPts val="97"/>
              </a:spcBef>
            </a:pPr>
            <a:r>
              <a:rPr sz="2200" b="1" dirty="0">
                <a:solidFill>
                  <a:schemeClr val="bg1"/>
                </a:solidFill>
                <a:latin typeface="Calibri"/>
                <a:cs typeface="Calibri"/>
              </a:rPr>
              <a:t>Host</a:t>
            </a:r>
            <a:r>
              <a:rPr sz="2200" b="1" spc="-31" dirty="0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2200" b="1" spc="-9" dirty="0">
                <a:solidFill>
                  <a:schemeClr val="bg1"/>
                </a:solidFill>
                <a:latin typeface="Calibri"/>
                <a:cs typeface="Calibri"/>
              </a:rPr>
              <a:t>launches </a:t>
            </a:r>
            <a:r>
              <a:rPr sz="2200" b="1" dirty="0">
                <a:solidFill>
                  <a:schemeClr val="bg1"/>
                </a:solidFill>
                <a:latin typeface="Calibri"/>
                <a:cs typeface="Calibri"/>
              </a:rPr>
              <a:t>kernel</a:t>
            </a:r>
            <a:r>
              <a:rPr sz="2200" b="1" spc="-26" dirty="0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2200" b="1" dirty="0">
                <a:solidFill>
                  <a:schemeClr val="bg1"/>
                </a:solidFill>
                <a:latin typeface="Calibri"/>
                <a:cs typeface="Calibri"/>
              </a:rPr>
              <a:t>on</a:t>
            </a:r>
            <a:r>
              <a:rPr sz="2200" b="1" spc="-26" dirty="0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2200" b="1" spc="-22" dirty="0">
                <a:solidFill>
                  <a:schemeClr val="bg1"/>
                </a:solidFill>
                <a:latin typeface="Calibri"/>
                <a:cs typeface="Calibri"/>
              </a:rPr>
              <a:t>the </a:t>
            </a:r>
            <a:r>
              <a:rPr sz="2200" b="1" spc="-9" dirty="0">
                <a:solidFill>
                  <a:schemeClr val="bg1"/>
                </a:solidFill>
                <a:latin typeface="Calibri"/>
                <a:cs typeface="Calibri"/>
              </a:rPr>
              <a:t>device</a:t>
            </a:r>
            <a:endParaRPr sz="2200" b="1" dirty="0">
              <a:solidFill>
                <a:schemeClr val="bg1"/>
              </a:solidFill>
              <a:latin typeface="Calibri"/>
              <a:cs typeface="Calibri"/>
            </a:endParaRPr>
          </a:p>
        </p:txBody>
      </p:sp>
      <p:grpSp>
        <p:nvGrpSpPr>
          <p:cNvPr id="50" name="object 50"/>
          <p:cNvGrpSpPr/>
          <p:nvPr/>
        </p:nvGrpSpPr>
        <p:grpSpPr>
          <a:xfrm>
            <a:off x="4610713" y="2204678"/>
            <a:ext cx="366993" cy="366993"/>
            <a:chOff x="3259512" y="1783080"/>
            <a:chExt cx="415925" cy="415925"/>
          </a:xfrm>
        </p:grpSpPr>
        <p:pic>
          <p:nvPicPr>
            <p:cNvPr id="51" name="object 5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259512" y="1783080"/>
              <a:ext cx="415636" cy="415636"/>
            </a:xfrm>
            <a:prstGeom prst="rect">
              <a:avLst/>
            </a:prstGeom>
          </p:spPr>
        </p:pic>
        <p:sp>
          <p:nvSpPr>
            <p:cNvPr id="52" name="object 52"/>
            <p:cNvSpPr/>
            <p:nvPr/>
          </p:nvSpPr>
          <p:spPr>
            <a:xfrm>
              <a:off x="3307205" y="1806546"/>
              <a:ext cx="323215" cy="323215"/>
            </a:xfrm>
            <a:custGeom>
              <a:avLst/>
              <a:gdLst/>
              <a:ahLst/>
              <a:cxnLst/>
              <a:rect l="l" t="t" r="r" b="b"/>
              <a:pathLst>
                <a:path w="323214" h="323214">
                  <a:moveTo>
                    <a:pt x="161300" y="0"/>
                  </a:moveTo>
                  <a:lnTo>
                    <a:pt x="118420" y="5761"/>
                  </a:lnTo>
                  <a:lnTo>
                    <a:pt x="79889" y="22022"/>
                  </a:lnTo>
                  <a:lnTo>
                    <a:pt x="47244" y="47243"/>
                  </a:lnTo>
                  <a:lnTo>
                    <a:pt x="22022" y="79888"/>
                  </a:lnTo>
                  <a:lnTo>
                    <a:pt x="5761" y="118419"/>
                  </a:lnTo>
                  <a:lnTo>
                    <a:pt x="0" y="161298"/>
                  </a:lnTo>
                  <a:lnTo>
                    <a:pt x="5761" y="204179"/>
                  </a:lnTo>
                  <a:lnTo>
                    <a:pt x="22022" y="242710"/>
                  </a:lnTo>
                  <a:lnTo>
                    <a:pt x="47243" y="275356"/>
                  </a:lnTo>
                  <a:lnTo>
                    <a:pt x="79889" y="300577"/>
                  </a:lnTo>
                  <a:lnTo>
                    <a:pt x="118420" y="316838"/>
                  </a:lnTo>
                  <a:lnTo>
                    <a:pt x="161300" y="322600"/>
                  </a:lnTo>
                  <a:lnTo>
                    <a:pt x="204180" y="316838"/>
                  </a:lnTo>
                  <a:lnTo>
                    <a:pt x="242711" y="300577"/>
                  </a:lnTo>
                  <a:lnTo>
                    <a:pt x="275356" y="275356"/>
                  </a:lnTo>
                  <a:lnTo>
                    <a:pt x="300578" y="242710"/>
                  </a:lnTo>
                  <a:lnTo>
                    <a:pt x="316838" y="204179"/>
                  </a:lnTo>
                  <a:lnTo>
                    <a:pt x="322600" y="161298"/>
                  </a:lnTo>
                  <a:lnTo>
                    <a:pt x="316838" y="118419"/>
                  </a:lnTo>
                  <a:lnTo>
                    <a:pt x="300578" y="79888"/>
                  </a:lnTo>
                  <a:lnTo>
                    <a:pt x="275356" y="47243"/>
                  </a:lnTo>
                  <a:lnTo>
                    <a:pt x="242711" y="22022"/>
                  </a:lnTo>
                  <a:lnTo>
                    <a:pt x="204180" y="5761"/>
                  </a:lnTo>
                  <a:lnTo>
                    <a:pt x="161300" y="0"/>
                  </a:lnTo>
                  <a:close/>
                </a:path>
              </a:pathLst>
            </a:custGeom>
            <a:solidFill>
              <a:srgbClr val="FF2600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53" name="object 53"/>
          <p:cNvSpPr txBox="1"/>
          <p:nvPr/>
        </p:nvSpPr>
        <p:spPr>
          <a:xfrm>
            <a:off x="4735712" y="2241447"/>
            <a:ext cx="122144" cy="228619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412" spc="-44" dirty="0">
                <a:solidFill>
                  <a:srgbClr val="FFFFFF"/>
                </a:solidFill>
                <a:latin typeface="Arial MT"/>
                <a:cs typeface="Arial MT"/>
              </a:rPr>
              <a:t>2</a:t>
            </a:r>
            <a:endParaRPr sz="1412">
              <a:latin typeface="Arial MT"/>
              <a:cs typeface="Arial MT"/>
            </a:endParaRPr>
          </a:p>
        </p:txBody>
      </p:sp>
      <p:sp>
        <p:nvSpPr>
          <p:cNvPr id="58" name="object 58"/>
          <p:cNvSpPr txBox="1"/>
          <p:nvPr/>
        </p:nvSpPr>
        <p:spPr>
          <a:xfrm>
            <a:off x="8128312" y="2461126"/>
            <a:ext cx="2227181" cy="1354767"/>
          </a:xfrm>
          <a:prstGeom prst="rect">
            <a:avLst/>
          </a:prstGeom>
        </p:spPr>
        <p:txBody>
          <a:bodyPr vert="horz" wrap="square" lIns="0" tIns="14007" rIns="0" bIns="0" rtlCol="0">
            <a:spAutoFit/>
          </a:bodyPr>
          <a:lstStyle/>
          <a:p>
            <a:pPr marL="10646" marR="4483" algn="ctr">
              <a:lnSpc>
                <a:spcPct val="98800"/>
              </a:lnSpc>
              <a:spcBef>
                <a:spcPts val="110"/>
              </a:spcBef>
            </a:pPr>
            <a:r>
              <a:rPr sz="2200" b="1" dirty="0">
                <a:solidFill>
                  <a:schemeClr val="bg1"/>
                </a:solidFill>
                <a:latin typeface="Calibri"/>
                <a:cs typeface="Calibri"/>
              </a:rPr>
              <a:t>The</a:t>
            </a:r>
            <a:r>
              <a:rPr sz="2200" b="1" spc="-40" dirty="0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2200" b="1" dirty="0">
                <a:solidFill>
                  <a:schemeClr val="bg1"/>
                </a:solidFill>
                <a:latin typeface="Calibri"/>
                <a:cs typeface="Calibri"/>
              </a:rPr>
              <a:t>kernel</a:t>
            </a:r>
            <a:r>
              <a:rPr sz="2200" b="1" spc="-31" dirty="0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2200" b="1" spc="-22" dirty="0">
                <a:solidFill>
                  <a:schemeClr val="bg1"/>
                </a:solidFill>
                <a:latin typeface="Calibri"/>
                <a:cs typeface="Calibri"/>
              </a:rPr>
              <a:t>is </a:t>
            </a:r>
            <a:r>
              <a:rPr sz="2200" b="1" dirty="0">
                <a:solidFill>
                  <a:schemeClr val="bg1"/>
                </a:solidFill>
                <a:latin typeface="Calibri"/>
                <a:cs typeface="Calibri"/>
              </a:rPr>
              <a:t>executed</a:t>
            </a:r>
            <a:r>
              <a:rPr sz="2200" b="1" spc="-53" dirty="0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2200" b="1" spc="-22" dirty="0">
                <a:solidFill>
                  <a:schemeClr val="bg1"/>
                </a:solidFill>
                <a:latin typeface="Calibri"/>
                <a:cs typeface="Calibri"/>
              </a:rPr>
              <a:t>by </a:t>
            </a:r>
            <a:r>
              <a:rPr sz="2200" b="1" dirty="0">
                <a:solidFill>
                  <a:schemeClr val="bg1"/>
                </a:solidFill>
                <a:latin typeface="Calibri"/>
                <a:cs typeface="Calibri"/>
              </a:rPr>
              <a:t>multiple</a:t>
            </a:r>
            <a:r>
              <a:rPr sz="2200" b="1" spc="-44" dirty="0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2200" b="1" spc="-9" dirty="0">
                <a:solidFill>
                  <a:schemeClr val="bg1"/>
                </a:solidFill>
                <a:latin typeface="Calibri"/>
                <a:cs typeface="Calibri"/>
              </a:rPr>
              <a:t>threads concurrently</a:t>
            </a:r>
            <a:endParaRPr sz="2200" b="1" dirty="0">
              <a:solidFill>
                <a:schemeClr val="bg1"/>
              </a:solidFill>
              <a:latin typeface="Calibri"/>
              <a:cs typeface="Calibri"/>
            </a:endParaRPr>
          </a:p>
        </p:txBody>
      </p:sp>
      <p:grpSp>
        <p:nvGrpSpPr>
          <p:cNvPr id="59" name="object 59"/>
          <p:cNvGrpSpPr/>
          <p:nvPr/>
        </p:nvGrpSpPr>
        <p:grpSpPr>
          <a:xfrm>
            <a:off x="7984702" y="2567749"/>
            <a:ext cx="366993" cy="366993"/>
            <a:chOff x="7083366" y="2194560"/>
            <a:chExt cx="415925" cy="415925"/>
          </a:xfrm>
        </p:grpSpPr>
        <p:pic>
          <p:nvPicPr>
            <p:cNvPr id="60" name="object 6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083366" y="2194560"/>
              <a:ext cx="415636" cy="415636"/>
            </a:xfrm>
            <a:prstGeom prst="rect">
              <a:avLst/>
            </a:prstGeom>
          </p:spPr>
        </p:pic>
        <p:sp>
          <p:nvSpPr>
            <p:cNvPr id="61" name="object 61"/>
            <p:cNvSpPr/>
            <p:nvPr/>
          </p:nvSpPr>
          <p:spPr>
            <a:xfrm>
              <a:off x="7129037" y="2217496"/>
              <a:ext cx="323215" cy="323215"/>
            </a:xfrm>
            <a:custGeom>
              <a:avLst/>
              <a:gdLst/>
              <a:ahLst/>
              <a:cxnLst/>
              <a:rect l="l" t="t" r="r" b="b"/>
              <a:pathLst>
                <a:path w="323215" h="323214">
                  <a:moveTo>
                    <a:pt x="161300" y="0"/>
                  </a:moveTo>
                  <a:lnTo>
                    <a:pt x="118420" y="5761"/>
                  </a:lnTo>
                  <a:lnTo>
                    <a:pt x="79888" y="22022"/>
                  </a:lnTo>
                  <a:lnTo>
                    <a:pt x="47243" y="47243"/>
                  </a:lnTo>
                  <a:lnTo>
                    <a:pt x="22022" y="79888"/>
                  </a:lnTo>
                  <a:lnTo>
                    <a:pt x="5761" y="118419"/>
                  </a:lnTo>
                  <a:lnTo>
                    <a:pt x="0" y="161298"/>
                  </a:lnTo>
                  <a:lnTo>
                    <a:pt x="5761" y="204179"/>
                  </a:lnTo>
                  <a:lnTo>
                    <a:pt x="22022" y="242710"/>
                  </a:lnTo>
                  <a:lnTo>
                    <a:pt x="47243" y="275355"/>
                  </a:lnTo>
                  <a:lnTo>
                    <a:pt x="79888" y="300576"/>
                  </a:lnTo>
                  <a:lnTo>
                    <a:pt x="118420" y="316837"/>
                  </a:lnTo>
                  <a:lnTo>
                    <a:pt x="161300" y="322599"/>
                  </a:lnTo>
                  <a:lnTo>
                    <a:pt x="204179" y="316837"/>
                  </a:lnTo>
                  <a:lnTo>
                    <a:pt x="242710" y="300576"/>
                  </a:lnTo>
                  <a:lnTo>
                    <a:pt x="275355" y="275355"/>
                  </a:lnTo>
                  <a:lnTo>
                    <a:pt x="300577" y="242710"/>
                  </a:lnTo>
                  <a:lnTo>
                    <a:pt x="316837" y="204179"/>
                  </a:lnTo>
                  <a:lnTo>
                    <a:pt x="322599" y="161298"/>
                  </a:lnTo>
                  <a:lnTo>
                    <a:pt x="316837" y="118419"/>
                  </a:lnTo>
                  <a:lnTo>
                    <a:pt x="300577" y="79888"/>
                  </a:lnTo>
                  <a:lnTo>
                    <a:pt x="275355" y="47243"/>
                  </a:lnTo>
                  <a:lnTo>
                    <a:pt x="242710" y="22022"/>
                  </a:lnTo>
                  <a:lnTo>
                    <a:pt x="204179" y="5761"/>
                  </a:lnTo>
                  <a:lnTo>
                    <a:pt x="161300" y="0"/>
                  </a:lnTo>
                  <a:close/>
                </a:path>
              </a:pathLst>
            </a:custGeom>
            <a:solidFill>
              <a:srgbClr val="FF2600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62" name="object 62"/>
          <p:cNvSpPr txBox="1"/>
          <p:nvPr/>
        </p:nvSpPr>
        <p:spPr>
          <a:xfrm>
            <a:off x="8107914" y="2604049"/>
            <a:ext cx="122144" cy="228619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412" spc="-44" dirty="0">
                <a:solidFill>
                  <a:srgbClr val="FFFFFF"/>
                </a:solidFill>
                <a:latin typeface="Arial MT"/>
                <a:cs typeface="Arial MT"/>
              </a:rPr>
              <a:t>3</a:t>
            </a:r>
            <a:endParaRPr sz="1412">
              <a:latin typeface="Arial MT"/>
              <a:cs typeface="Arial MT"/>
            </a:endParaRPr>
          </a:p>
        </p:txBody>
      </p:sp>
      <p:sp>
        <p:nvSpPr>
          <p:cNvPr id="67" name="object 67"/>
          <p:cNvSpPr txBox="1"/>
          <p:nvPr/>
        </p:nvSpPr>
        <p:spPr>
          <a:xfrm>
            <a:off x="8490570" y="4692870"/>
            <a:ext cx="2427650" cy="1366663"/>
          </a:xfrm>
          <a:prstGeom prst="rect">
            <a:avLst/>
          </a:prstGeom>
        </p:spPr>
        <p:txBody>
          <a:bodyPr vert="horz" wrap="square" lIns="0" tIns="12326" rIns="0" bIns="0" rtlCol="0">
            <a:spAutoFit/>
          </a:bodyPr>
          <a:lstStyle/>
          <a:p>
            <a:pPr marL="11206" marR="4483" indent="-560" algn="ctr">
              <a:lnSpc>
                <a:spcPct val="99500"/>
              </a:lnSpc>
              <a:spcBef>
                <a:spcPts val="97"/>
              </a:spcBef>
            </a:pPr>
            <a:r>
              <a:rPr sz="2200" b="1" dirty="0">
                <a:solidFill>
                  <a:schemeClr val="bg1"/>
                </a:solidFill>
                <a:latin typeface="Calibri"/>
                <a:cs typeface="Calibri"/>
              </a:rPr>
              <a:t>The</a:t>
            </a:r>
            <a:r>
              <a:rPr sz="2200" b="1" spc="-13" dirty="0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2200" b="1" dirty="0">
                <a:solidFill>
                  <a:schemeClr val="bg1"/>
                </a:solidFill>
                <a:latin typeface="Calibri"/>
                <a:cs typeface="Calibri"/>
              </a:rPr>
              <a:t>data</a:t>
            </a:r>
            <a:r>
              <a:rPr sz="2200" b="1" spc="-13" dirty="0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2200" b="1" spc="-9" dirty="0">
                <a:solidFill>
                  <a:schemeClr val="bg1"/>
                </a:solidFill>
                <a:latin typeface="Calibri"/>
                <a:cs typeface="Calibri"/>
              </a:rPr>
              <a:t>within </a:t>
            </a:r>
            <a:r>
              <a:rPr sz="2200" b="1" dirty="0">
                <a:solidFill>
                  <a:schemeClr val="bg1"/>
                </a:solidFill>
                <a:latin typeface="Calibri"/>
                <a:cs typeface="Calibri"/>
              </a:rPr>
              <a:t>the</a:t>
            </a:r>
            <a:r>
              <a:rPr sz="2200" b="1" spc="-31" dirty="0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2200" b="1" dirty="0">
                <a:solidFill>
                  <a:schemeClr val="bg1"/>
                </a:solidFill>
                <a:latin typeface="Calibri"/>
                <a:cs typeface="Calibri"/>
              </a:rPr>
              <a:t>device</a:t>
            </a:r>
            <a:r>
              <a:rPr sz="2200" b="1" spc="-26" dirty="0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2200" b="1" spc="-22" dirty="0">
                <a:solidFill>
                  <a:schemeClr val="bg1"/>
                </a:solidFill>
                <a:latin typeface="Calibri"/>
                <a:cs typeface="Calibri"/>
              </a:rPr>
              <a:t>is </a:t>
            </a:r>
            <a:r>
              <a:rPr sz="2200" b="1" dirty="0">
                <a:solidFill>
                  <a:schemeClr val="bg1"/>
                </a:solidFill>
                <a:latin typeface="Calibri"/>
                <a:cs typeface="Calibri"/>
              </a:rPr>
              <a:t>accessed</a:t>
            </a:r>
            <a:r>
              <a:rPr sz="2200" b="1" spc="-49" dirty="0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2200" b="1" spc="-22" dirty="0">
                <a:solidFill>
                  <a:schemeClr val="bg1"/>
                </a:solidFill>
                <a:latin typeface="Calibri"/>
                <a:cs typeface="Calibri"/>
              </a:rPr>
              <a:t>by </a:t>
            </a:r>
            <a:r>
              <a:rPr sz="2200" b="1" dirty="0">
                <a:solidFill>
                  <a:schemeClr val="bg1"/>
                </a:solidFill>
                <a:latin typeface="Calibri"/>
                <a:cs typeface="Calibri"/>
              </a:rPr>
              <a:t>threads</a:t>
            </a:r>
            <a:r>
              <a:rPr sz="2200" b="1" spc="-53" dirty="0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2200" b="1" spc="-9" dirty="0">
                <a:solidFill>
                  <a:schemeClr val="bg1"/>
                </a:solidFill>
                <a:latin typeface="Calibri"/>
                <a:cs typeface="Calibri"/>
              </a:rPr>
              <a:t>through </a:t>
            </a:r>
            <a:r>
              <a:rPr sz="2200" b="1" dirty="0">
                <a:solidFill>
                  <a:schemeClr val="bg1"/>
                </a:solidFill>
                <a:latin typeface="Calibri"/>
                <a:cs typeface="Calibri"/>
              </a:rPr>
              <a:t>memory</a:t>
            </a:r>
            <a:r>
              <a:rPr sz="2200" b="1" spc="-35" dirty="0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2200" b="1" spc="-9" dirty="0">
                <a:solidFill>
                  <a:schemeClr val="bg1"/>
                </a:solidFill>
                <a:latin typeface="Calibri"/>
                <a:cs typeface="Calibri"/>
              </a:rPr>
              <a:t>hierarchy</a:t>
            </a:r>
            <a:endParaRPr sz="2200" b="1" dirty="0">
              <a:solidFill>
                <a:schemeClr val="bg1"/>
              </a:solidFill>
              <a:latin typeface="Calibri"/>
              <a:cs typeface="Calibri"/>
            </a:endParaRPr>
          </a:p>
        </p:txBody>
      </p:sp>
      <p:grpSp>
        <p:nvGrpSpPr>
          <p:cNvPr id="68" name="object 68"/>
          <p:cNvGrpSpPr/>
          <p:nvPr/>
        </p:nvGrpSpPr>
        <p:grpSpPr>
          <a:xfrm>
            <a:off x="8120395" y="4727834"/>
            <a:ext cx="363071" cy="363071"/>
            <a:chOff x="7237152" y="4642657"/>
            <a:chExt cx="411480" cy="411480"/>
          </a:xfrm>
        </p:grpSpPr>
        <p:pic>
          <p:nvPicPr>
            <p:cNvPr id="69" name="object 6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237152" y="4642657"/>
              <a:ext cx="411479" cy="411480"/>
            </a:xfrm>
            <a:prstGeom prst="rect">
              <a:avLst/>
            </a:prstGeom>
          </p:spPr>
        </p:pic>
        <p:sp>
          <p:nvSpPr>
            <p:cNvPr id="70" name="object 70"/>
            <p:cNvSpPr/>
            <p:nvPr/>
          </p:nvSpPr>
          <p:spPr>
            <a:xfrm>
              <a:off x="7281436" y="4664388"/>
              <a:ext cx="323215" cy="323215"/>
            </a:xfrm>
            <a:custGeom>
              <a:avLst/>
              <a:gdLst/>
              <a:ahLst/>
              <a:cxnLst/>
              <a:rect l="l" t="t" r="r" b="b"/>
              <a:pathLst>
                <a:path w="323215" h="323214">
                  <a:moveTo>
                    <a:pt x="161300" y="0"/>
                  </a:moveTo>
                  <a:lnTo>
                    <a:pt x="118420" y="5761"/>
                  </a:lnTo>
                  <a:lnTo>
                    <a:pt x="79888" y="22022"/>
                  </a:lnTo>
                  <a:lnTo>
                    <a:pt x="47243" y="47243"/>
                  </a:lnTo>
                  <a:lnTo>
                    <a:pt x="22022" y="79888"/>
                  </a:lnTo>
                  <a:lnTo>
                    <a:pt x="5761" y="118419"/>
                  </a:lnTo>
                  <a:lnTo>
                    <a:pt x="0" y="161298"/>
                  </a:lnTo>
                  <a:lnTo>
                    <a:pt x="5761" y="204179"/>
                  </a:lnTo>
                  <a:lnTo>
                    <a:pt x="22022" y="242710"/>
                  </a:lnTo>
                  <a:lnTo>
                    <a:pt x="47243" y="275355"/>
                  </a:lnTo>
                  <a:lnTo>
                    <a:pt x="79888" y="300576"/>
                  </a:lnTo>
                  <a:lnTo>
                    <a:pt x="118420" y="316837"/>
                  </a:lnTo>
                  <a:lnTo>
                    <a:pt x="161300" y="322599"/>
                  </a:lnTo>
                  <a:lnTo>
                    <a:pt x="204179" y="316837"/>
                  </a:lnTo>
                  <a:lnTo>
                    <a:pt x="242710" y="300576"/>
                  </a:lnTo>
                  <a:lnTo>
                    <a:pt x="275355" y="275355"/>
                  </a:lnTo>
                  <a:lnTo>
                    <a:pt x="300577" y="242710"/>
                  </a:lnTo>
                  <a:lnTo>
                    <a:pt x="316837" y="204179"/>
                  </a:lnTo>
                  <a:lnTo>
                    <a:pt x="322599" y="161298"/>
                  </a:lnTo>
                  <a:lnTo>
                    <a:pt x="316837" y="118419"/>
                  </a:lnTo>
                  <a:lnTo>
                    <a:pt x="300577" y="79888"/>
                  </a:lnTo>
                  <a:lnTo>
                    <a:pt x="275355" y="47243"/>
                  </a:lnTo>
                  <a:lnTo>
                    <a:pt x="242710" y="22022"/>
                  </a:lnTo>
                  <a:lnTo>
                    <a:pt x="204179" y="5761"/>
                  </a:lnTo>
                  <a:lnTo>
                    <a:pt x="161300" y="0"/>
                  </a:lnTo>
                  <a:close/>
                </a:path>
              </a:pathLst>
            </a:custGeom>
            <a:solidFill>
              <a:srgbClr val="FF2600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71" name="object 71"/>
          <p:cNvSpPr txBox="1"/>
          <p:nvPr/>
        </p:nvSpPr>
        <p:spPr>
          <a:xfrm>
            <a:off x="8242385" y="4763073"/>
            <a:ext cx="122144" cy="228619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412" spc="-44" dirty="0">
                <a:solidFill>
                  <a:srgbClr val="FFFFFF"/>
                </a:solidFill>
                <a:latin typeface="Arial MT"/>
                <a:cs typeface="Arial MT"/>
              </a:rPr>
              <a:t>4</a:t>
            </a:r>
            <a:endParaRPr sz="1412">
              <a:latin typeface="Arial MT"/>
              <a:cs typeface="Arial MT"/>
            </a:endParaRPr>
          </a:p>
        </p:txBody>
      </p:sp>
      <p:sp>
        <p:nvSpPr>
          <p:cNvPr id="76" name="object 76"/>
          <p:cNvSpPr txBox="1"/>
          <p:nvPr/>
        </p:nvSpPr>
        <p:spPr>
          <a:xfrm>
            <a:off x="5369559" y="5038335"/>
            <a:ext cx="2737423" cy="1705217"/>
          </a:xfrm>
          <a:prstGeom prst="rect">
            <a:avLst/>
          </a:prstGeom>
        </p:spPr>
        <p:txBody>
          <a:bodyPr vert="horz" wrap="square" lIns="0" tIns="12326" rIns="0" bIns="0" rtlCol="0">
            <a:spAutoFit/>
          </a:bodyPr>
          <a:lstStyle/>
          <a:p>
            <a:pPr marL="11206" marR="4483" algn="ctr">
              <a:lnSpc>
                <a:spcPct val="99500"/>
              </a:lnSpc>
              <a:spcBef>
                <a:spcPts val="97"/>
              </a:spcBef>
            </a:pPr>
            <a:r>
              <a:rPr sz="2200" b="1" dirty="0">
                <a:solidFill>
                  <a:schemeClr val="bg1"/>
                </a:solidFill>
                <a:latin typeface="Calibri"/>
                <a:cs typeface="Calibri"/>
              </a:rPr>
              <a:t>The</a:t>
            </a:r>
            <a:r>
              <a:rPr sz="2200" b="1" spc="-22" dirty="0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2200" b="1" dirty="0">
                <a:solidFill>
                  <a:schemeClr val="bg1"/>
                </a:solidFill>
                <a:latin typeface="Calibri"/>
                <a:cs typeface="Calibri"/>
              </a:rPr>
              <a:t>results</a:t>
            </a:r>
            <a:r>
              <a:rPr sz="2200" b="1" spc="-18" dirty="0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2200" b="1" dirty="0">
                <a:solidFill>
                  <a:schemeClr val="bg1"/>
                </a:solidFill>
                <a:latin typeface="Calibri"/>
                <a:cs typeface="Calibri"/>
              </a:rPr>
              <a:t>are</a:t>
            </a:r>
            <a:r>
              <a:rPr sz="2200" b="1" spc="-18" dirty="0">
                <a:solidFill>
                  <a:schemeClr val="bg1"/>
                </a:solidFill>
                <a:latin typeface="Calibri"/>
                <a:cs typeface="Calibri"/>
              </a:rPr>
              <a:t> moved </a:t>
            </a:r>
            <a:r>
              <a:rPr sz="2200" b="1" dirty="0">
                <a:solidFill>
                  <a:schemeClr val="bg1"/>
                </a:solidFill>
                <a:latin typeface="Calibri"/>
                <a:cs typeface="Calibri"/>
              </a:rPr>
              <a:t>back</a:t>
            </a:r>
            <a:r>
              <a:rPr sz="2200" b="1" spc="-22" dirty="0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2200" b="1" dirty="0">
                <a:solidFill>
                  <a:schemeClr val="bg1"/>
                </a:solidFill>
                <a:latin typeface="Calibri"/>
                <a:cs typeface="Calibri"/>
              </a:rPr>
              <a:t>to</a:t>
            </a:r>
            <a:r>
              <a:rPr sz="2200" b="1" spc="-18" dirty="0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2200" b="1" dirty="0">
                <a:solidFill>
                  <a:schemeClr val="bg1"/>
                </a:solidFill>
                <a:latin typeface="Calibri"/>
                <a:cs typeface="Calibri"/>
              </a:rPr>
              <a:t>the</a:t>
            </a:r>
            <a:r>
              <a:rPr sz="2200" b="1" spc="-18" dirty="0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2200" b="1" spc="-9" dirty="0">
                <a:solidFill>
                  <a:schemeClr val="bg1"/>
                </a:solidFill>
                <a:latin typeface="Calibri"/>
                <a:cs typeface="Calibri"/>
              </a:rPr>
              <a:t>device </a:t>
            </a:r>
            <a:r>
              <a:rPr sz="2200" b="1" dirty="0">
                <a:solidFill>
                  <a:schemeClr val="bg1"/>
                </a:solidFill>
                <a:latin typeface="Calibri"/>
                <a:cs typeface="Calibri"/>
              </a:rPr>
              <a:t>memory</a:t>
            </a:r>
            <a:r>
              <a:rPr sz="2200" b="1" spc="-35" dirty="0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2200" b="1" dirty="0">
                <a:solidFill>
                  <a:schemeClr val="bg1"/>
                </a:solidFill>
                <a:latin typeface="Calibri"/>
                <a:cs typeface="Calibri"/>
              </a:rPr>
              <a:t>and</a:t>
            </a:r>
            <a:r>
              <a:rPr sz="2200" b="1" spc="-31" dirty="0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2200" b="1" spc="-22" dirty="0">
                <a:solidFill>
                  <a:schemeClr val="bg1"/>
                </a:solidFill>
                <a:latin typeface="Calibri"/>
                <a:cs typeface="Calibri"/>
              </a:rPr>
              <a:t>are </a:t>
            </a:r>
            <a:r>
              <a:rPr sz="2200" b="1" dirty="0">
                <a:solidFill>
                  <a:schemeClr val="bg1"/>
                </a:solidFill>
                <a:latin typeface="Calibri"/>
                <a:cs typeface="Calibri"/>
              </a:rPr>
              <a:t>transferred</a:t>
            </a:r>
            <a:r>
              <a:rPr sz="2200" b="1" spc="-31" dirty="0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2200" b="1" dirty="0">
                <a:solidFill>
                  <a:schemeClr val="bg1"/>
                </a:solidFill>
                <a:latin typeface="Calibri"/>
                <a:cs typeface="Calibri"/>
              </a:rPr>
              <a:t>back</a:t>
            </a:r>
            <a:r>
              <a:rPr sz="2200" b="1" spc="-31" dirty="0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2200" b="1" dirty="0">
                <a:solidFill>
                  <a:schemeClr val="bg1"/>
                </a:solidFill>
                <a:latin typeface="Calibri"/>
                <a:cs typeface="Calibri"/>
              </a:rPr>
              <a:t>to</a:t>
            </a:r>
            <a:r>
              <a:rPr sz="2200" b="1" spc="-31" dirty="0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2200" b="1" spc="-22" dirty="0">
                <a:solidFill>
                  <a:schemeClr val="bg1"/>
                </a:solidFill>
                <a:latin typeface="Calibri"/>
                <a:cs typeface="Calibri"/>
              </a:rPr>
              <a:t>the </a:t>
            </a:r>
            <a:r>
              <a:rPr sz="2200" b="1" dirty="0">
                <a:solidFill>
                  <a:schemeClr val="bg1"/>
                </a:solidFill>
                <a:latin typeface="Calibri"/>
                <a:cs typeface="Calibri"/>
              </a:rPr>
              <a:t>host</a:t>
            </a:r>
            <a:r>
              <a:rPr sz="2200" b="1" spc="-18" dirty="0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2200" b="1" dirty="0">
                <a:solidFill>
                  <a:schemeClr val="bg1"/>
                </a:solidFill>
                <a:latin typeface="Calibri"/>
                <a:cs typeface="Calibri"/>
              </a:rPr>
              <a:t>via</a:t>
            </a:r>
            <a:r>
              <a:rPr sz="2200" b="1" spc="-22" dirty="0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2200" b="1" dirty="0">
                <a:solidFill>
                  <a:schemeClr val="bg1"/>
                </a:solidFill>
                <a:latin typeface="Calibri"/>
                <a:cs typeface="Calibri"/>
              </a:rPr>
              <a:t>PCIe</a:t>
            </a:r>
            <a:r>
              <a:rPr sz="2200" b="1" spc="-22" dirty="0">
                <a:solidFill>
                  <a:schemeClr val="bg1"/>
                </a:solidFill>
                <a:latin typeface="Calibri"/>
                <a:cs typeface="Calibri"/>
              </a:rPr>
              <a:t> bus</a:t>
            </a:r>
            <a:endParaRPr sz="2200" b="1" dirty="0">
              <a:solidFill>
                <a:schemeClr val="bg1"/>
              </a:solidFill>
              <a:latin typeface="Calibri"/>
              <a:cs typeface="Calibri"/>
            </a:endParaRPr>
          </a:p>
        </p:txBody>
      </p:sp>
      <p:grpSp>
        <p:nvGrpSpPr>
          <p:cNvPr id="77" name="object 77"/>
          <p:cNvGrpSpPr/>
          <p:nvPr/>
        </p:nvGrpSpPr>
        <p:grpSpPr>
          <a:xfrm>
            <a:off x="5069135" y="4911203"/>
            <a:ext cx="366993" cy="366993"/>
            <a:chOff x="3779057" y="4850475"/>
            <a:chExt cx="415925" cy="415925"/>
          </a:xfrm>
        </p:grpSpPr>
        <p:pic>
          <p:nvPicPr>
            <p:cNvPr id="78" name="object 7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779057" y="4850475"/>
              <a:ext cx="415636" cy="415636"/>
            </a:xfrm>
            <a:prstGeom prst="rect">
              <a:avLst/>
            </a:prstGeom>
          </p:spPr>
        </p:pic>
        <p:sp>
          <p:nvSpPr>
            <p:cNvPr id="79" name="object 79"/>
            <p:cNvSpPr/>
            <p:nvPr/>
          </p:nvSpPr>
          <p:spPr>
            <a:xfrm>
              <a:off x="3825510" y="4874802"/>
              <a:ext cx="323215" cy="323215"/>
            </a:xfrm>
            <a:custGeom>
              <a:avLst/>
              <a:gdLst/>
              <a:ahLst/>
              <a:cxnLst/>
              <a:rect l="l" t="t" r="r" b="b"/>
              <a:pathLst>
                <a:path w="323214" h="323214">
                  <a:moveTo>
                    <a:pt x="161300" y="0"/>
                  </a:moveTo>
                  <a:lnTo>
                    <a:pt x="118420" y="5761"/>
                  </a:lnTo>
                  <a:lnTo>
                    <a:pt x="79889" y="22022"/>
                  </a:lnTo>
                  <a:lnTo>
                    <a:pt x="47244" y="47243"/>
                  </a:lnTo>
                  <a:lnTo>
                    <a:pt x="22022" y="79888"/>
                  </a:lnTo>
                  <a:lnTo>
                    <a:pt x="5761" y="118420"/>
                  </a:lnTo>
                  <a:lnTo>
                    <a:pt x="0" y="161300"/>
                  </a:lnTo>
                  <a:lnTo>
                    <a:pt x="5761" y="204179"/>
                  </a:lnTo>
                  <a:lnTo>
                    <a:pt x="22022" y="242711"/>
                  </a:lnTo>
                  <a:lnTo>
                    <a:pt x="47243" y="275356"/>
                  </a:lnTo>
                  <a:lnTo>
                    <a:pt x="79889" y="300577"/>
                  </a:lnTo>
                  <a:lnTo>
                    <a:pt x="118420" y="316838"/>
                  </a:lnTo>
                  <a:lnTo>
                    <a:pt x="161300" y="322600"/>
                  </a:lnTo>
                  <a:lnTo>
                    <a:pt x="204180" y="316838"/>
                  </a:lnTo>
                  <a:lnTo>
                    <a:pt x="242711" y="300577"/>
                  </a:lnTo>
                  <a:lnTo>
                    <a:pt x="275356" y="275356"/>
                  </a:lnTo>
                  <a:lnTo>
                    <a:pt x="300578" y="242711"/>
                  </a:lnTo>
                  <a:lnTo>
                    <a:pt x="316838" y="204179"/>
                  </a:lnTo>
                  <a:lnTo>
                    <a:pt x="322600" y="161300"/>
                  </a:lnTo>
                  <a:lnTo>
                    <a:pt x="316838" y="118420"/>
                  </a:lnTo>
                  <a:lnTo>
                    <a:pt x="300578" y="79888"/>
                  </a:lnTo>
                  <a:lnTo>
                    <a:pt x="275356" y="47243"/>
                  </a:lnTo>
                  <a:lnTo>
                    <a:pt x="242711" y="22022"/>
                  </a:lnTo>
                  <a:lnTo>
                    <a:pt x="204180" y="5761"/>
                  </a:lnTo>
                  <a:lnTo>
                    <a:pt x="161300" y="0"/>
                  </a:lnTo>
                  <a:close/>
                </a:path>
              </a:pathLst>
            </a:custGeom>
            <a:solidFill>
              <a:srgbClr val="FF2600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80" name="object 80"/>
          <p:cNvSpPr txBox="1"/>
          <p:nvPr/>
        </p:nvSpPr>
        <p:spPr>
          <a:xfrm>
            <a:off x="5193039" y="4948731"/>
            <a:ext cx="122144" cy="228619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412" spc="-44" dirty="0">
                <a:solidFill>
                  <a:srgbClr val="FFFFFF"/>
                </a:solidFill>
                <a:latin typeface="Arial MT"/>
                <a:cs typeface="Arial MT"/>
              </a:rPr>
              <a:t>5</a:t>
            </a:r>
            <a:endParaRPr sz="1412">
              <a:latin typeface="Arial MT"/>
              <a:cs typeface="Arial MT"/>
            </a:endParaRPr>
          </a:p>
        </p:txBody>
      </p:sp>
      <p:sp>
        <p:nvSpPr>
          <p:cNvPr id="83" name="object 83"/>
          <p:cNvSpPr/>
          <p:nvPr/>
        </p:nvSpPr>
        <p:spPr>
          <a:xfrm>
            <a:off x="3632097" y="4445944"/>
            <a:ext cx="2622737" cy="406773"/>
          </a:xfrm>
          <a:custGeom>
            <a:avLst/>
            <a:gdLst/>
            <a:ahLst/>
            <a:cxnLst/>
            <a:rect l="l" t="t" r="r" b="b"/>
            <a:pathLst>
              <a:path w="2972435" h="461010">
                <a:moveTo>
                  <a:pt x="114300" y="114300"/>
                </a:moveTo>
                <a:lnTo>
                  <a:pt x="57150" y="0"/>
                </a:lnTo>
                <a:lnTo>
                  <a:pt x="0" y="114300"/>
                </a:lnTo>
                <a:lnTo>
                  <a:pt x="114300" y="114300"/>
                </a:lnTo>
                <a:close/>
              </a:path>
              <a:path w="2972435" h="461010">
                <a:moveTo>
                  <a:pt x="2972066" y="403618"/>
                </a:moveTo>
                <a:lnTo>
                  <a:pt x="2857766" y="346468"/>
                </a:lnTo>
                <a:lnTo>
                  <a:pt x="2857766" y="460768"/>
                </a:lnTo>
                <a:lnTo>
                  <a:pt x="2972066" y="403618"/>
                </a:lnTo>
                <a:close/>
              </a:path>
            </a:pathLst>
          </a:custGeom>
          <a:solidFill>
            <a:srgbClr val="595959">
              <a:alpha val="34899"/>
            </a:srgbClr>
          </a:solidFill>
        </p:spPr>
        <p:txBody>
          <a:bodyPr wrap="square" lIns="0" tIns="0" rIns="0" bIns="0" rtlCol="0"/>
          <a:lstStyle/>
          <a:p>
            <a:endParaRPr sz="1588" dirty="0"/>
          </a:p>
        </p:txBody>
      </p:sp>
      <p:sp>
        <p:nvSpPr>
          <p:cNvPr id="84" name="object 84"/>
          <p:cNvSpPr txBox="1"/>
          <p:nvPr/>
        </p:nvSpPr>
        <p:spPr>
          <a:xfrm>
            <a:off x="5006919" y="4437192"/>
            <a:ext cx="555681" cy="319092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2000" b="1" spc="-18" dirty="0">
                <a:solidFill>
                  <a:srgbClr val="4F81BD"/>
                </a:solidFill>
                <a:latin typeface="Calibri"/>
                <a:cs typeface="Calibri"/>
              </a:rPr>
              <a:t>PCIe</a:t>
            </a:r>
            <a:endParaRPr sz="2000" b="1" dirty="0">
              <a:latin typeface="Calibri"/>
              <a:cs typeface="Calibri"/>
            </a:endParaRPr>
          </a:p>
        </p:txBody>
      </p:sp>
      <p:sp>
        <p:nvSpPr>
          <p:cNvPr id="89" name="Title 88">
            <a:extLst>
              <a:ext uri="{FF2B5EF4-FFF2-40B4-BE49-F238E27FC236}">
                <a16:creationId xmlns:a16="http://schemas.microsoft.com/office/drawing/2014/main" id="{E8684748-C819-99FB-5A7D-0CA200094B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6690" y="562996"/>
            <a:ext cx="9778365" cy="1494596"/>
          </a:xfrm>
        </p:spPr>
        <p:txBody>
          <a:bodyPr/>
          <a:lstStyle/>
          <a:p>
            <a:r>
              <a:rPr lang="en-GB" dirty="0"/>
              <a:t>Typical Execution</a:t>
            </a:r>
            <a:endParaRPr lang="en-IN" dirty="0"/>
          </a:p>
        </p:txBody>
      </p:sp>
      <p:sp>
        <p:nvSpPr>
          <p:cNvPr id="3" name="Arrow: Up 2">
            <a:extLst>
              <a:ext uri="{FF2B5EF4-FFF2-40B4-BE49-F238E27FC236}">
                <a16:creationId xmlns:a16="http://schemas.microsoft.com/office/drawing/2014/main" id="{B7F830AE-CEB7-5F97-4646-4124AB5BD2E1}"/>
              </a:ext>
            </a:extLst>
          </p:cNvPr>
          <p:cNvSpPr/>
          <p:nvPr/>
        </p:nvSpPr>
        <p:spPr>
          <a:xfrm>
            <a:off x="3576412" y="4408754"/>
            <a:ext cx="176493" cy="397507"/>
          </a:xfrm>
          <a:prstGeom prst="upArrow">
            <a:avLst/>
          </a:prstGeom>
          <a:solidFill>
            <a:schemeClr val="bg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6" name="Arrow: Up 35">
            <a:extLst>
              <a:ext uri="{FF2B5EF4-FFF2-40B4-BE49-F238E27FC236}">
                <a16:creationId xmlns:a16="http://schemas.microsoft.com/office/drawing/2014/main" id="{D1227515-A613-6346-71CC-3731330B4FBC}"/>
              </a:ext>
            </a:extLst>
          </p:cNvPr>
          <p:cNvSpPr/>
          <p:nvPr/>
        </p:nvSpPr>
        <p:spPr>
          <a:xfrm rot="5400000">
            <a:off x="4866436" y="3490346"/>
            <a:ext cx="154600" cy="2623278"/>
          </a:xfrm>
          <a:prstGeom prst="upArrow">
            <a:avLst/>
          </a:prstGeom>
          <a:solidFill>
            <a:schemeClr val="bg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 idx="4294967295"/>
          </p:nvPr>
        </p:nvSpPr>
        <p:spPr>
          <a:xfrm>
            <a:off x="275105" y="68238"/>
            <a:ext cx="9779000" cy="687387"/>
          </a:xfrm>
          <a:prstGeom prst="rect">
            <a:avLst/>
          </a:prstGeom>
        </p:spPr>
        <p:txBody>
          <a:bodyPr vert="horz" wrap="square" lIns="0" tIns="11206" rIns="0" bIns="0" rtlCol="0" anchor="ctr">
            <a:spAutoFit/>
          </a:bodyPr>
          <a:lstStyle/>
          <a:p>
            <a:pPr marL="11206">
              <a:lnSpc>
                <a:spcPct val="100000"/>
              </a:lnSpc>
              <a:spcBef>
                <a:spcPts val="88"/>
              </a:spcBef>
              <a:tabLst>
                <a:tab pos="1108881" algn="l"/>
                <a:tab pos="2095051" algn="l"/>
              </a:tabLst>
            </a:pPr>
            <a:r>
              <a:rPr spc="-22" dirty="0"/>
              <a:t>GPU</a:t>
            </a:r>
            <a:r>
              <a:rPr dirty="0"/>
              <a:t>	</a:t>
            </a:r>
            <a:r>
              <a:rPr lang="en-GB" spc="-22" dirty="0"/>
              <a:t>Architecture</a:t>
            </a:r>
            <a:endParaRPr spc="-9" dirty="0"/>
          </a:p>
        </p:txBody>
      </p:sp>
      <p:grpSp>
        <p:nvGrpSpPr>
          <p:cNvPr id="4" name="object 4"/>
          <p:cNvGrpSpPr/>
          <p:nvPr/>
        </p:nvGrpSpPr>
        <p:grpSpPr>
          <a:xfrm>
            <a:off x="195897" y="1055215"/>
            <a:ext cx="8056064" cy="5796913"/>
            <a:chOff x="975514" y="2703518"/>
            <a:chExt cx="6280785" cy="4025900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75514" y="2703518"/>
              <a:ext cx="4251959" cy="3607308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644372" y="5033345"/>
              <a:ext cx="1611628" cy="1628417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739177" y="5864628"/>
              <a:ext cx="951807" cy="864523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4787121" y="5892054"/>
              <a:ext cx="857250" cy="770255"/>
            </a:xfrm>
            <a:custGeom>
              <a:avLst/>
              <a:gdLst/>
              <a:ahLst/>
              <a:cxnLst/>
              <a:rect l="l" t="t" r="r" b="b"/>
              <a:pathLst>
                <a:path w="857250" h="770254">
                  <a:moveTo>
                    <a:pt x="0" y="0"/>
                  </a:moveTo>
                  <a:lnTo>
                    <a:pt x="857249" y="769707"/>
                  </a:lnTo>
                </a:path>
              </a:pathLst>
            </a:custGeom>
            <a:ln w="6349">
              <a:solidFill>
                <a:srgbClr val="6095C9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730865" y="5004262"/>
              <a:ext cx="960120" cy="852054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4778550" y="5033345"/>
              <a:ext cx="866140" cy="753110"/>
            </a:xfrm>
            <a:custGeom>
              <a:avLst/>
              <a:gdLst/>
              <a:ahLst/>
              <a:cxnLst/>
              <a:rect l="l" t="t" r="r" b="b"/>
              <a:pathLst>
                <a:path w="866139" h="753110">
                  <a:moveTo>
                    <a:pt x="0" y="752981"/>
                  </a:moveTo>
                  <a:lnTo>
                    <a:pt x="865822" y="0"/>
                  </a:lnTo>
                </a:path>
              </a:pathLst>
            </a:custGeom>
            <a:ln w="6349">
              <a:solidFill>
                <a:srgbClr val="6095C9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11" name="object 1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765787" y="3228430"/>
              <a:ext cx="1490215" cy="1634657"/>
            </a:xfrm>
            <a:prstGeom prst="rect">
              <a:avLst/>
            </a:prstGeom>
          </p:spPr>
        </p:pic>
      </p:grpSp>
      <p:sp>
        <p:nvSpPr>
          <p:cNvPr id="12" name="object 12"/>
          <p:cNvSpPr txBox="1"/>
          <p:nvPr/>
        </p:nvSpPr>
        <p:spPr>
          <a:xfrm>
            <a:off x="7180327" y="3673909"/>
            <a:ext cx="244345" cy="319092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2000" spc="-22" dirty="0">
                <a:solidFill>
                  <a:srgbClr val="FFFFFF"/>
                </a:solidFill>
                <a:latin typeface="Calibri"/>
                <a:cs typeface="Calibri"/>
              </a:rPr>
              <a:t>L2</a:t>
            </a:r>
            <a:endParaRPr sz="2000" dirty="0">
              <a:latin typeface="Calibri"/>
              <a:cs typeface="Calibri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6568774" y="2744854"/>
            <a:ext cx="1611779" cy="363976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lnSpc>
                <a:spcPts val="1253"/>
              </a:lnSpc>
              <a:spcBef>
                <a:spcPts val="88"/>
              </a:spcBef>
            </a:pPr>
            <a:r>
              <a:rPr lang="en-GB" sz="1700" b="1" spc="-22" dirty="0">
                <a:solidFill>
                  <a:srgbClr val="FFFFFF"/>
                </a:solidFill>
                <a:latin typeface="Calibri"/>
                <a:cs typeface="Calibri"/>
              </a:rPr>
              <a:t>          </a:t>
            </a:r>
            <a:r>
              <a:rPr sz="1700" b="1" spc="-22" dirty="0">
                <a:solidFill>
                  <a:srgbClr val="FFFFFF"/>
                </a:solidFill>
                <a:latin typeface="Calibri"/>
                <a:cs typeface="Calibri"/>
              </a:rPr>
              <a:t>L1</a:t>
            </a:r>
            <a:endParaRPr sz="1700" b="1" dirty="0">
              <a:latin typeface="Calibri"/>
              <a:cs typeface="Calibri"/>
            </a:endParaRPr>
          </a:p>
          <a:p>
            <a:pPr marL="11206">
              <a:lnSpc>
                <a:spcPts val="1253"/>
              </a:lnSpc>
            </a:pPr>
            <a:r>
              <a:rPr sz="1700" b="1" dirty="0">
                <a:solidFill>
                  <a:srgbClr val="FFFFFF"/>
                </a:solidFill>
                <a:latin typeface="Calibri"/>
                <a:cs typeface="Calibri"/>
              </a:rPr>
              <a:t>Shared</a:t>
            </a:r>
            <a:r>
              <a:rPr sz="1700" b="1" spc="-9" dirty="0">
                <a:solidFill>
                  <a:srgbClr val="FFFFFF"/>
                </a:solidFill>
                <a:latin typeface="Calibri"/>
                <a:cs typeface="Calibri"/>
              </a:rPr>
              <a:t> Memory</a:t>
            </a:r>
            <a:endParaRPr sz="1700" b="1" dirty="0">
              <a:latin typeface="Calibri"/>
              <a:cs typeface="Calibri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4548381" y="639299"/>
            <a:ext cx="3297372" cy="3722783"/>
            <a:chOff x="4394200" y="2377439"/>
            <a:chExt cx="2570745" cy="2585437"/>
          </a:xfrm>
        </p:grpSpPr>
        <p:pic>
          <p:nvPicPr>
            <p:cNvPr id="15" name="object 15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398355" y="3200399"/>
              <a:ext cx="1413163" cy="773083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4444222" y="3228430"/>
              <a:ext cx="1322070" cy="675005"/>
            </a:xfrm>
            <a:custGeom>
              <a:avLst/>
              <a:gdLst/>
              <a:ahLst/>
              <a:cxnLst/>
              <a:rect l="l" t="t" r="r" b="b"/>
              <a:pathLst>
                <a:path w="1322070" h="675004">
                  <a:moveTo>
                    <a:pt x="0" y="674804"/>
                  </a:moveTo>
                  <a:lnTo>
                    <a:pt x="1321564" y="0"/>
                  </a:lnTo>
                </a:path>
              </a:pathLst>
            </a:custGeom>
            <a:ln w="6349">
              <a:solidFill>
                <a:srgbClr val="6095C9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17" name="object 17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5551782" y="4235513"/>
              <a:ext cx="1413163" cy="727363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4444222" y="4234294"/>
              <a:ext cx="1322070" cy="629285"/>
            </a:xfrm>
            <a:custGeom>
              <a:avLst/>
              <a:gdLst/>
              <a:ahLst/>
              <a:cxnLst/>
              <a:rect l="l" t="t" r="r" b="b"/>
              <a:pathLst>
                <a:path w="1322070" h="629285">
                  <a:moveTo>
                    <a:pt x="0" y="0"/>
                  </a:moveTo>
                  <a:lnTo>
                    <a:pt x="1321564" y="628794"/>
                  </a:lnTo>
                </a:path>
              </a:pathLst>
            </a:custGeom>
            <a:ln w="6349">
              <a:solidFill>
                <a:srgbClr val="6095C9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19" name="object 19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4398356" y="2377439"/>
              <a:ext cx="532014" cy="2011679"/>
            </a:xfrm>
            <a:prstGeom prst="rect">
              <a:avLst/>
            </a:prstGeom>
          </p:spPr>
        </p:pic>
        <p:sp>
          <p:nvSpPr>
            <p:cNvPr id="20" name="object 20"/>
            <p:cNvSpPr/>
            <p:nvPr/>
          </p:nvSpPr>
          <p:spPr>
            <a:xfrm>
              <a:off x="4466304" y="2401966"/>
              <a:ext cx="440690" cy="1917064"/>
            </a:xfrm>
            <a:custGeom>
              <a:avLst/>
              <a:gdLst/>
              <a:ahLst/>
              <a:cxnLst/>
              <a:rect l="l" t="t" r="r" b="b"/>
              <a:pathLst>
                <a:path w="440689" h="1917064">
                  <a:moveTo>
                    <a:pt x="440350" y="0"/>
                  </a:moveTo>
                  <a:lnTo>
                    <a:pt x="0" y="0"/>
                  </a:lnTo>
                  <a:lnTo>
                    <a:pt x="0" y="1917039"/>
                  </a:lnTo>
                  <a:lnTo>
                    <a:pt x="440350" y="1917039"/>
                  </a:lnTo>
                  <a:lnTo>
                    <a:pt x="440350" y="0"/>
                  </a:lnTo>
                  <a:close/>
                </a:path>
              </a:pathLst>
            </a:custGeom>
            <a:solidFill>
              <a:srgbClr val="FF0000">
                <a:alpha val="34000"/>
              </a:srgbClr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21" name="object 21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4394200" y="2381596"/>
              <a:ext cx="536170" cy="365760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4469014" y="2414846"/>
              <a:ext cx="374072" cy="369916"/>
            </a:xfrm>
            <a:prstGeom prst="rect">
              <a:avLst/>
            </a:prstGeom>
          </p:spPr>
        </p:pic>
        <p:sp>
          <p:nvSpPr>
            <p:cNvPr id="23" name="object 23"/>
            <p:cNvSpPr/>
            <p:nvPr/>
          </p:nvSpPr>
          <p:spPr>
            <a:xfrm>
              <a:off x="4439879" y="2405471"/>
              <a:ext cx="444500" cy="271780"/>
            </a:xfrm>
            <a:custGeom>
              <a:avLst/>
              <a:gdLst/>
              <a:ahLst/>
              <a:cxnLst/>
              <a:rect l="l" t="t" r="r" b="b"/>
              <a:pathLst>
                <a:path w="444500" h="271780">
                  <a:moveTo>
                    <a:pt x="410108" y="0"/>
                  </a:moveTo>
                  <a:lnTo>
                    <a:pt x="34288" y="0"/>
                  </a:lnTo>
                  <a:lnTo>
                    <a:pt x="20942" y="2694"/>
                  </a:lnTo>
                  <a:lnTo>
                    <a:pt x="10043" y="10043"/>
                  </a:lnTo>
                  <a:lnTo>
                    <a:pt x="2694" y="20942"/>
                  </a:lnTo>
                  <a:lnTo>
                    <a:pt x="0" y="34288"/>
                  </a:lnTo>
                  <a:lnTo>
                    <a:pt x="0" y="237288"/>
                  </a:lnTo>
                  <a:lnTo>
                    <a:pt x="2694" y="250634"/>
                  </a:lnTo>
                  <a:lnTo>
                    <a:pt x="10043" y="261533"/>
                  </a:lnTo>
                  <a:lnTo>
                    <a:pt x="20942" y="268882"/>
                  </a:lnTo>
                  <a:lnTo>
                    <a:pt x="34288" y="271576"/>
                  </a:lnTo>
                  <a:lnTo>
                    <a:pt x="410108" y="271576"/>
                  </a:lnTo>
                  <a:lnTo>
                    <a:pt x="423455" y="268882"/>
                  </a:lnTo>
                  <a:lnTo>
                    <a:pt x="434354" y="261533"/>
                  </a:lnTo>
                  <a:lnTo>
                    <a:pt x="441702" y="250634"/>
                  </a:lnTo>
                  <a:lnTo>
                    <a:pt x="444397" y="237288"/>
                  </a:lnTo>
                  <a:lnTo>
                    <a:pt x="444397" y="34288"/>
                  </a:lnTo>
                  <a:lnTo>
                    <a:pt x="441702" y="20942"/>
                  </a:lnTo>
                  <a:lnTo>
                    <a:pt x="434354" y="10043"/>
                  </a:lnTo>
                  <a:lnTo>
                    <a:pt x="423455" y="2694"/>
                  </a:lnTo>
                  <a:lnTo>
                    <a:pt x="410108" y="0"/>
                  </a:lnTo>
                  <a:close/>
                </a:path>
              </a:pathLst>
            </a:custGeom>
            <a:solidFill>
              <a:srgbClr val="008F00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24" name="object 24"/>
          <p:cNvSpPr txBox="1"/>
          <p:nvPr/>
        </p:nvSpPr>
        <p:spPr>
          <a:xfrm>
            <a:off x="4710926" y="778080"/>
            <a:ext cx="565251" cy="242668"/>
          </a:xfrm>
          <a:prstGeom prst="rect">
            <a:avLst/>
          </a:prstGeom>
        </p:spPr>
        <p:txBody>
          <a:bodyPr vert="horz" wrap="square" lIns="0" tIns="52107" rIns="0" bIns="0" rtlCol="0">
            <a:spAutoFit/>
          </a:bodyPr>
          <a:lstStyle/>
          <a:p>
            <a:pPr marL="85730">
              <a:spcBef>
                <a:spcPts val="410"/>
              </a:spcBef>
            </a:pPr>
            <a:r>
              <a:rPr sz="1235" spc="-22" dirty="0">
                <a:solidFill>
                  <a:srgbClr val="FFFFFF"/>
                </a:solidFill>
                <a:latin typeface="Calibri"/>
                <a:cs typeface="Calibri"/>
              </a:rPr>
              <a:t>SM</a:t>
            </a:r>
            <a:endParaRPr sz="1235" dirty="0">
              <a:latin typeface="Calibri"/>
              <a:cs typeface="Calibri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1755385" y="6407496"/>
            <a:ext cx="2000410" cy="319092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2000" b="1" spc="-9" dirty="0">
                <a:solidFill>
                  <a:srgbClr val="4F81BD"/>
                </a:solidFill>
                <a:latin typeface="Arial MT"/>
                <a:cs typeface="Arial MT"/>
              </a:rPr>
              <a:t>NVIDIA</a:t>
            </a:r>
            <a:r>
              <a:rPr sz="2000" b="1" spc="-93" dirty="0">
                <a:solidFill>
                  <a:srgbClr val="4F81BD"/>
                </a:solidFill>
                <a:latin typeface="Arial MT"/>
                <a:cs typeface="Arial MT"/>
              </a:rPr>
              <a:t> </a:t>
            </a:r>
            <a:r>
              <a:rPr sz="2000" b="1" spc="-18" dirty="0">
                <a:solidFill>
                  <a:srgbClr val="4F81BD"/>
                </a:solidFill>
                <a:latin typeface="Arial MT"/>
                <a:cs typeface="Arial MT"/>
              </a:rPr>
              <a:t>FERMI</a:t>
            </a:r>
            <a:endParaRPr sz="2000" b="1" dirty="0">
              <a:latin typeface="Arial MT"/>
              <a:cs typeface="Arial MT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8659160" y="5050716"/>
            <a:ext cx="2789890" cy="898814"/>
          </a:xfrm>
          <a:prstGeom prst="rect">
            <a:avLst/>
          </a:prstGeom>
        </p:spPr>
        <p:txBody>
          <a:bodyPr vert="horz" wrap="square" lIns="0" tIns="20171" rIns="0" bIns="0" rtlCol="0">
            <a:spAutoFit/>
          </a:bodyPr>
          <a:lstStyle/>
          <a:p>
            <a:pPr marL="11206" marR="4483">
              <a:lnSpc>
                <a:spcPts val="1677"/>
              </a:lnSpc>
              <a:spcBef>
                <a:spcPts val="159"/>
              </a:spcBef>
            </a:pPr>
            <a:r>
              <a:rPr sz="2000" b="1" dirty="0">
                <a:solidFill>
                  <a:srgbClr val="595959"/>
                </a:solidFill>
                <a:latin typeface="Calibri"/>
                <a:cs typeface="Calibri"/>
              </a:rPr>
              <a:t>Load/Store</a:t>
            </a:r>
            <a:r>
              <a:rPr sz="2000" b="1" spc="-71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2000" b="1" spc="-9" dirty="0">
                <a:solidFill>
                  <a:srgbClr val="595959"/>
                </a:solidFill>
                <a:latin typeface="Calibri"/>
                <a:cs typeface="Calibri"/>
              </a:rPr>
              <a:t>address </a:t>
            </a:r>
            <a:r>
              <a:rPr sz="2000" b="1" dirty="0">
                <a:solidFill>
                  <a:srgbClr val="595959"/>
                </a:solidFill>
                <a:latin typeface="Calibri"/>
                <a:cs typeface="Calibri"/>
              </a:rPr>
              <a:t>width</a:t>
            </a:r>
            <a:r>
              <a:rPr sz="2000" b="1" spc="-18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595959"/>
                </a:solidFill>
                <a:latin typeface="Calibri"/>
                <a:cs typeface="Calibri"/>
              </a:rPr>
              <a:t>64</a:t>
            </a:r>
            <a:r>
              <a:rPr sz="2000" b="1" spc="-13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595959"/>
                </a:solidFill>
                <a:latin typeface="Calibri"/>
                <a:cs typeface="Calibri"/>
              </a:rPr>
              <a:t>bits.</a:t>
            </a:r>
            <a:r>
              <a:rPr sz="2000" b="1" spc="-18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2000" b="1" spc="-22" dirty="0">
                <a:solidFill>
                  <a:srgbClr val="595959"/>
                </a:solidFill>
                <a:latin typeface="Calibri"/>
                <a:cs typeface="Calibri"/>
              </a:rPr>
              <a:t>Can </a:t>
            </a:r>
            <a:r>
              <a:rPr sz="2000" b="1" dirty="0">
                <a:solidFill>
                  <a:srgbClr val="595959"/>
                </a:solidFill>
                <a:latin typeface="Calibri"/>
                <a:cs typeface="Calibri"/>
              </a:rPr>
              <a:t>calculate</a:t>
            </a:r>
            <a:r>
              <a:rPr sz="2000" b="1" spc="-26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595959"/>
                </a:solidFill>
                <a:latin typeface="Calibri"/>
                <a:cs typeface="Calibri"/>
              </a:rPr>
              <a:t>addresses</a:t>
            </a:r>
            <a:r>
              <a:rPr sz="2000" b="1" spc="-22" dirty="0">
                <a:solidFill>
                  <a:srgbClr val="595959"/>
                </a:solidFill>
                <a:latin typeface="Calibri"/>
                <a:cs typeface="Calibri"/>
              </a:rPr>
              <a:t> of </a:t>
            </a:r>
            <a:r>
              <a:rPr sz="2000" b="1" dirty="0">
                <a:solidFill>
                  <a:srgbClr val="595959"/>
                </a:solidFill>
                <a:latin typeface="Calibri"/>
                <a:cs typeface="Calibri"/>
              </a:rPr>
              <a:t>16</a:t>
            </a:r>
            <a:r>
              <a:rPr sz="2000" b="1" spc="-22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595959"/>
                </a:solidFill>
                <a:latin typeface="Calibri"/>
                <a:cs typeface="Calibri"/>
              </a:rPr>
              <a:t>threads</a:t>
            </a:r>
            <a:r>
              <a:rPr sz="2000" b="1" spc="-18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595959"/>
                </a:solidFill>
                <a:latin typeface="Calibri"/>
                <a:cs typeface="Calibri"/>
              </a:rPr>
              <a:t>per</a:t>
            </a:r>
            <a:r>
              <a:rPr sz="2000" b="1" spc="-18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2000" b="1" spc="-9" dirty="0">
                <a:solidFill>
                  <a:srgbClr val="595959"/>
                </a:solidFill>
                <a:latin typeface="Calibri"/>
                <a:cs typeface="Calibri"/>
              </a:rPr>
              <a:t>clock.</a:t>
            </a:r>
            <a:endParaRPr sz="2000" b="1" dirty="0">
              <a:latin typeface="Calibri"/>
              <a:cs typeface="Calibri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7056771" y="411956"/>
            <a:ext cx="4939332" cy="1418187"/>
          </a:xfrm>
          <a:prstGeom prst="rect">
            <a:avLst/>
          </a:prstGeom>
        </p:spPr>
        <p:txBody>
          <a:bodyPr vert="horz" wrap="square" lIns="0" tIns="20171" rIns="0" bIns="0" rtlCol="0">
            <a:spAutoFit/>
          </a:bodyPr>
          <a:lstStyle/>
          <a:p>
            <a:pPr marL="11206" marR="601788">
              <a:lnSpc>
                <a:spcPts val="1677"/>
              </a:lnSpc>
              <a:spcBef>
                <a:spcPts val="159"/>
              </a:spcBef>
            </a:pPr>
            <a:r>
              <a:rPr sz="2000" b="1" dirty="0">
                <a:solidFill>
                  <a:srgbClr val="595959"/>
                </a:solidFill>
                <a:latin typeface="Calibri"/>
                <a:cs typeface="Calibri"/>
              </a:rPr>
              <a:t>16</a:t>
            </a:r>
            <a:r>
              <a:rPr sz="2000" b="1" spc="-3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595959"/>
                </a:solidFill>
                <a:latin typeface="Calibri"/>
                <a:cs typeface="Calibri"/>
              </a:rPr>
              <a:t>Stream</a:t>
            </a:r>
            <a:r>
              <a:rPr sz="2000" b="1" spc="-3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595959"/>
                </a:solidFill>
                <a:latin typeface="Calibri"/>
                <a:cs typeface="Calibri"/>
              </a:rPr>
              <a:t>Multiprocessors</a:t>
            </a:r>
            <a:r>
              <a:rPr sz="2000" b="1" spc="-3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2000" b="1" spc="-18" dirty="0">
                <a:solidFill>
                  <a:srgbClr val="595959"/>
                </a:solidFill>
                <a:latin typeface="Calibri"/>
                <a:cs typeface="Calibri"/>
              </a:rPr>
              <a:t>(SM) </a:t>
            </a:r>
            <a:r>
              <a:rPr sz="2000" b="1" dirty="0">
                <a:solidFill>
                  <a:srgbClr val="595959"/>
                </a:solidFill>
                <a:latin typeface="Calibri"/>
                <a:cs typeface="Calibri"/>
              </a:rPr>
              <a:t>512</a:t>
            </a:r>
            <a:r>
              <a:rPr sz="2000" b="1" spc="-26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595959"/>
                </a:solidFill>
                <a:latin typeface="Calibri"/>
                <a:cs typeface="Calibri"/>
              </a:rPr>
              <a:t>CUDA</a:t>
            </a:r>
            <a:r>
              <a:rPr sz="2000" b="1" spc="-22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595959"/>
                </a:solidFill>
                <a:latin typeface="Calibri"/>
                <a:cs typeface="Calibri"/>
              </a:rPr>
              <a:t>cores</a:t>
            </a:r>
            <a:r>
              <a:rPr sz="2000" b="1" spc="-26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2000" b="1" spc="-9" dirty="0">
                <a:solidFill>
                  <a:srgbClr val="595959"/>
                </a:solidFill>
                <a:latin typeface="Calibri"/>
                <a:cs typeface="Calibri"/>
              </a:rPr>
              <a:t>(32/SM)</a:t>
            </a:r>
            <a:endParaRPr sz="2000" b="1" dirty="0">
              <a:latin typeface="Calibri"/>
              <a:cs typeface="Calibri"/>
            </a:endParaRPr>
          </a:p>
          <a:p>
            <a:pPr marL="11206" marR="4483">
              <a:lnSpc>
                <a:spcPts val="1677"/>
              </a:lnSpc>
            </a:pPr>
            <a:r>
              <a:rPr sz="2000" b="1" dirty="0">
                <a:solidFill>
                  <a:srgbClr val="595959"/>
                </a:solidFill>
                <a:latin typeface="Calibri"/>
                <a:cs typeface="Calibri"/>
              </a:rPr>
              <a:t>IEEE</a:t>
            </a:r>
            <a:r>
              <a:rPr sz="2000" b="1" spc="-13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2000" b="1" spc="-88" dirty="0">
                <a:solidFill>
                  <a:srgbClr val="595959"/>
                </a:solidFill>
                <a:latin typeface="Calibri"/>
                <a:cs typeface="Calibri"/>
              </a:rPr>
              <a:t>754-</a:t>
            </a:r>
            <a:r>
              <a:rPr sz="2000" b="1" spc="-291" dirty="0">
                <a:solidFill>
                  <a:srgbClr val="595959"/>
                </a:solidFill>
                <a:latin typeface="Calibri"/>
                <a:cs typeface="Calibri"/>
              </a:rPr>
              <a:t>­</a:t>
            </a:r>
            <a:r>
              <a:rPr sz="2000" b="1" spc="-66" dirty="0">
                <a:solidFill>
                  <a:srgbClr val="595959"/>
                </a:solidFill>
                <a:latin typeface="Calibri"/>
                <a:cs typeface="Calibri"/>
              </a:rPr>
              <a:t>‐2008</a:t>
            </a:r>
            <a:r>
              <a:rPr sz="2000" b="1" spc="-13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595959"/>
                </a:solidFill>
                <a:latin typeface="Calibri"/>
                <a:cs typeface="Calibri"/>
              </a:rPr>
              <a:t>floating</a:t>
            </a:r>
            <a:r>
              <a:rPr sz="2000" b="1" spc="-13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595959"/>
                </a:solidFill>
                <a:latin typeface="Calibri"/>
                <a:cs typeface="Calibri"/>
              </a:rPr>
              <a:t>point</a:t>
            </a:r>
            <a:r>
              <a:rPr sz="2000" b="1" spc="-13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595959"/>
                </a:solidFill>
                <a:latin typeface="Calibri"/>
                <a:cs typeface="Calibri"/>
              </a:rPr>
              <a:t>(DP</a:t>
            </a:r>
            <a:r>
              <a:rPr sz="2000" b="1" spc="-9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595959"/>
                </a:solidFill>
                <a:latin typeface="Calibri"/>
                <a:cs typeface="Calibri"/>
              </a:rPr>
              <a:t>and</a:t>
            </a:r>
            <a:r>
              <a:rPr sz="2000" b="1" spc="-13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2000" b="1" spc="-22" dirty="0">
                <a:solidFill>
                  <a:srgbClr val="595959"/>
                </a:solidFill>
                <a:latin typeface="Calibri"/>
                <a:cs typeface="Calibri"/>
              </a:rPr>
              <a:t>SP) </a:t>
            </a:r>
            <a:endParaRPr lang="en-GB" sz="2000" b="1" spc="-22" dirty="0">
              <a:solidFill>
                <a:srgbClr val="595959"/>
              </a:solidFill>
              <a:latin typeface="Calibri"/>
              <a:cs typeface="Calibri"/>
            </a:endParaRPr>
          </a:p>
          <a:p>
            <a:pPr marL="11206" marR="4483">
              <a:lnSpc>
                <a:spcPts val="1677"/>
              </a:lnSpc>
            </a:pPr>
            <a:r>
              <a:rPr sz="2000" b="1" dirty="0">
                <a:solidFill>
                  <a:srgbClr val="595959"/>
                </a:solidFill>
                <a:latin typeface="Calibri"/>
                <a:cs typeface="Calibri"/>
              </a:rPr>
              <a:t>6</a:t>
            </a:r>
            <a:r>
              <a:rPr sz="2000" b="1" spc="-26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595959"/>
                </a:solidFill>
                <a:latin typeface="Calibri"/>
                <a:cs typeface="Calibri"/>
              </a:rPr>
              <a:t>GB</a:t>
            </a:r>
            <a:r>
              <a:rPr sz="2000" b="1" spc="-26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595959"/>
                </a:solidFill>
                <a:latin typeface="Calibri"/>
                <a:cs typeface="Calibri"/>
              </a:rPr>
              <a:t>GDDR5</a:t>
            </a:r>
            <a:r>
              <a:rPr sz="2000" b="1" spc="-26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595959"/>
                </a:solidFill>
                <a:latin typeface="Calibri"/>
                <a:cs typeface="Calibri"/>
              </a:rPr>
              <a:t>DRAM</a:t>
            </a:r>
            <a:r>
              <a:rPr sz="2000" b="1" spc="-26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595959"/>
                </a:solidFill>
                <a:latin typeface="Calibri"/>
                <a:cs typeface="Calibri"/>
              </a:rPr>
              <a:t>(Global</a:t>
            </a:r>
            <a:r>
              <a:rPr sz="2000" b="1" spc="-26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2000" b="1" spc="-9" dirty="0">
                <a:solidFill>
                  <a:srgbClr val="595959"/>
                </a:solidFill>
                <a:latin typeface="Calibri"/>
                <a:cs typeface="Calibri"/>
              </a:rPr>
              <a:t>Memory) </a:t>
            </a:r>
            <a:endParaRPr lang="en-GB" sz="2000" b="1" spc="-9" dirty="0">
              <a:solidFill>
                <a:srgbClr val="595959"/>
              </a:solidFill>
              <a:latin typeface="Calibri"/>
              <a:cs typeface="Calibri"/>
            </a:endParaRPr>
          </a:p>
          <a:p>
            <a:pPr marL="11206" marR="4483">
              <a:lnSpc>
                <a:spcPts val="1677"/>
              </a:lnSpc>
            </a:pPr>
            <a:r>
              <a:rPr sz="2000" b="1" dirty="0">
                <a:solidFill>
                  <a:srgbClr val="595959"/>
                </a:solidFill>
                <a:latin typeface="Calibri"/>
                <a:cs typeface="Calibri"/>
              </a:rPr>
              <a:t>ECC</a:t>
            </a:r>
            <a:r>
              <a:rPr sz="2000" b="1" spc="-18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595959"/>
                </a:solidFill>
                <a:latin typeface="Calibri"/>
                <a:cs typeface="Calibri"/>
              </a:rPr>
              <a:t>Memory</a:t>
            </a:r>
            <a:r>
              <a:rPr sz="2000" b="1" spc="-18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2000" b="1" spc="-9" dirty="0">
                <a:solidFill>
                  <a:srgbClr val="595959"/>
                </a:solidFill>
                <a:latin typeface="Calibri"/>
                <a:cs typeface="Calibri"/>
              </a:rPr>
              <a:t>support</a:t>
            </a:r>
            <a:endParaRPr sz="2000" b="1" dirty="0">
              <a:latin typeface="Calibri"/>
              <a:cs typeface="Calibri"/>
            </a:endParaRPr>
          </a:p>
          <a:p>
            <a:pPr marL="11206">
              <a:spcBef>
                <a:spcPts val="18"/>
              </a:spcBef>
            </a:pPr>
            <a:r>
              <a:rPr sz="2000" b="1" dirty="0">
                <a:solidFill>
                  <a:srgbClr val="595959"/>
                </a:solidFill>
                <a:latin typeface="Calibri"/>
                <a:cs typeface="Calibri"/>
              </a:rPr>
              <a:t>Two</a:t>
            </a:r>
            <a:r>
              <a:rPr sz="2000" b="1" spc="-18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595959"/>
                </a:solidFill>
                <a:latin typeface="Calibri"/>
                <a:cs typeface="Calibri"/>
              </a:rPr>
              <a:t>DMA</a:t>
            </a:r>
            <a:r>
              <a:rPr sz="2000" b="1" spc="-18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2000" b="1" spc="-9" dirty="0">
                <a:solidFill>
                  <a:srgbClr val="595959"/>
                </a:solidFill>
                <a:latin typeface="Calibri"/>
                <a:cs typeface="Calibri"/>
              </a:rPr>
              <a:t>interface</a:t>
            </a:r>
            <a:endParaRPr sz="2000" b="1" dirty="0">
              <a:latin typeface="Calibri"/>
              <a:cs typeface="Calibri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8326471" y="2576785"/>
            <a:ext cx="2627585" cy="1289946"/>
          </a:xfrm>
          <a:prstGeom prst="rect">
            <a:avLst/>
          </a:prstGeom>
        </p:spPr>
        <p:txBody>
          <a:bodyPr vert="horz" wrap="square" lIns="0" tIns="20171" rIns="0" bIns="0" rtlCol="0">
            <a:spAutoFit/>
          </a:bodyPr>
          <a:lstStyle/>
          <a:p>
            <a:pPr marL="16810" marR="4483" algn="just">
              <a:lnSpc>
                <a:spcPts val="1677"/>
              </a:lnSpc>
              <a:spcBef>
                <a:spcPts val="159"/>
              </a:spcBef>
            </a:pPr>
            <a:r>
              <a:rPr sz="2000" b="1" dirty="0">
                <a:solidFill>
                  <a:srgbClr val="595959"/>
                </a:solidFill>
                <a:latin typeface="Calibri"/>
                <a:cs typeface="Calibri"/>
              </a:rPr>
              <a:t>Reconfigurable</a:t>
            </a:r>
            <a:r>
              <a:rPr sz="2000" b="1" spc="-53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2000" b="1" spc="-22" dirty="0">
                <a:solidFill>
                  <a:srgbClr val="595959"/>
                </a:solidFill>
                <a:latin typeface="Calibri"/>
                <a:cs typeface="Calibri"/>
              </a:rPr>
              <a:t>L1 </a:t>
            </a:r>
            <a:r>
              <a:rPr sz="2000" b="1" dirty="0">
                <a:solidFill>
                  <a:srgbClr val="595959"/>
                </a:solidFill>
                <a:latin typeface="Calibri"/>
                <a:cs typeface="Calibri"/>
              </a:rPr>
              <a:t>Cache</a:t>
            </a:r>
            <a:r>
              <a:rPr sz="2000" b="1" spc="309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595959"/>
                </a:solidFill>
                <a:latin typeface="Calibri"/>
                <a:cs typeface="Calibri"/>
              </a:rPr>
              <a:t>and</a:t>
            </a:r>
            <a:r>
              <a:rPr sz="2000" b="1" spc="-4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2000" b="1" spc="-9" dirty="0">
                <a:solidFill>
                  <a:srgbClr val="595959"/>
                </a:solidFill>
                <a:latin typeface="Calibri"/>
                <a:cs typeface="Calibri"/>
              </a:rPr>
              <a:t>Shared Memory</a:t>
            </a:r>
            <a:endParaRPr sz="2000" b="1" dirty="0">
              <a:latin typeface="Calibri"/>
              <a:cs typeface="Calibri"/>
            </a:endParaRPr>
          </a:p>
          <a:p>
            <a:pPr marL="16810" algn="just">
              <a:lnSpc>
                <a:spcPts val="1623"/>
              </a:lnSpc>
            </a:pPr>
            <a:r>
              <a:rPr sz="2000" b="1" dirty="0">
                <a:solidFill>
                  <a:srgbClr val="595959"/>
                </a:solidFill>
                <a:latin typeface="Calibri"/>
                <a:cs typeface="Calibri"/>
              </a:rPr>
              <a:t>48</a:t>
            </a:r>
            <a:r>
              <a:rPr sz="2000" b="1" spc="-22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595959"/>
                </a:solidFill>
                <a:latin typeface="Calibri"/>
                <a:cs typeface="Calibri"/>
              </a:rPr>
              <a:t>KB</a:t>
            </a:r>
            <a:r>
              <a:rPr sz="2000" b="1" spc="-18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595959"/>
                </a:solidFill>
                <a:latin typeface="Calibri"/>
                <a:cs typeface="Calibri"/>
              </a:rPr>
              <a:t>/</a:t>
            </a:r>
            <a:r>
              <a:rPr sz="2000" b="1" spc="-18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595959"/>
                </a:solidFill>
                <a:latin typeface="Calibri"/>
                <a:cs typeface="Calibri"/>
              </a:rPr>
              <a:t>16</a:t>
            </a:r>
            <a:r>
              <a:rPr sz="2000" b="1" spc="-18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2000" b="1" spc="-22" dirty="0">
                <a:solidFill>
                  <a:srgbClr val="595959"/>
                </a:solidFill>
                <a:latin typeface="Calibri"/>
                <a:cs typeface="Calibri"/>
              </a:rPr>
              <a:t>KB</a:t>
            </a:r>
            <a:endParaRPr lang="en-GB" sz="2000" b="1" spc="-22" dirty="0">
              <a:solidFill>
                <a:srgbClr val="595959"/>
              </a:solidFill>
              <a:latin typeface="Calibri"/>
              <a:cs typeface="Calibri"/>
            </a:endParaRPr>
          </a:p>
          <a:p>
            <a:pPr marL="16810" algn="just">
              <a:lnSpc>
                <a:spcPts val="1623"/>
              </a:lnSpc>
            </a:pPr>
            <a:endParaRPr sz="2000" b="1" dirty="0">
              <a:latin typeface="Calibri"/>
              <a:cs typeface="Calibri"/>
            </a:endParaRPr>
          </a:p>
          <a:p>
            <a:pPr marL="11206" algn="just">
              <a:spcBef>
                <a:spcPts val="918"/>
              </a:spcBef>
            </a:pPr>
            <a:r>
              <a:rPr sz="2000" b="1" dirty="0">
                <a:solidFill>
                  <a:srgbClr val="595959"/>
                </a:solidFill>
                <a:latin typeface="Calibri"/>
                <a:cs typeface="Calibri"/>
              </a:rPr>
              <a:t>L2</a:t>
            </a:r>
            <a:r>
              <a:rPr sz="2000" b="1" spc="-18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595959"/>
                </a:solidFill>
                <a:latin typeface="Calibri"/>
                <a:cs typeface="Calibri"/>
              </a:rPr>
              <a:t>Cache</a:t>
            </a:r>
            <a:r>
              <a:rPr sz="2000" b="1" spc="-18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595959"/>
                </a:solidFill>
                <a:latin typeface="Calibri"/>
                <a:cs typeface="Calibri"/>
              </a:rPr>
              <a:t>768</a:t>
            </a:r>
            <a:r>
              <a:rPr sz="2000" b="1" spc="-18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2000" b="1" spc="-22" dirty="0">
                <a:solidFill>
                  <a:srgbClr val="595959"/>
                </a:solidFill>
                <a:latin typeface="Calibri"/>
                <a:cs typeface="Calibri"/>
              </a:rPr>
              <a:t>KB</a:t>
            </a:r>
            <a:endParaRPr sz="1412" b="1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B6FDEE-75F8-B72C-FA82-6E1FCBD481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539240" y="429447"/>
            <a:ext cx="10873740" cy="1680205"/>
          </a:xfrm>
        </p:spPr>
        <p:txBody>
          <a:bodyPr/>
          <a:lstStyle/>
          <a:p>
            <a:pPr algn="ctr"/>
            <a:r>
              <a:rPr lang="en-IN" b="1" dirty="0"/>
              <a:t>Streaming Multiprocessor</a:t>
            </a:r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786D016A-BB63-BC72-7B6D-7929EDD3260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42543" y="2377762"/>
            <a:ext cx="7810500" cy="3699328"/>
          </a:xfrm>
        </p:spPr>
        <p:txBody>
          <a:bodyPr>
            <a:normAutofit/>
          </a:bodyPr>
          <a:lstStyle/>
          <a:p>
            <a:r>
              <a:rPr lang="en-IN" dirty="0">
                <a:latin typeface="+mj-lt"/>
              </a:rPr>
              <a:t>Streaming or Thread Processor</a:t>
            </a:r>
          </a:p>
          <a:p>
            <a:r>
              <a:rPr lang="en-IN" dirty="0">
                <a:latin typeface="+mj-lt"/>
              </a:rPr>
              <a:t>8 or 32 cores per SM</a:t>
            </a:r>
          </a:p>
          <a:p>
            <a:r>
              <a:rPr lang="en-IN" dirty="0">
                <a:latin typeface="+mj-lt"/>
              </a:rPr>
              <a:t>Double Precision Unit</a:t>
            </a:r>
          </a:p>
          <a:p>
            <a:r>
              <a:rPr lang="en-IN" dirty="0">
                <a:latin typeface="+mj-lt"/>
              </a:rPr>
              <a:t>Special Function Unit</a:t>
            </a:r>
          </a:p>
          <a:p>
            <a:r>
              <a:rPr lang="en-IN" dirty="0">
                <a:latin typeface="+mj-lt"/>
              </a:rPr>
              <a:t>Shared Memory</a:t>
            </a:r>
          </a:p>
          <a:p>
            <a:pPr marR="0" lvl="0" fontAlgn="auto">
              <a:spcAft>
                <a:spcPts val="0"/>
              </a:spcAft>
              <a:buClr>
                <a:srgbClr val="2A1A00"/>
              </a:buClr>
              <a:buSzTx/>
              <a:tabLst/>
              <a:defRPr/>
            </a:pPr>
            <a:r>
              <a:rPr lang="en-IN" dirty="0">
                <a:latin typeface="+mj-lt"/>
              </a:rPr>
              <a:t>Cache memory – L1 and L2 cache</a:t>
            </a:r>
          </a:p>
          <a:p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6655054"/>
      </p:ext>
    </p:extLst>
  </p:cSld>
  <p:clrMapOvr>
    <a:masterClrMapping/>
  </p:clrMapOvr>
  <p:transition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Title 75">
            <a:extLst>
              <a:ext uri="{FF2B5EF4-FFF2-40B4-BE49-F238E27FC236}">
                <a16:creationId xmlns:a16="http://schemas.microsoft.com/office/drawing/2014/main" id="{21839979-3F7E-ADFC-17CA-7F2AAB159A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5839" y="581940"/>
            <a:ext cx="9778365" cy="1494596"/>
          </a:xfrm>
        </p:spPr>
        <p:txBody>
          <a:bodyPr/>
          <a:lstStyle/>
          <a:p>
            <a:r>
              <a:rPr lang="en-GB" dirty="0"/>
              <a:t>Memory Hierarchy</a:t>
            </a:r>
            <a:endParaRPr lang="en-IN" dirty="0"/>
          </a:p>
        </p:txBody>
      </p:sp>
      <p:grpSp>
        <p:nvGrpSpPr>
          <p:cNvPr id="72" name="Group 71"/>
          <p:cNvGrpSpPr/>
          <p:nvPr/>
        </p:nvGrpSpPr>
        <p:grpSpPr>
          <a:xfrm>
            <a:off x="111578" y="1918504"/>
            <a:ext cx="10273009" cy="4899427"/>
            <a:chOff x="111578" y="1918504"/>
            <a:chExt cx="10273009" cy="4899427"/>
          </a:xfrm>
        </p:grpSpPr>
        <p:grpSp>
          <p:nvGrpSpPr>
            <p:cNvPr id="2" name="object 2"/>
            <p:cNvGrpSpPr/>
            <p:nvPr/>
          </p:nvGrpSpPr>
          <p:grpSpPr>
            <a:xfrm>
              <a:off x="7772591" y="3978124"/>
              <a:ext cx="1378378" cy="2750534"/>
              <a:chOff x="7237779" y="3237807"/>
              <a:chExt cx="1562165" cy="3117272"/>
            </a:xfrm>
          </p:grpSpPr>
          <p:sp>
            <p:nvSpPr>
              <p:cNvPr id="3" name="object 3"/>
              <p:cNvSpPr/>
              <p:nvPr/>
            </p:nvSpPr>
            <p:spPr>
              <a:xfrm>
                <a:off x="7237779" y="5682560"/>
                <a:ext cx="1550403" cy="146685"/>
              </a:xfrm>
              <a:custGeom>
                <a:avLst/>
                <a:gdLst/>
                <a:ahLst/>
                <a:cxnLst/>
                <a:rect l="l" t="t" r="r" b="b"/>
                <a:pathLst>
                  <a:path w="2249804" h="146685">
                    <a:moveTo>
                      <a:pt x="0" y="73151"/>
                    </a:moveTo>
                    <a:lnTo>
                      <a:pt x="73152" y="0"/>
                    </a:lnTo>
                    <a:lnTo>
                      <a:pt x="73152" y="36576"/>
                    </a:lnTo>
                    <a:lnTo>
                      <a:pt x="2249423" y="36576"/>
                    </a:lnTo>
                    <a:lnTo>
                      <a:pt x="2249423" y="109727"/>
                    </a:lnTo>
                    <a:lnTo>
                      <a:pt x="73152" y="109727"/>
                    </a:lnTo>
                    <a:lnTo>
                      <a:pt x="73152" y="146304"/>
                    </a:lnTo>
                    <a:lnTo>
                      <a:pt x="0" y="73151"/>
                    </a:lnTo>
                    <a:close/>
                  </a:path>
                </a:pathLst>
              </a:custGeom>
              <a:ln w="9524">
                <a:solidFill>
                  <a:srgbClr val="6C6C6C"/>
                </a:solidFill>
              </a:ln>
            </p:spPr>
            <p:txBody>
              <a:bodyPr wrap="square" lIns="0" tIns="0" rIns="0" bIns="0" rtlCol="0"/>
              <a:lstStyle/>
              <a:p>
                <a:endParaRPr sz="1588" dirty="0"/>
              </a:p>
            </p:txBody>
          </p:sp>
          <p:pic>
            <p:nvPicPr>
              <p:cNvPr id="4" name="object 4"/>
              <p:cNvPicPr/>
              <p:nvPr/>
            </p:nvPicPr>
            <p:blipFill>
              <a:blip r:embed="rId2" cstate="print"/>
              <a:stretch>
                <a:fillRect/>
              </a:stretch>
            </p:blipFill>
            <p:spPr>
              <a:xfrm>
                <a:off x="7881388" y="3237807"/>
                <a:ext cx="918556" cy="3117272"/>
              </a:xfrm>
              <a:prstGeom prst="rect">
                <a:avLst/>
              </a:prstGeom>
            </p:spPr>
          </p:pic>
        </p:grpSp>
        <p:grpSp>
          <p:nvGrpSpPr>
            <p:cNvPr id="7" name="object 7"/>
            <p:cNvGrpSpPr/>
            <p:nvPr/>
          </p:nvGrpSpPr>
          <p:grpSpPr>
            <a:xfrm>
              <a:off x="5848991" y="2980306"/>
              <a:ext cx="1108002" cy="824362"/>
              <a:chOff x="5069715" y="2685937"/>
              <a:chExt cx="618490" cy="469900"/>
            </a:xfrm>
          </p:grpSpPr>
          <p:sp>
            <p:nvSpPr>
              <p:cNvPr id="8" name="object 8"/>
              <p:cNvSpPr/>
              <p:nvPr/>
            </p:nvSpPr>
            <p:spPr>
              <a:xfrm>
                <a:off x="5136890" y="2747576"/>
                <a:ext cx="81915" cy="332740"/>
              </a:xfrm>
              <a:custGeom>
                <a:avLst/>
                <a:gdLst/>
                <a:ahLst/>
                <a:cxnLst/>
                <a:rect l="l" t="t" r="r" b="b"/>
                <a:pathLst>
                  <a:path w="81914" h="332739">
                    <a:moveTo>
                      <a:pt x="77787" y="0"/>
                    </a:moveTo>
                    <a:lnTo>
                      <a:pt x="49212" y="11112"/>
                    </a:lnTo>
                    <a:lnTo>
                      <a:pt x="24606" y="21431"/>
                    </a:lnTo>
                    <a:lnTo>
                      <a:pt x="6349" y="32543"/>
                    </a:lnTo>
                    <a:lnTo>
                      <a:pt x="0" y="42862"/>
                    </a:lnTo>
                    <a:lnTo>
                      <a:pt x="3174" y="47624"/>
                    </a:lnTo>
                    <a:lnTo>
                      <a:pt x="10318" y="52387"/>
                    </a:lnTo>
                    <a:lnTo>
                      <a:pt x="34924" y="61118"/>
                    </a:lnTo>
                    <a:lnTo>
                      <a:pt x="61118" y="69849"/>
                    </a:lnTo>
                    <a:lnTo>
                      <a:pt x="69849" y="75406"/>
                    </a:lnTo>
                    <a:lnTo>
                      <a:pt x="74612" y="81756"/>
                    </a:lnTo>
                    <a:lnTo>
                      <a:pt x="73818" y="88899"/>
                    </a:lnTo>
                    <a:lnTo>
                      <a:pt x="69056" y="96837"/>
                    </a:lnTo>
                    <a:lnTo>
                      <a:pt x="53181" y="115093"/>
                    </a:lnTo>
                    <a:lnTo>
                      <a:pt x="35718" y="133349"/>
                    </a:lnTo>
                    <a:lnTo>
                      <a:pt x="30162" y="142081"/>
                    </a:lnTo>
                    <a:lnTo>
                      <a:pt x="28574" y="149224"/>
                    </a:lnTo>
                    <a:lnTo>
                      <a:pt x="36512" y="161131"/>
                    </a:lnTo>
                    <a:lnTo>
                      <a:pt x="53974" y="170656"/>
                    </a:lnTo>
                    <a:lnTo>
                      <a:pt x="72231" y="180181"/>
                    </a:lnTo>
                    <a:lnTo>
                      <a:pt x="81756" y="192087"/>
                    </a:lnTo>
                    <a:lnTo>
                      <a:pt x="77787" y="207962"/>
                    </a:lnTo>
                    <a:lnTo>
                      <a:pt x="66674" y="225424"/>
                    </a:lnTo>
                    <a:lnTo>
                      <a:pt x="53181" y="244474"/>
                    </a:lnTo>
                    <a:lnTo>
                      <a:pt x="46037" y="263524"/>
                    </a:lnTo>
                    <a:lnTo>
                      <a:pt x="46831" y="282574"/>
                    </a:lnTo>
                    <a:lnTo>
                      <a:pt x="52387" y="303212"/>
                    </a:lnTo>
                    <a:lnTo>
                      <a:pt x="58737" y="322262"/>
                    </a:lnTo>
                    <a:lnTo>
                      <a:pt x="60598" y="332412"/>
                    </a:lnTo>
                  </a:path>
                </a:pathLst>
              </a:custGeom>
              <a:ln w="8312">
                <a:solidFill>
                  <a:srgbClr val="6C6C6C"/>
                </a:solidFill>
              </a:ln>
            </p:spPr>
            <p:txBody>
              <a:bodyPr wrap="square" lIns="0" tIns="0" rIns="0" bIns="0" rtlCol="0"/>
              <a:lstStyle/>
              <a:p>
                <a:endParaRPr sz="1588"/>
              </a:p>
            </p:txBody>
          </p:sp>
          <p:sp>
            <p:nvSpPr>
              <p:cNvPr id="9" name="object 9"/>
              <p:cNvSpPr/>
              <p:nvPr/>
            </p:nvSpPr>
            <p:spPr>
              <a:xfrm>
                <a:off x="5165634" y="3037932"/>
                <a:ext cx="50165" cy="80010"/>
              </a:xfrm>
              <a:custGeom>
                <a:avLst/>
                <a:gdLst/>
                <a:ahLst/>
                <a:cxnLst/>
                <a:rect l="l" t="t" r="r" b="b"/>
                <a:pathLst>
                  <a:path w="50164" h="80010">
                    <a:moveTo>
                      <a:pt x="49968" y="0"/>
                    </a:moveTo>
                    <a:lnTo>
                      <a:pt x="0" y="9160"/>
                    </a:lnTo>
                    <a:lnTo>
                      <a:pt x="38724" y="79531"/>
                    </a:lnTo>
                    <a:lnTo>
                      <a:pt x="49968" y="0"/>
                    </a:lnTo>
                    <a:close/>
                  </a:path>
                </a:pathLst>
              </a:custGeom>
              <a:solidFill>
                <a:srgbClr val="6C6C6C"/>
              </a:solidFill>
            </p:spPr>
            <p:txBody>
              <a:bodyPr wrap="square" lIns="0" tIns="0" rIns="0" bIns="0" rtlCol="0"/>
              <a:lstStyle/>
              <a:p>
                <a:endParaRPr sz="1588"/>
              </a:p>
            </p:txBody>
          </p:sp>
          <p:sp>
            <p:nvSpPr>
              <p:cNvPr id="10" name="object 10"/>
              <p:cNvSpPr/>
              <p:nvPr/>
            </p:nvSpPr>
            <p:spPr>
              <a:xfrm>
                <a:off x="5094217" y="2747576"/>
                <a:ext cx="81915" cy="332740"/>
              </a:xfrm>
              <a:custGeom>
                <a:avLst/>
                <a:gdLst/>
                <a:ahLst/>
                <a:cxnLst/>
                <a:rect l="l" t="t" r="r" b="b"/>
                <a:pathLst>
                  <a:path w="81914" h="332739">
                    <a:moveTo>
                      <a:pt x="77787" y="0"/>
                    </a:moveTo>
                    <a:lnTo>
                      <a:pt x="49212" y="11112"/>
                    </a:lnTo>
                    <a:lnTo>
                      <a:pt x="24606" y="21431"/>
                    </a:lnTo>
                    <a:lnTo>
                      <a:pt x="6349" y="32543"/>
                    </a:lnTo>
                    <a:lnTo>
                      <a:pt x="0" y="42862"/>
                    </a:lnTo>
                    <a:lnTo>
                      <a:pt x="3174" y="47624"/>
                    </a:lnTo>
                    <a:lnTo>
                      <a:pt x="10318" y="52387"/>
                    </a:lnTo>
                    <a:lnTo>
                      <a:pt x="34924" y="61118"/>
                    </a:lnTo>
                    <a:lnTo>
                      <a:pt x="61118" y="69849"/>
                    </a:lnTo>
                    <a:lnTo>
                      <a:pt x="69849" y="75406"/>
                    </a:lnTo>
                    <a:lnTo>
                      <a:pt x="74612" y="81756"/>
                    </a:lnTo>
                    <a:lnTo>
                      <a:pt x="73818" y="88899"/>
                    </a:lnTo>
                    <a:lnTo>
                      <a:pt x="69056" y="96837"/>
                    </a:lnTo>
                    <a:lnTo>
                      <a:pt x="53181" y="115093"/>
                    </a:lnTo>
                    <a:lnTo>
                      <a:pt x="35718" y="133349"/>
                    </a:lnTo>
                    <a:lnTo>
                      <a:pt x="30162" y="142081"/>
                    </a:lnTo>
                    <a:lnTo>
                      <a:pt x="28574" y="149224"/>
                    </a:lnTo>
                    <a:lnTo>
                      <a:pt x="36512" y="161131"/>
                    </a:lnTo>
                    <a:lnTo>
                      <a:pt x="53974" y="170656"/>
                    </a:lnTo>
                    <a:lnTo>
                      <a:pt x="72231" y="180181"/>
                    </a:lnTo>
                    <a:lnTo>
                      <a:pt x="81756" y="192087"/>
                    </a:lnTo>
                    <a:lnTo>
                      <a:pt x="77787" y="207962"/>
                    </a:lnTo>
                    <a:lnTo>
                      <a:pt x="66674" y="225424"/>
                    </a:lnTo>
                    <a:lnTo>
                      <a:pt x="53181" y="244474"/>
                    </a:lnTo>
                    <a:lnTo>
                      <a:pt x="46037" y="263524"/>
                    </a:lnTo>
                    <a:lnTo>
                      <a:pt x="46831" y="282574"/>
                    </a:lnTo>
                    <a:lnTo>
                      <a:pt x="52387" y="303212"/>
                    </a:lnTo>
                    <a:lnTo>
                      <a:pt x="58737" y="322262"/>
                    </a:lnTo>
                    <a:lnTo>
                      <a:pt x="60598" y="332412"/>
                    </a:lnTo>
                  </a:path>
                </a:pathLst>
              </a:custGeom>
              <a:ln w="8312">
                <a:solidFill>
                  <a:srgbClr val="6C6C6C"/>
                </a:solidFill>
              </a:ln>
            </p:spPr>
            <p:txBody>
              <a:bodyPr wrap="square" lIns="0" tIns="0" rIns="0" bIns="0" rtlCol="0"/>
              <a:lstStyle/>
              <a:p>
                <a:endParaRPr sz="1588"/>
              </a:p>
            </p:txBody>
          </p:sp>
          <p:sp>
            <p:nvSpPr>
              <p:cNvPr id="11" name="object 11"/>
              <p:cNvSpPr/>
              <p:nvPr/>
            </p:nvSpPr>
            <p:spPr>
              <a:xfrm>
                <a:off x="5122961" y="3037932"/>
                <a:ext cx="50165" cy="80010"/>
              </a:xfrm>
              <a:custGeom>
                <a:avLst/>
                <a:gdLst/>
                <a:ahLst/>
                <a:cxnLst/>
                <a:rect l="l" t="t" r="r" b="b"/>
                <a:pathLst>
                  <a:path w="50164" h="80010">
                    <a:moveTo>
                      <a:pt x="49968" y="0"/>
                    </a:moveTo>
                    <a:lnTo>
                      <a:pt x="0" y="9160"/>
                    </a:lnTo>
                    <a:lnTo>
                      <a:pt x="38724" y="79531"/>
                    </a:lnTo>
                    <a:lnTo>
                      <a:pt x="49968" y="0"/>
                    </a:lnTo>
                    <a:close/>
                  </a:path>
                </a:pathLst>
              </a:custGeom>
              <a:solidFill>
                <a:srgbClr val="6C6C6C"/>
              </a:solidFill>
            </p:spPr>
            <p:txBody>
              <a:bodyPr wrap="square" lIns="0" tIns="0" rIns="0" bIns="0" rtlCol="0"/>
              <a:lstStyle/>
              <a:p>
                <a:endParaRPr sz="1588"/>
              </a:p>
            </p:txBody>
          </p:sp>
          <p:sp>
            <p:nvSpPr>
              <p:cNvPr id="12" name="object 12"/>
              <p:cNvSpPr/>
              <p:nvPr/>
            </p:nvSpPr>
            <p:spPr>
              <a:xfrm>
                <a:off x="5179559" y="2747576"/>
                <a:ext cx="81915" cy="332740"/>
              </a:xfrm>
              <a:custGeom>
                <a:avLst/>
                <a:gdLst/>
                <a:ahLst/>
                <a:cxnLst/>
                <a:rect l="l" t="t" r="r" b="b"/>
                <a:pathLst>
                  <a:path w="81914" h="332739">
                    <a:moveTo>
                      <a:pt x="77787" y="0"/>
                    </a:moveTo>
                    <a:lnTo>
                      <a:pt x="49212" y="11112"/>
                    </a:lnTo>
                    <a:lnTo>
                      <a:pt x="24606" y="21431"/>
                    </a:lnTo>
                    <a:lnTo>
                      <a:pt x="6349" y="32543"/>
                    </a:lnTo>
                    <a:lnTo>
                      <a:pt x="0" y="42862"/>
                    </a:lnTo>
                    <a:lnTo>
                      <a:pt x="3174" y="47624"/>
                    </a:lnTo>
                    <a:lnTo>
                      <a:pt x="10318" y="52387"/>
                    </a:lnTo>
                    <a:lnTo>
                      <a:pt x="34924" y="61118"/>
                    </a:lnTo>
                    <a:lnTo>
                      <a:pt x="61118" y="69849"/>
                    </a:lnTo>
                    <a:lnTo>
                      <a:pt x="69849" y="75406"/>
                    </a:lnTo>
                    <a:lnTo>
                      <a:pt x="74612" y="81756"/>
                    </a:lnTo>
                    <a:lnTo>
                      <a:pt x="73818" y="88899"/>
                    </a:lnTo>
                    <a:lnTo>
                      <a:pt x="69056" y="96837"/>
                    </a:lnTo>
                    <a:lnTo>
                      <a:pt x="53181" y="115093"/>
                    </a:lnTo>
                    <a:lnTo>
                      <a:pt x="35718" y="133349"/>
                    </a:lnTo>
                    <a:lnTo>
                      <a:pt x="30162" y="142081"/>
                    </a:lnTo>
                    <a:lnTo>
                      <a:pt x="28574" y="149224"/>
                    </a:lnTo>
                    <a:lnTo>
                      <a:pt x="36512" y="161131"/>
                    </a:lnTo>
                    <a:lnTo>
                      <a:pt x="53974" y="170656"/>
                    </a:lnTo>
                    <a:lnTo>
                      <a:pt x="72231" y="180181"/>
                    </a:lnTo>
                    <a:lnTo>
                      <a:pt x="81756" y="192087"/>
                    </a:lnTo>
                    <a:lnTo>
                      <a:pt x="77787" y="207962"/>
                    </a:lnTo>
                    <a:lnTo>
                      <a:pt x="66674" y="225424"/>
                    </a:lnTo>
                    <a:lnTo>
                      <a:pt x="53181" y="244474"/>
                    </a:lnTo>
                    <a:lnTo>
                      <a:pt x="46037" y="263524"/>
                    </a:lnTo>
                    <a:lnTo>
                      <a:pt x="46831" y="282574"/>
                    </a:lnTo>
                    <a:lnTo>
                      <a:pt x="52387" y="303212"/>
                    </a:lnTo>
                    <a:lnTo>
                      <a:pt x="58737" y="322262"/>
                    </a:lnTo>
                    <a:lnTo>
                      <a:pt x="60598" y="332412"/>
                    </a:lnTo>
                  </a:path>
                </a:pathLst>
              </a:custGeom>
              <a:ln w="8312">
                <a:solidFill>
                  <a:srgbClr val="6C6C6C"/>
                </a:solidFill>
              </a:ln>
            </p:spPr>
            <p:txBody>
              <a:bodyPr wrap="square" lIns="0" tIns="0" rIns="0" bIns="0" rtlCol="0"/>
              <a:lstStyle/>
              <a:p>
                <a:endParaRPr sz="1588"/>
              </a:p>
            </p:txBody>
          </p:sp>
          <p:sp>
            <p:nvSpPr>
              <p:cNvPr id="13" name="object 13"/>
              <p:cNvSpPr/>
              <p:nvPr/>
            </p:nvSpPr>
            <p:spPr>
              <a:xfrm>
                <a:off x="5208303" y="3037932"/>
                <a:ext cx="50165" cy="80010"/>
              </a:xfrm>
              <a:custGeom>
                <a:avLst/>
                <a:gdLst/>
                <a:ahLst/>
                <a:cxnLst/>
                <a:rect l="l" t="t" r="r" b="b"/>
                <a:pathLst>
                  <a:path w="50164" h="80010">
                    <a:moveTo>
                      <a:pt x="49968" y="0"/>
                    </a:moveTo>
                    <a:lnTo>
                      <a:pt x="0" y="9160"/>
                    </a:lnTo>
                    <a:lnTo>
                      <a:pt x="38724" y="79531"/>
                    </a:lnTo>
                    <a:lnTo>
                      <a:pt x="49968" y="0"/>
                    </a:lnTo>
                    <a:close/>
                  </a:path>
                </a:pathLst>
              </a:custGeom>
              <a:solidFill>
                <a:srgbClr val="6C6C6C"/>
              </a:solidFill>
            </p:spPr>
            <p:txBody>
              <a:bodyPr wrap="square" lIns="0" tIns="0" rIns="0" bIns="0" rtlCol="0"/>
              <a:lstStyle/>
              <a:p>
                <a:endParaRPr sz="1588"/>
              </a:p>
            </p:txBody>
          </p:sp>
          <p:sp>
            <p:nvSpPr>
              <p:cNvPr id="14" name="object 14"/>
              <p:cNvSpPr/>
              <p:nvPr/>
            </p:nvSpPr>
            <p:spPr>
              <a:xfrm>
                <a:off x="5264909" y="2747573"/>
                <a:ext cx="81915" cy="332740"/>
              </a:xfrm>
              <a:custGeom>
                <a:avLst/>
                <a:gdLst/>
                <a:ahLst/>
                <a:cxnLst/>
                <a:rect l="l" t="t" r="r" b="b"/>
                <a:pathLst>
                  <a:path w="81914" h="332739">
                    <a:moveTo>
                      <a:pt x="77787" y="0"/>
                    </a:moveTo>
                    <a:lnTo>
                      <a:pt x="49212" y="11112"/>
                    </a:lnTo>
                    <a:lnTo>
                      <a:pt x="24606" y="21431"/>
                    </a:lnTo>
                    <a:lnTo>
                      <a:pt x="6349" y="32543"/>
                    </a:lnTo>
                    <a:lnTo>
                      <a:pt x="0" y="42862"/>
                    </a:lnTo>
                    <a:lnTo>
                      <a:pt x="3174" y="47624"/>
                    </a:lnTo>
                    <a:lnTo>
                      <a:pt x="10318" y="52387"/>
                    </a:lnTo>
                    <a:lnTo>
                      <a:pt x="34924" y="61118"/>
                    </a:lnTo>
                    <a:lnTo>
                      <a:pt x="61118" y="69849"/>
                    </a:lnTo>
                    <a:lnTo>
                      <a:pt x="69849" y="75406"/>
                    </a:lnTo>
                    <a:lnTo>
                      <a:pt x="74612" y="81756"/>
                    </a:lnTo>
                    <a:lnTo>
                      <a:pt x="73818" y="88899"/>
                    </a:lnTo>
                    <a:lnTo>
                      <a:pt x="69056" y="96837"/>
                    </a:lnTo>
                    <a:lnTo>
                      <a:pt x="53181" y="115093"/>
                    </a:lnTo>
                    <a:lnTo>
                      <a:pt x="35718" y="133349"/>
                    </a:lnTo>
                    <a:lnTo>
                      <a:pt x="30162" y="142081"/>
                    </a:lnTo>
                    <a:lnTo>
                      <a:pt x="28574" y="149224"/>
                    </a:lnTo>
                    <a:lnTo>
                      <a:pt x="36512" y="161131"/>
                    </a:lnTo>
                    <a:lnTo>
                      <a:pt x="53974" y="170656"/>
                    </a:lnTo>
                    <a:lnTo>
                      <a:pt x="72231" y="180181"/>
                    </a:lnTo>
                    <a:lnTo>
                      <a:pt x="81756" y="192087"/>
                    </a:lnTo>
                    <a:lnTo>
                      <a:pt x="77787" y="207962"/>
                    </a:lnTo>
                    <a:lnTo>
                      <a:pt x="66674" y="225424"/>
                    </a:lnTo>
                    <a:lnTo>
                      <a:pt x="53181" y="244474"/>
                    </a:lnTo>
                    <a:lnTo>
                      <a:pt x="46037" y="263525"/>
                    </a:lnTo>
                    <a:lnTo>
                      <a:pt x="46831" y="282575"/>
                    </a:lnTo>
                    <a:lnTo>
                      <a:pt x="52387" y="303212"/>
                    </a:lnTo>
                    <a:lnTo>
                      <a:pt x="58737" y="322262"/>
                    </a:lnTo>
                    <a:lnTo>
                      <a:pt x="60598" y="332412"/>
                    </a:lnTo>
                  </a:path>
                </a:pathLst>
              </a:custGeom>
              <a:ln w="8312">
                <a:solidFill>
                  <a:srgbClr val="6C6C6C"/>
                </a:solidFill>
              </a:ln>
            </p:spPr>
            <p:txBody>
              <a:bodyPr wrap="square" lIns="0" tIns="0" rIns="0" bIns="0" rtlCol="0"/>
              <a:lstStyle/>
              <a:p>
                <a:endParaRPr sz="1588"/>
              </a:p>
            </p:txBody>
          </p:sp>
          <p:sp>
            <p:nvSpPr>
              <p:cNvPr id="15" name="object 15"/>
              <p:cNvSpPr/>
              <p:nvPr/>
            </p:nvSpPr>
            <p:spPr>
              <a:xfrm>
                <a:off x="5293652" y="3037930"/>
                <a:ext cx="50165" cy="80010"/>
              </a:xfrm>
              <a:custGeom>
                <a:avLst/>
                <a:gdLst/>
                <a:ahLst/>
                <a:cxnLst/>
                <a:rect l="l" t="t" r="r" b="b"/>
                <a:pathLst>
                  <a:path w="50164" h="80010">
                    <a:moveTo>
                      <a:pt x="49966" y="0"/>
                    </a:moveTo>
                    <a:lnTo>
                      <a:pt x="0" y="9160"/>
                    </a:lnTo>
                    <a:lnTo>
                      <a:pt x="38724" y="79531"/>
                    </a:lnTo>
                    <a:lnTo>
                      <a:pt x="49966" y="0"/>
                    </a:lnTo>
                    <a:close/>
                  </a:path>
                </a:pathLst>
              </a:custGeom>
              <a:solidFill>
                <a:srgbClr val="6C6C6C"/>
              </a:solidFill>
            </p:spPr>
            <p:txBody>
              <a:bodyPr wrap="square" lIns="0" tIns="0" rIns="0" bIns="0" rtlCol="0"/>
              <a:lstStyle/>
              <a:p>
                <a:endParaRPr sz="1588"/>
              </a:p>
            </p:txBody>
          </p:sp>
          <p:sp>
            <p:nvSpPr>
              <p:cNvPr id="16" name="object 16"/>
              <p:cNvSpPr/>
              <p:nvPr/>
            </p:nvSpPr>
            <p:spPr>
              <a:xfrm>
                <a:off x="5222236" y="2747573"/>
                <a:ext cx="81915" cy="332740"/>
              </a:xfrm>
              <a:custGeom>
                <a:avLst/>
                <a:gdLst/>
                <a:ahLst/>
                <a:cxnLst/>
                <a:rect l="l" t="t" r="r" b="b"/>
                <a:pathLst>
                  <a:path w="81914" h="332739">
                    <a:moveTo>
                      <a:pt x="77787" y="0"/>
                    </a:moveTo>
                    <a:lnTo>
                      <a:pt x="49212" y="11112"/>
                    </a:lnTo>
                    <a:lnTo>
                      <a:pt x="24606" y="21431"/>
                    </a:lnTo>
                    <a:lnTo>
                      <a:pt x="6349" y="32543"/>
                    </a:lnTo>
                    <a:lnTo>
                      <a:pt x="0" y="42862"/>
                    </a:lnTo>
                    <a:lnTo>
                      <a:pt x="3175" y="47624"/>
                    </a:lnTo>
                    <a:lnTo>
                      <a:pt x="10318" y="52387"/>
                    </a:lnTo>
                    <a:lnTo>
                      <a:pt x="34924" y="61118"/>
                    </a:lnTo>
                    <a:lnTo>
                      <a:pt x="61118" y="69849"/>
                    </a:lnTo>
                    <a:lnTo>
                      <a:pt x="69849" y="75406"/>
                    </a:lnTo>
                    <a:lnTo>
                      <a:pt x="74612" y="81756"/>
                    </a:lnTo>
                    <a:lnTo>
                      <a:pt x="73818" y="88899"/>
                    </a:lnTo>
                    <a:lnTo>
                      <a:pt x="69056" y="96837"/>
                    </a:lnTo>
                    <a:lnTo>
                      <a:pt x="53181" y="115093"/>
                    </a:lnTo>
                    <a:lnTo>
                      <a:pt x="35718" y="133349"/>
                    </a:lnTo>
                    <a:lnTo>
                      <a:pt x="30162" y="142081"/>
                    </a:lnTo>
                    <a:lnTo>
                      <a:pt x="28575" y="149224"/>
                    </a:lnTo>
                    <a:lnTo>
                      <a:pt x="36512" y="161131"/>
                    </a:lnTo>
                    <a:lnTo>
                      <a:pt x="53974" y="170656"/>
                    </a:lnTo>
                    <a:lnTo>
                      <a:pt x="72231" y="180181"/>
                    </a:lnTo>
                    <a:lnTo>
                      <a:pt x="81756" y="192087"/>
                    </a:lnTo>
                    <a:lnTo>
                      <a:pt x="77787" y="207962"/>
                    </a:lnTo>
                    <a:lnTo>
                      <a:pt x="66674" y="225424"/>
                    </a:lnTo>
                    <a:lnTo>
                      <a:pt x="53181" y="244474"/>
                    </a:lnTo>
                    <a:lnTo>
                      <a:pt x="46037" y="263525"/>
                    </a:lnTo>
                    <a:lnTo>
                      <a:pt x="46831" y="282575"/>
                    </a:lnTo>
                    <a:lnTo>
                      <a:pt x="52387" y="303212"/>
                    </a:lnTo>
                    <a:lnTo>
                      <a:pt x="58737" y="322262"/>
                    </a:lnTo>
                    <a:lnTo>
                      <a:pt x="60598" y="332412"/>
                    </a:lnTo>
                  </a:path>
                </a:pathLst>
              </a:custGeom>
              <a:ln w="8312">
                <a:solidFill>
                  <a:srgbClr val="6C6C6C"/>
                </a:solidFill>
              </a:ln>
            </p:spPr>
            <p:txBody>
              <a:bodyPr wrap="square" lIns="0" tIns="0" rIns="0" bIns="0" rtlCol="0"/>
              <a:lstStyle/>
              <a:p>
                <a:endParaRPr sz="1588"/>
              </a:p>
            </p:txBody>
          </p:sp>
          <p:sp>
            <p:nvSpPr>
              <p:cNvPr id="17" name="object 17"/>
              <p:cNvSpPr/>
              <p:nvPr/>
            </p:nvSpPr>
            <p:spPr>
              <a:xfrm>
                <a:off x="5250980" y="3037930"/>
                <a:ext cx="50165" cy="80010"/>
              </a:xfrm>
              <a:custGeom>
                <a:avLst/>
                <a:gdLst/>
                <a:ahLst/>
                <a:cxnLst/>
                <a:rect l="l" t="t" r="r" b="b"/>
                <a:pathLst>
                  <a:path w="50164" h="80010">
                    <a:moveTo>
                      <a:pt x="49966" y="0"/>
                    </a:moveTo>
                    <a:lnTo>
                      <a:pt x="0" y="9160"/>
                    </a:lnTo>
                    <a:lnTo>
                      <a:pt x="38724" y="79531"/>
                    </a:lnTo>
                    <a:lnTo>
                      <a:pt x="49966" y="0"/>
                    </a:lnTo>
                    <a:close/>
                  </a:path>
                </a:pathLst>
              </a:custGeom>
              <a:solidFill>
                <a:srgbClr val="6C6C6C"/>
              </a:solidFill>
            </p:spPr>
            <p:txBody>
              <a:bodyPr wrap="square" lIns="0" tIns="0" rIns="0" bIns="0" rtlCol="0"/>
              <a:lstStyle/>
              <a:p>
                <a:endParaRPr sz="1588"/>
              </a:p>
            </p:txBody>
          </p:sp>
          <p:sp>
            <p:nvSpPr>
              <p:cNvPr id="18" name="object 18"/>
              <p:cNvSpPr/>
              <p:nvPr/>
            </p:nvSpPr>
            <p:spPr>
              <a:xfrm>
                <a:off x="5307576" y="2747573"/>
                <a:ext cx="81915" cy="332740"/>
              </a:xfrm>
              <a:custGeom>
                <a:avLst/>
                <a:gdLst/>
                <a:ahLst/>
                <a:cxnLst/>
                <a:rect l="l" t="t" r="r" b="b"/>
                <a:pathLst>
                  <a:path w="81914" h="332739">
                    <a:moveTo>
                      <a:pt x="77787" y="0"/>
                    </a:moveTo>
                    <a:lnTo>
                      <a:pt x="49212" y="11112"/>
                    </a:lnTo>
                    <a:lnTo>
                      <a:pt x="24606" y="21431"/>
                    </a:lnTo>
                    <a:lnTo>
                      <a:pt x="6349" y="32543"/>
                    </a:lnTo>
                    <a:lnTo>
                      <a:pt x="0" y="42862"/>
                    </a:lnTo>
                    <a:lnTo>
                      <a:pt x="3174" y="47624"/>
                    </a:lnTo>
                    <a:lnTo>
                      <a:pt x="10318" y="52387"/>
                    </a:lnTo>
                    <a:lnTo>
                      <a:pt x="34924" y="61118"/>
                    </a:lnTo>
                    <a:lnTo>
                      <a:pt x="61118" y="69849"/>
                    </a:lnTo>
                    <a:lnTo>
                      <a:pt x="69849" y="75406"/>
                    </a:lnTo>
                    <a:lnTo>
                      <a:pt x="74612" y="81756"/>
                    </a:lnTo>
                    <a:lnTo>
                      <a:pt x="73818" y="88899"/>
                    </a:lnTo>
                    <a:lnTo>
                      <a:pt x="69056" y="96837"/>
                    </a:lnTo>
                    <a:lnTo>
                      <a:pt x="53181" y="115093"/>
                    </a:lnTo>
                    <a:lnTo>
                      <a:pt x="35718" y="133349"/>
                    </a:lnTo>
                    <a:lnTo>
                      <a:pt x="30162" y="142081"/>
                    </a:lnTo>
                    <a:lnTo>
                      <a:pt x="28574" y="149224"/>
                    </a:lnTo>
                    <a:lnTo>
                      <a:pt x="36512" y="161131"/>
                    </a:lnTo>
                    <a:lnTo>
                      <a:pt x="53974" y="170656"/>
                    </a:lnTo>
                    <a:lnTo>
                      <a:pt x="72231" y="180181"/>
                    </a:lnTo>
                    <a:lnTo>
                      <a:pt x="81756" y="192087"/>
                    </a:lnTo>
                    <a:lnTo>
                      <a:pt x="77787" y="207962"/>
                    </a:lnTo>
                    <a:lnTo>
                      <a:pt x="66674" y="225424"/>
                    </a:lnTo>
                    <a:lnTo>
                      <a:pt x="53181" y="244474"/>
                    </a:lnTo>
                    <a:lnTo>
                      <a:pt x="46037" y="263525"/>
                    </a:lnTo>
                    <a:lnTo>
                      <a:pt x="46831" y="282575"/>
                    </a:lnTo>
                    <a:lnTo>
                      <a:pt x="52387" y="303212"/>
                    </a:lnTo>
                    <a:lnTo>
                      <a:pt x="58737" y="322262"/>
                    </a:lnTo>
                    <a:lnTo>
                      <a:pt x="60598" y="332412"/>
                    </a:lnTo>
                  </a:path>
                </a:pathLst>
              </a:custGeom>
              <a:ln w="8312">
                <a:solidFill>
                  <a:srgbClr val="6C6C6C"/>
                </a:solidFill>
              </a:ln>
            </p:spPr>
            <p:txBody>
              <a:bodyPr wrap="square" lIns="0" tIns="0" rIns="0" bIns="0" rtlCol="0"/>
              <a:lstStyle/>
              <a:p>
                <a:endParaRPr sz="1588"/>
              </a:p>
            </p:txBody>
          </p:sp>
          <p:sp>
            <p:nvSpPr>
              <p:cNvPr id="19" name="object 19"/>
              <p:cNvSpPr/>
              <p:nvPr/>
            </p:nvSpPr>
            <p:spPr>
              <a:xfrm>
                <a:off x="5336321" y="3037930"/>
                <a:ext cx="50165" cy="80010"/>
              </a:xfrm>
              <a:custGeom>
                <a:avLst/>
                <a:gdLst/>
                <a:ahLst/>
                <a:cxnLst/>
                <a:rect l="l" t="t" r="r" b="b"/>
                <a:pathLst>
                  <a:path w="50164" h="80010">
                    <a:moveTo>
                      <a:pt x="49966" y="0"/>
                    </a:moveTo>
                    <a:lnTo>
                      <a:pt x="0" y="9160"/>
                    </a:lnTo>
                    <a:lnTo>
                      <a:pt x="38724" y="79531"/>
                    </a:lnTo>
                    <a:lnTo>
                      <a:pt x="49966" y="0"/>
                    </a:lnTo>
                    <a:close/>
                  </a:path>
                </a:pathLst>
              </a:custGeom>
              <a:solidFill>
                <a:srgbClr val="6C6C6C"/>
              </a:solidFill>
            </p:spPr>
            <p:txBody>
              <a:bodyPr wrap="square" lIns="0" tIns="0" rIns="0" bIns="0" rtlCol="0"/>
              <a:lstStyle/>
              <a:p>
                <a:endParaRPr sz="1588"/>
              </a:p>
            </p:txBody>
          </p:sp>
          <p:sp>
            <p:nvSpPr>
              <p:cNvPr id="20" name="object 20"/>
              <p:cNvSpPr/>
              <p:nvPr/>
            </p:nvSpPr>
            <p:spPr>
              <a:xfrm>
                <a:off x="5388187" y="2747573"/>
                <a:ext cx="81915" cy="332740"/>
              </a:xfrm>
              <a:custGeom>
                <a:avLst/>
                <a:gdLst/>
                <a:ahLst/>
                <a:cxnLst/>
                <a:rect l="l" t="t" r="r" b="b"/>
                <a:pathLst>
                  <a:path w="81914" h="332739">
                    <a:moveTo>
                      <a:pt x="77787" y="0"/>
                    </a:moveTo>
                    <a:lnTo>
                      <a:pt x="49212" y="11112"/>
                    </a:lnTo>
                    <a:lnTo>
                      <a:pt x="24606" y="21431"/>
                    </a:lnTo>
                    <a:lnTo>
                      <a:pt x="6349" y="32543"/>
                    </a:lnTo>
                    <a:lnTo>
                      <a:pt x="0" y="42862"/>
                    </a:lnTo>
                    <a:lnTo>
                      <a:pt x="3174" y="47624"/>
                    </a:lnTo>
                    <a:lnTo>
                      <a:pt x="10318" y="52387"/>
                    </a:lnTo>
                    <a:lnTo>
                      <a:pt x="34925" y="61118"/>
                    </a:lnTo>
                    <a:lnTo>
                      <a:pt x="61118" y="69849"/>
                    </a:lnTo>
                    <a:lnTo>
                      <a:pt x="69849" y="75406"/>
                    </a:lnTo>
                    <a:lnTo>
                      <a:pt x="74612" y="81756"/>
                    </a:lnTo>
                    <a:lnTo>
                      <a:pt x="73818" y="88899"/>
                    </a:lnTo>
                    <a:lnTo>
                      <a:pt x="69056" y="96837"/>
                    </a:lnTo>
                    <a:lnTo>
                      <a:pt x="53181" y="115093"/>
                    </a:lnTo>
                    <a:lnTo>
                      <a:pt x="35718" y="133349"/>
                    </a:lnTo>
                    <a:lnTo>
                      <a:pt x="30162" y="142081"/>
                    </a:lnTo>
                    <a:lnTo>
                      <a:pt x="28574" y="149224"/>
                    </a:lnTo>
                    <a:lnTo>
                      <a:pt x="36512" y="161131"/>
                    </a:lnTo>
                    <a:lnTo>
                      <a:pt x="53974" y="170656"/>
                    </a:lnTo>
                    <a:lnTo>
                      <a:pt x="72231" y="180181"/>
                    </a:lnTo>
                    <a:lnTo>
                      <a:pt x="81756" y="192087"/>
                    </a:lnTo>
                    <a:lnTo>
                      <a:pt x="77787" y="207962"/>
                    </a:lnTo>
                    <a:lnTo>
                      <a:pt x="66674" y="225424"/>
                    </a:lnTo>
                    <a:lnTo>
                      <a:pt x="53181" y="244474"/>
                    </a:lnTo>
                    <a:lnTo>
                      <a:pt x="46037" y="263525"/>
                    </a:lnTo>
                    <a:lnTo>
                      <a:pt x="46831" y="282575"/>
                    </a:lnTo>
                    <a:lnTo>
                      <a:pt x="52387" y="303212"/>
                    </a:lnTo>
                    <a:lnTo>
                      <a:pt x="58737" y="322262"/>
                    </a:lnTo>
                    <a:lnTo>
                      <a:pt x="60598" y="332412"/>
                    </a:lnTo>
                  </a:path>
                </a:pathLst>
              </a:custGeom>
              <a:ln w="8312">
                <a:solidFill>
                  <a:srgbClr val="6C6C6C"/>
                </a:solidFill>
              </a:ln>
            </p:spPr>
            <p:txBody>
              <a:bodyPr wrap="square" lIns="0" tIns="0" rIns="0" bIns="0" rtlCol="0"/>
              <a:lstStyle/>
              <a:p>
                <a:endParaRPr sz="1588"/>
              </a:p>
            </p:txBody>
          </p:sp>
          <p:sp>
            <p:nvSpPr>
              <p:cNvPr id="21" name="object 21"/>
              <p:cNvSpPr/>
              <p:nvPr/>
            </p:nvSpPr>
            <p:spPr>
              <a:xfrm>
                <a:off x="5416931" y="3037930"/>
                <a:ext cx="50165" cy="80010"/>
              </a:xfrm>
              <a:custGeom>
                <a:avLst/>
                <a:gdLst/>
                <a:ahLst/>
                <a:cxnLst/>
                <a:rect l="l" t="t" r="r" b="b"/>
                <a:pathLst>
                  <a:path w="50164" h="80010">
                    <a:moveTo>
                      <a:pt x="49968" y="0"/>
                    </a:moveTo>
                    <a:lnTo>
                      <a:pt x="0" y="9160"/>
                    </a:lnTo>
                    <a:lnTo>
                      <a:pt x="38724" y="79531"/>
                    </a:lnTo>
                    <a:lnTo>
                      <a:pt x="49968" y="0"/>
                    </a:lnTo>
                    <a:close/>
                  </a:path>
                </a:pathLst>
              </a:custGeom>
              <a:solidFill>
                <a:srgbClr val="6C6C6C"/>
              </a:solidFill>
            </p:spPr>
            <p:txBody>
              <a:bodyPr wrap="square" lIns="0" tIns="0" rIns="0" bIns="0" rtlCol="0"/>
              <a:lstStyle/>
              <a:p>
                <a:endParaRPr sz="1588"/>
              </a:p>
            </p:txBody>
          </p:sp>
          <p:sp>
            <p:nvSpPr>
              <p:cNvPr id="22" name="object 22"/>
              <p:cNvSpPr/>
              <p:nvPr/>
            </p:nvSpPr>
            <p:spPr>
              <a:xfrm>
                <a:off x="5345515" y="2747573"/>
                <a:ext cx="81915" cy="332740"/>
              </a:xfrm>
              <a:custGeom>
                <a:avLst/>
                <a:gdLst/>
                <a:ahLst/>
                <a:cxnLst/>
                <a:rect l="l" t="t" r="r" b="b"/>
                <a:pathLst>
                  <a:path w="81914" h="332739">
                    <a:moveTo>
                      <a:pt x="77787" y="0"/>
                    </a:moveTo>
                    <a:lnTo>
                      <a:pt x="49212" y="11112"/>
                    </a:lnTo>
                    <a:lnTo>
                      <a:pt x="24606" y="21431"/>
                    </a:lnTo>
                    <a:lnTo>
                      <a:pt x="6349" y="32543"/>
                    </a:lnTo>
                    <a:lnTo>
                      <a:pt x="0" y="42862"/>
                    </a:lnTo>
                    <a:lnTo>
                      <a:pt x="3174" y="47624"/>
                    </a:lnTo>
                    <a:lnTo>
                      <a:pt x="10318" y="52387"/>
                    </a:lnTo>
                    <a:lnTo>
                      <a:pt x="34924" y="61118"/>
                    </a:lnTo>
                    <a:lnTo>
                      <a:pt x="61118" y="69849"/>
                    </a:lnTo>
                    <a:lnTo>
                      <a:pt x="69849" y="75406"/>
                    </a:lnTo>
                    <a:lnTo>
                      <a:pt x="74612" y="81756"/>
                    </a:lnTo>
                    <a:lnTo>
                      <a:pt x="73818" y="88899"/>
                    </a:lnTo>
                    <a:lnTo>
                      <a:pt x="69056" y="96837"/>
                    </a:lnTo>
                    <a:lnTo>
                      <a:pt x="53181" y="115093"/>
                    </a:lnTo>
                    <a:lnTo>
                      <a:pt x="35718" y="133349"/>
                    </a:lnTo>
                    <a:lnTo>
                      <a:pt x="30162" y="142081"/>
                    </a:lnTo>
                    <a:lnTo>
                      <a:pt x="28574" y="149224"/>
                    </a:lnTo>
                    <a:lnTo>
                      <a:pt x="36512" y="161131"/>
                    </a:lnTo>
                    <a:lnTo>
                      <a:pt x="53974" y="170656"/>
                    </a:lnTo>
                    <a:lnTo>
                      <a:pt x="72231" y="180181"/>
                    </a:lnTo>
                    <a:lnTo>
                      <a:pt x="81756" y="192087"/>
                    </a:lnTo>
                    <a:lnTo>
                      <a:pt x="77787" y="207962"/>
                    </a:lnTo>
                    <a:lnTo>
                      <a:pt x="66674" y="225424"/>
                    </a:lnTo>
                    <a:lnTo>
                      <a:pt x="53181" y="244474"/>
                    </a:lnTo>
                    <a:lnTo>
                      <a:pt x="46037" y="263525"/>
                    </a:lnTo>
                    <a:lnTo>
                      <a:pt x="46831" y="282575"/>
                    </a:lnTo>
                    <a:lnTo>
                      <a:pt x="52387" y="303212"/>
                    </a:lnTo>
                    <a:lnTo>
                      <a:pt x="58737" y="322262"/>
                    </a:lnTo>
                    <a:lnTo>
                      <a:pt x="60598" y="332412"/>
                    </a:lnTo>
                  </a:path>
                </a:pathLst>
              </a:custGeom>
              <a:ln w="8312">
                <a:solidFill>
                  <a:srgbClr val="6C6C6C"/>
                </a:solidFill>
              </a:ln>
            </p:spPr>
            <p:txBody>
              <a:bodyPr wrap="square" lIns="0" tIns="0" rIns="0" bIns="0" rtlCol="0"/>
              <a:lstStyle/>
              <a:p>
                <a:endParaRPr sz="1588"/>
              </a:p>
            </p:txBody>
          </p:sp>
          <p:sp>
            <p:nvSpPr>
              <p:cNvPr id="23" name="object 23"/>
              <p:cNvSpPr/>
              <p:nvPr/>
            </p:nvSpPr>
            <p:spPr>
              <a:xfrm>
                <a:off x="5374259" y="3037930"/>
                <a:ext cx="50165" cy="80010"/>
              </a:xfrm>
              <a:custGeom>
                <a:avLst/>
                <a:gdLst/>
                <a:ahLst/>
                <a:cxnLst/>
                <a:rect l="l" t="t" r="r" b="b"/>
                <a:pathLst>
                  <a:path w="50164" h="80010">
                    <a:moveTo>
                      <a:pt x="49966" y="0"/>
                    </a:moveTo>
                    <a:lnTo>
                      <a:pt x="0" y="9160"/>
                    </a:lnTo>
                    <a:lnTo>
                      <a:pt x="38724" y="79531"/>
                    </a:lnTo>
                    <a:lnTo>
                      <a:pt x="49966" y="0"/>
                    </a:lnTo>
                    <a:close/>
                  </a:path>
                </a:pathLst>
              </a:custGeom>
              <a:solidFill>
                <a:srgbClr val="6C6C6C"/>
              </a:solidFill>
            </p:spPr>
            <p:txBody>
              <a:bodyPr wrap="square" lIns="0" tIns="0" rIns="0" bIns="0" rtlCol="0"/>
              <a:lstStyle/>
              <a:p>
                <a:endParaRPr sz="1588"/>
              </a:p>
            </p:txBody>
          </p:sp>
          <p:sp>
            <p:nvSpPr>
              <p:cNvPr id="24" name="object 24"/>
              <p:cNvSpPr/>
              <p:nvPr/>
            </p:nvSpPr>
            <p:spPr>
              <a:xfrm>
                <a:off x="5430856" y="2747573"/>
                <a:ext cx="81915" cy="332740"/>
              </a:xfrm>
              <a:custGeom>
                <a:avLst/>
                <a:gdLst/>
                <a:ahLst/>
                <a:cxnLst/>
                <a:rect l="l" t="t" r="r" b="b"/>
                <a:pathLst>
                  <a:path w="81914" h="332739">
                    <a:moveTo>
                      <a:pt x="77787" y="0"/>
                    </a:moveTo>
                    <a:lnTo>
                      <a:pt x="49212" y="11112"/>
                    </a:lnTo>
                    <a:lnTo>
                      <a:pt x="24606" y="21431"/>
                    </a:lnTo>
                    <a:lnTo>
                      <a:pt x="6349" y="32543"/>
                    </a:lnTo>
                    <a:lnTo>
                      <a:pt x="0" y="42862"/>
                    </a:lnTo>
                    <a:lnTo>
                      <a:pt x="3174" y="47624"/>
                    </a:lnTo>
                    <a:lnTo>
                      <a:pt x="10318" y="52387"/>
                    </a:lnTo>
                    <a:lnTo>
                      <a:pt x="34924" y="61118"/>
                    </a:lnTo>
                    <a:lnTo>
                      <a:pt x="61118" y="69849"/>
                    </a:lnTo>
                    <a:lnTo>
                      <a:pt x="69849" y="75406"/>
                    </a:lnTo>
                    <a:lnTo>
                      <a:pt x="74612" y="81756"/>
                    </a:lnTo>
                    <a:lnTo>
                      <a:pt x="73818" y="88899"/>
                    </a:lnTo>
                    <a:lnTo>
                      <a:pt x="69056" y="96837"/>
                    </a:lnTo>
                    <a:lnTo>
                      <a:pt x="53181" y="115093"/>
                    </a:lnTo>
                    <a:lnTo>
                      <a:pt x="35718" y="133349"/>
                    </a:lnTo>
                    <a:lnTo>
                      <a:pt x="30162" y="142081"/>
                    </a:lnTo>
                    <a:lnTo>
                      <a:pt x="28574" y="149224"/>
                    </a:lnTo>
                    <a:lnTo>
                      <a:pt x="36512" y="161131"/>
                    </a:lnTo>
                    <a:lnTo>
                      <a:pt x="53974" y="170656"/>
                    </a:lnTo>
                    <a:lnTo>
                      <a:pt x="72231" y="180181"/>
                    </a:lnTo>
                    <a:lnTo>
                      <a:pt x="81756" y="192087"/>
                    </a:lnTo>
                    <a:lnTo>
                      <a:pt x="77787" y="207962"/>
                    </a:lnTo>
                    <a:lnTo>
                      <a:pt x="66674" y="225424"/>
                    </a:lnTo>
                    <a:lnTo>
                      <a:pt x="53181" y="244474"/>
                    </a:lnTo>
                    <a:lnTo>
                      <a:pt x="46037" y="263525"/>
                    </a:lnTo>
                    <a:lnTo>
                      <a:pt x="46831" y="282575"/>
                    </a:lnTo>
                    <a:lnTo>
                      <a:pt x="52387" y="303212"/>
                    </a:lnTo>
                    <a:lnTo>
                      <a:pt x="58737" y="322262"/>
                    </a:lnTo>
                    <a:lnTo>
                      <a:pt x="60598" y="332412"/>
                    </a:lnTo>
                  </a:path>
                </a:pathLst>
              </a:custGeom>
              <a:ln w="8312">
                <a:solidFill>
                  <a:srgbClr val="6C6C6C"/>
                </a:solidFill>
              </a:ln>
            </p:spPr>
            <p:txBody>
              <a:bodyPr wrap="square" lIns="0" tIns="0" rIns="0" bIns="0" rtlCol="0"/>
              <a:lstStyle/>
              <a:p>
                <a:endParaRPr sz="1588"/>
              </a:p>
            </p:txBody>
          </p:sp>
          <p:sp>
            <p:nvSpPr>
              <p:cNvPr id="25" name="object 25"/>
              <p:cNvSpPr/>
              <p:nvPr/>
            </p:nvSpPr>
            <p:spPr>
              <a:xfrm>
                <a:off x="5459599" y="3037930"/>
                <a:ext cx="50165" cy="80010"/>
              </a:xfrm>
              <a:custGeom>
                <a:avLst/>
                <a:gdLst/>
                <a:ahLst/>
                <a:cxnLst/>
                <a:rect l="l" t="t" r="r" b="b"/>
                <a:pathLst>
                  <a:path w="50164" h="80010">
                    <a:moveTo>
                      <a:pt x="49968" y="0"/>
                    </a:moveTo>
                    <a:lnTo>
                      <a:pt x="0" y="9160"/>
                    </a:lnTo>
                    <a:lnTo>
                      <a:pt x="38724" y="79531"/>
                    </a:lnTo>
                    <a:lnTo>
                      <a:pt x="49968" y="0"/>
                    </a:lnTo>
                    <a:close/>
                  </a:path>
                </a:pathLst>
              </a:custGeom>
              <a:solidFill>
                <a:srgbClr val="6C6C6C"/>
              </a:solidFill>
            </p:spPr>
            <p:txBody>
              <a:bodyPr wrap="square" lIns="0" tIns="0" rIns="0" bIns="0" rtlCol="0"/>
              <a:lstStyle/>
              <a:p>
                <a:endParaRPr sz="1588"/>
              </a:p>
            </p:txBody>
          </p:sp>
          <p:sp>
            <p:nvSpPr>
              <p:cNvPr id="26" name="object 26"/>
              <p:cNvSpPr/>
              <p:nvPr/>
            </p:nvSpPr>
            <p:spPr>
              <a:xfrm>
                <a:off x="5516204" y="2747570"/>
                <a:ext cx="81915" cy="332740"/>
              </a:xfrm>
              <a:custGeom>
                <a:avLst/>
                <a:gdLst/>
                <a:ahLst/>
                <a:cxnLst/>
                <a:rect l="l" t="t" r="r" b="b"/>
                <a:pathLst>
                  <a:path w="81914" h="332739">
                    <a:moveTo>
                      <a:pt x="77787" y="0"/>
                    </a:moveTo>
                    <a:lnTo>
                      <a:pt x="49212" y="11112"/>
                    </a:lnTo>
                    <a:lnTo>
                      <a:pt x="24606" y="21431"/>
                    </a:lnTo>
                    <a:lnTo>
                      <a:pt x="6349" y="32543"/>
                    </a:lnTo>
                    <a:lnTo>
                      <a:pt x="0" y="42862"/>
                    </a:lnTo>
                    <a:lnTo>
                      <a:pt x="3174" y="47624"/>
                    </a:lnTo>
                    <a:lnTo>
                      <a:pt x="10318" y="52387"/>
                    </a:lnTo>
                    <a:lnTo>
                      <a:pt x="34924" y="61118"/>
                    </a:lnTo>
                    <a:lnTo>
                      <a:pt x="61118" y="69849"/>
                    </a:lnTo>
                    <a:lnTo>
                      <a:pt x="69849" y="75406"/>
                    </a:lnTo>
                    <a:lnTo>
                      <a:pt x="74612" y="81756"/>
                    </a:lnTo>
                    <a:lnTo>
                      <a:pt x="73818" y="88899"/>
                    </a:lnTo>
                    <a:lnTo>
                      <a:pt x="69056" y="96837"/>
                    </a:lnTo>
                    <a:lnTo>
                      <a:pt x="53181" y="115093"/>
                    </a:lnTo>
                    <a:lnTo>
                      <a:pt x="35718" y="133349"/>
                    </a:lnTo>
                    <a:lnTo>
                      <a:pt x="30162" y="142081"/>
                    </a:lnTo>
                    <a:lnTo>
                      <a:pt x="28574" y="149224"/>
                    </a:lnTo>
                    <a:lnTo>
                      <a:pt x="36512" y="161131"/>
                    </a:lnTo>
                    <a:lnTo>
                      <a:pt x="53974" y="170656"/>
                    </a:lnTo>
                    <a:lnTo>
                      <a:pt x="72231" y="180181"/>
                    </a:lnTo>
                    <a:lnTo>
                      <a:pt x="81756" y="192087"/>
                    </a:lnTo>
                    <a:lnTo>
                      <a:pt x="77787" y="207962"/>
                    </a:lnTo>
                    <a:lnTo>
                      <a:pt x="66674" y="225425"/>
                    </a:lnTo>
                    <a:lnTo>
                      <a:pt x="53181" y="244475"/>
                    </a:lnTo>
                    <a:lnTo>
                      <a:pt x="46037" y="263525"/>
                    </a:lnTo>
                    <a:lnTo>
                      <a:pt x="46831" y="282574"/>
                    </a:lnTo>
                    <a:lnTo>
                      <a:pt x="52387" y="303212"/>
                    </a:lnTo>
                    <a:lnTo>
                      <a:pt x="58737" y="322262"/>
                    </a:lnTo>
                    <a:lnTo>
                      <a:pt x="60598" y="332412"/>
                    </a:lnTo>
                  </a:path>
                </a:pathLst>
              </a:custGeom>
              <a:ln w="8312">
                <a:solidFill>
                  <a:srgbClr val="6C6C6C"/>
                </a:solidFill>
              </a:ln>
            </p:spPr>
            <p:txBody>
              <a:bodyPr wrap="square" lIns="0" tIns="0" rIns="0" bIns="0" rtlCol="0"/>
              <a:lstStyle/>
              <a:p>
                <a:endParaRPr sz="1588"/>
              </a:p>
            </p:txBody>
          </p:sp>
          <p:sp>
            <p:nvSpPr>
              <p:cNvPr id="27" name="object 27"/>
              <p:cNvSpPr/>
              <p:nvPr/>
            </p:nvSpPr>
            <p:spPr>
              <a:xfrm>
                <a:off x="5544949" y="3037926"/>
                <a:ext cx="50165" cy="80010"/>
              </a:xfrm>
              <a:custGeom>
                <a:avLst/>
                <a:gdLst/>
                <a:ahLst/>
                <a:cxnLst/>
                <a:rect l="l" t="t" r="r" b="b"/>
                <a:pathLst>
                  <a:path w="50164" h="80010">
                    <a:moveTo>
                      <a:pt x="49968" y="0"/>
                    </a:moveTo>
                    <a:lnTo>
                      <a:pt x="0" y="9160"/>
                    </a:lnTo>
                    <a:lnTo>
                      <a:pt x="38724" y="79531"/>
                    </a:lnTo>
                    <a:lnTo>
                      <a:pt x="49968" y="0"/>
                    </a:lnTo>
                    <a:close/>
                  </a:path>
                </a:pathLst>
              </a:custGeom>
              <a:solidFill>
                <a:srgbClr val="6C6C6C"/>
              </a:solidFill>
            </p:spPr>
            <p:txBody>
              <a:bodyPr wrap="square" lIns="0" tIns="0" rIns="0" bIns="0" rtlCol="0"/>
              <a:lstStyle/>
              <a:p>
                <a:endParaRPr sz="1588"/>
              </a:p>
            </p:txBody>
          </p:sp>
          <p:sp>
            <p:nvSpPr>
              <p:cNvPr id="28" name="object 28"/>
              <p:cNvSpPr/>
              <p:nvPr/>
            </p:nvSpPr>
            <p:spPr>
              <a:xfrm>
                <a:off x="5473534" y="2747570"/>
                <a:ext cx="81915" cy="332740"/>
              </a:xfrm>
              <a:custGeom>
                <a:avLst/>
                <a:gdLst/>
                <a:ahLst/>
                <a:cxnLst/>
                <a:rect l="l" t="t" r="r" b="b"/>
                <a:pathLst>
                  <a:path w="81914" h="332739">
                    <a:moveTo>
                      <a:pt x="77787" y="0"/>
                    </a:moveTo>
                    <a:lnTo>
                      <a:pt x="49212" y="11112"/>
                    </a:lnTo>
                    <a:lnTo>
                      <a:pt x="24606" y="21431"/>
                    </a:lnTo>
                    <a:lnTo>
                      <a:pt x="6349" y="32543"/>
                    </a:lnTo>
                    <a:lnTo>
                      <a:pt x="0" y="42862"/>
                    </a:lnTo>
                    <a:lnTo>
                      <a:pt x="3174" y="47624"/>
                    </a:lnTo>
                    <a:lnTo>
                      <a:pt x="10318" y="52387"/>
                    </a:lnTo>
                    <a:lnTo>
                      <a:pt x="34924" y="61118"/>
                    </a:lnTo>
                    <a:lnTo>
                      <a:pt x="61118" y="69849"/>
                    </a:lnTo>
                    <a:lnTo>
                      <a:pt x="69849" y="75406"/>
                    </a:lnTo>
                    <a:lnTo>
                      <a:pt x="74612" y="81756"/>
                    </a:lnTo>
                    <a:lnTo>
                      <a:pt x="73818" y="88899"/>
                    </a:lnTo>
                    <a:lnTo>
                      <a:pt x="69056" y="96837"/>
                    </a:lnTo>
                    <a:lnTo>
                      <a:pt x="53181" y="115093"/>
                    </a:lnTo>
                    <a:lnTo>
                      <a:pt x="35718" y="133349"/>
                    </a:lnTo>
                    <a:lnTo>
                      <a:pt x="30162" y="142081"/>
                    </a:lnTo>
                    <a:lnTo>
                      <a:pt x="28574" y="149224"/>
                    </a:lnTo>
                    <a:lnTo>
                      <a:pt x="36512" y="161131"/>
                    </a:lnTo>
                    <a:lnTo>
                      <a:pt x="53974" y="170656"/>
                    </a:lnTo>
                    <a:lnTo>
                      <a:pt x="72231" y="180181"/>
                    </a:lnTo>
                    <a:lnTo>
                      <a:pt x="81756" y="192087"/>
                    </a:lnTo>
                    <a:lnTo>
                      <a:pt x="77787" y="207962"/>
                    </a:lnTo>
                    <a:lnTo>
                      <a:pt x="66674" y="225425"/>
                    </a:lnTo>
                    <a:lnTo>
                      <a:pt x="53181" y="244475"/>
                    </a:lnTo>
                    <a:lnTo>
                      <a:pt x="46037" y="263525"/>
                    </a:lnTo>
                    <a:lnTo>
                      <a:pt x="46831" y="282574"/>
                    </a:lnTo>
                    <a:lnTo>
                      <a:pt x="52387" y="303212"/>
                    </a:lnTo>
                    <a:lnTo>
                      <a:pt x="58737" y="322262"/>
                    </a:lnTo>
                    <a:lnTo>
                      <a:pt x="60598" y="332412"/>
                    </a:lnTo>
                  </a:path>
                </a:pathLst>
              </a:custGeom>
              <a:ln w="8312">
                <a:solidFill>
                  <a:srgbClr val="6C6C6C"/>
                </a:solidFill>
              </a:ln>
            </p:spPr>
            <p:txBody>
              <a:bodyPr wrap="square" lIns="0" tIns="0" rIns="0" bIns="0" rtlCol="0"/>
              <a:lstStyle/>
              <a:p>
                <a:endParaRPr sz="1588"/>
              </a:p>
            </p:txBody>
          </p:sp>
          <p:sp>
            <p:nvSpPr>
              <p:cNvPr id="29" name="object 29"/>
              <p:cNvSpPr/>
              <p:nvPr/>
            </p:nvSpPr>
            <p:spPr>
              <a:xfrm>
                <a:off x="5502278" y="3037926"/>
                <a:ext cx="50165" cy="80010"/>
              </a:xfrm>
              <a:custGeom>
                <a:avLst/>
                <a:gdLst/>
                <a:ahLst/>
                <a:cxnLst/>
                <a:rect l="l" t="t" r="r" b="b"/>
                <a:pathLst>
                  <a:path w="50164" h="80010">
                    <a:moveTo>
                      <a:pt x="49966" y="0"/>
                    </a:moveTo>
                    <a:lnTo>
                      <a:pt x="0" y="9160"/>
                    </a:lnTo>
                    <a:lnTo>
                      <a:pt x="38724" y="79531"/>
                    </a:lnTo>
                    <a:lnTo>
                      <a:pt x="49966" y="0"/>
                    </a:lnTo>
                    <a:close/>
                  </a:path>
                </a:pathLst>
              </a:custGeom>
              <a:solidFill>
                <a:srgbClr val="6C6C6C"/>
              </a:solidFill>
            </p:spPr>
            <p:txBody>
              <a:bodyPr wrap="square" lIns="0" tIns="0" rIns="0" bIns="0" rtlCol="0"/>
              <a:lstStyle/>
              <a:p>
                <a:endParaRPr sz="1588"/>
              </a:p>
            </p:txBody>
          </p:sp>
          <p:sp>
            <p:nvSpPr>
              <p:cNvPr id="30" name="object 30"/>
              <p:cNvSpPr/>
              <p:nvPr/>
            </p:nvSpPr>
            <p:spPr>
              <a:xfrm>
                <a:off x="5558874" y="2747570"/>
                <a:ext cx="81915" cy="332740"/>
              </a:xfrm>
              <a:custGeom>
                <a:avLst/>
                <a:gdLst/>
                <a:ahLst/>
                <a:cxnLst/>
                <a:rect l="l" t="t" r="r" b="b"/>
                <a:pathLst>
                  <a:path w="81914" h="332739">
                    <a:moveTo>
                      <a:pt x="77787" y="0"/>
                    </a:moveTo>
                    <a:lnTo>
                      <a:pt x="49212" y="11112"/>
                    </a:lnTo>
                    <a:lnTo>
                      <a:pt x="24606" y="21431"/>
                    </a:lnTo>
                    <a:lnTo>
                      <a:pt x="6349" y="32543"/>
                    </a:lnTo>
                    <a:lnTo>
                      <a:pt x="0" y="42862"/>
                    </a:lnTo>
                    <a:lnTo>
                      <a:pt x="3174" y="47624"/>
                    </a:lnTo>
                    <a:lnTo>
                      <a:pt x="10318" y="52387"/>
                    </a:lnTo>
                    <a:lnTo>
                      <a:pt x="34924" y="61118"/>
                    </a:lnTo>
                    <a:lnTo>
                      <a:pt x="61118" y="69849"/>
                    </a:lnTo>
                    <a:lnTo>
                      <a:pt x="69849" y="75406"/>
                    </a:lnTo>
                    <a:lnTo>
                      <a:pt x="74612" y="81756"/>
                    </a:lnTo>
                    <a:lnTo>
                      <a:pt x="73818" y="88899"/>
                    </a:lnTo>
                    <a:lnTo>
                      <a:pt x="69056" y="96837"/>
                    </a:lnTo>
                    <a:lnTo>
                      <a:pt x="53181" y="115093"/>
                    </a:lnTo>
                    <a:lnTo>
                      <a:pt x="35718" y="133349"/>
                    </a:lnTo>
                    <a:lnTo>
                      <a:pt x="30162" y="142081"/>
                    </a:lnTo>
                    <a:lnTo>
                      <a:pt x="28574" y="149224"/>
                    </a:lnTo>
                    <a:lnTo>
                      <a:pt x="36512" y="161131"/>
                    </a:lnTo>
                    <a:lnTo>
                      <a:pt x="53974" y="170656"/>
                    </a:lnTo>
                    <a:lnTo>
                      <a:pt x="72231" y="180181"/>
                    </a:lnTo>
                    <a:lnTo>
                      <a:pt x="81756" y="192087"/>
                    </a:lnTo>
                    <a:lnTo>
                      <a:pt x="77787" y="207962"/>
                    </a:lnTo>
                    <a:lnTo>
                      <a:pt x="66674" y="225425"/>
                    </a:lnTo>
                    <a:lnTo>
                      <a:pt x="53181" y="244475"/>
                    </a:lnTo>
                    <a:lnTo>
                      <a:pt x="46037" y="263525"/>
                    </a:lnTo>
                    <a:lnTo>
                      <a:pt x="46831" y="282574"/>
                    </a:lnTo>
                    <a:lnTo>
                      <a:pt x="52387" y="303212"/>
                    </a:lnTo>
                    <a:lnTo>
                      <a:pt x="58737" y="322262"/>
                    </a:lnTo>
                    <a:lnTo>
                      <a:pt x="60598" y="332412"/>
                    </a:lnTo>
                  </a:path>
                </a:pathLst>
              </a:custGeom>
              <a:ln w="8312">
                <a:solidFill>
                  <a:srgbClr val="6C6C6C"/>
                </a:solidFill>
              </a:ln>
            </p:spPr>
            <p:txBody>
              <a:bodyPr wrap="square" lIns="0" tIns="0" rIns="0" bIns="0" rtlCol="0"/>
              <a:lstStyle/>
              <a:p>
                <a:endParaRPr sz="1588"/>
              </a:p>
            </p:txBody>
          </p:sp>
          <p:sp>
            <p:nvSpPr>
              <p:cNvPr id="31" name="object 31"/>
              <p:cNvSpPr/>
              <p:nvPr/>
            </p:nvSpPr>
            <p:spPr>
              <a:xfrm>
                <a:off x="5587618" y="3037926"/>
                <a:ext cx="50165" cy="80010"/>
              </a:xfrm>
              <a:custGeom>
                <a:avLst/>
                <a:gdLst/>
                <a:ahLst/>
                <a:cxnLst/>
                <a:rect l="l" t="t" r="r" b="b"/>
                <a:pathLst>
                  <a:path w="50164" h="80010">
                    <a:moveTo>
                      <a:pt x="49968" y="0"/>
                    </a:moveTo>
                    <a:lnTo>
                      <a:pt x="0" y="9160"/>
                    </a:lnTo>
                    <a:lnTo>
                      <a:pt x="38724" y="79531"/>
                    </a:lnTo>
                    <a:lnTo>
                      <a:pt x="49968" y="0"/>
                    </a:lnTo>
                    <a:close/>
                  </a:path>
                </a:pathLst>
              </a:custGeom>
              <a:solidFill>
                <a:srgbClr val="6C6C6C"/>
              </a:solidFill>
            </p:spPr>
            <p:txBody>
              <a:bodyPr wrap="square" lIns="0" tIns="0" rIns="0" bIns="0" rtlCol="0"/>
              <a:lstStyle/>
              <a:p>
                <a:endParaRPr sz="1588"/>
              </a:p>
            </p:txBody>
          </p:sp>
          <p:sp>
            <p:nvSpPr>
              <p:cNvPr id="32" name="object 32"/>
              <p:cNvSpPr/>
              <p:nvPr/>
            </p:nvSpPr>
            <p:spPr>
              <a:xfrm>
                <a:off x="5069715" y="2685937"/>
                <a:ext cx="618490" cy="469900"/>
              </a:xfrm>
              <a:custGeom>
                <a:avLst/>
                <a:gdLst/>
                <a:ahLst/>
                <a:cxnLst/>
                <a:rect l="l" t="t" r="r" b="b"/>
                <a:pathLst>
                  <a:path w="618489" h="469900">
                    <a:moveTo>
                      <a:pt x="0" y="0"/>
                    </a:moveTo>
                    <a:lnTo>
                      <a:pt x="618150" y="0"/>
                    </a:lnTo>
                    <a:lnTo>
                      <a:pt x="618150" y="469394"/>
                    </a:lnTo>
                    <a:lnTo>
                      <a:pt x="0" y="469394"/>
                    </a:lnTo>
                    <a:lnTo>
                      <a:pt x="0" y="0"/>
                    </a:lnTo>
                    <a:close/>
                  </a:path>
                </a:pathLst>
              </a:custGeom>
              <a:ln w="9524">
                <a:solidFill>
                  <a:srgbClr val="66A1DD"/>
                </a:solidFill>
              </a:ln>
            </p:spPr>
            <p:txBody>
              <a:bodyPr wrap="square" lIns="0" tIns="0" rIns="0" bIns="0" rtlCol="0"/>
              <a:lstStyle/>
              <a:p>
                <a:endParaRPr sz="1588"/>
              </a:p>
            </p:txBody>
          </p:sp>
        </p:grpSp>
        <p:grpSp>
          <p:nvGrpSpPr>
            <p:cNvPr id="33" name="object 33"/>
            <p:cNvGrpSpPr/>
            <p:nvPr/>
          </p:nvGrpSpPr>
          <p:grpSpPr>
            <a:xfrm>
              <a:off x="6777109" y="2188197"/>
              <a:ext cx="315071" cy="556975"/>
              <a:chOff x="5196338" y="2072351"/>
              <a:chExt cx="116839" cy="370439"/>
            </a:xfrm>
          </p:grpSpPr>
          <p:sp>
            <p:nvSpPr>
              <p:cNvPr id="34" name="object 34"/>
              <p:cNvSpPr/>
              <p:nvPr/>
            </p:nvSpPr>
            <p:spPr>
              <a:xfrm>
                <a:off x="5196338" y="2072351"/>
                <a:ext cx="116839" cy="333376"/>
              </a:xfrm>
              <a:custGeom>
                <a:avLst/>
                <a:gdLst/>
                <a:ahLst/>
                <a:cxnLst/>
                <a:rect l="l" t="t" r="r" b="b"/>
                <a:pathLst>
                  <a:path w="116839" h="333375">
                    <a:moveTo>
                      <a:pt x="111918" y="0"/>
                    </a:moveTo>
                    <a:lnTo>
                      <a:pt x="71437" y="11112"/>
                    </a:lnTo>
                    <a:lnTo>
                      <a:pt x="10318" y="32543"/>
                    </a:lnTo>
                    <a:lnTo>
                      <a:pt x="0" y="42862"/>
                    </a:lnTo>
                    <a:lnTo>
                      <a:pt x="3968" y="47624"/>
                    </a:lnTo>
                    <a:lnTo>
                      <a:pt x="15081" y="52387"/>
                    </a:lnTo>
                    <a:lnTo>
                      <a:pt x="31749" y="56356"/>
                    </a:lnTo>
                    <a:lnTo>
                      <a:pt x="50799" y="61118"/>
                    </a:lnTo>
                    <a:lnTo>
                      <a:pt x="87312" y="69849"/>
                    </a:lnTo>
                    <a:lnTo>
                      <a:pt x="100012" y="75406"/>
                    </a:lnTo>
                    <a:lnTo>
                      <a:pt x="106362" y="81756"/>
                    </a:lnTo>
                    <a:lnTo>
                      <a:pt x="105568" y="88899"/>
                    </a:lnTo>
                    <a:lnTo>
                      <a:pt x="99218" y="96837"/>
                    </a:lnTo>
                    <a:lnTo>
                      <a:pt x="75406" y="115093"/>
                    </a:lnTo>
                    <a:lnTo>
                      <a:pt x="50799" y="133349"/>
                    </a:lnTo>
                    <a:lnTo>
                      <a:pt x="42862" y="142081"/>
                    </a:lnTo>
                    <a:lnTo>
                      <a:pt x="77787" y="170656"/>
                    </a:lnTo>
                    <a:lnTo>
                      <a:pt x="103187" y="180181"/>
                    </a:lnTo>
                    <a:lnTo>
                      <a:pt x="112712" y="185737"/>
                    </a:lnTo>
                    <a:lnTo>
                      <a:pt x="116681" y="192087"/>
                    </a:lnTo>
                    <a:lnTo>
                      <a:pt x="115887" y="199231"/>
                    </a:lnTo>
                    <a:lnTo>
                      <a:pt x="111125" y="207962"/>
                    </a:lnTo>
                    <a:lnTo>
                      <a:pt x="95249" y="225424"/>
                    </a:lnTo>
                    <a:lnTo>
                      <a:pt x="76199" y="244474"/>
                    </a:lnTo>
                    <a:lnTo>
                      <a:pt x="65881" y="263524"/>
                    </a:lnTo>
                    <a:lnTo>
                      <a:pt x="67468" y="282574"/>
                    </a:lnTo>
                    <a:lnTo>
                      <a:pt x="75406" y="303212"/>
                    </a:lnTo>
                    <a:lnTo>
                      <a:pt x="84931" y="322262"/>
                    </a:lnTo>
                    <a:lnTo>
                      <a:pt x="87596" y="332925"/>
                    </a:lnTo>
                  </a:path>
                </a:pathLst>
              </a:custGeom>
              <a:ln w="8312">
                <a:solidFill>
                  <a:srgbClr val="6C6C6C"/>
                </a:solidFill>
              </a:ln>
            </p:spPr>
            <p:txBody>
              <a:bodyPr wrap="square" lIns="0" tIns="0" rIns="0" bIns="0" rtlCol="0"/>
              <a:lstStyle/>
              <a:p>
                <a:endParaRPr sz="1588"/>
              </a:p>
            </p:txBody>
          </p:sp>
          <p:sp>
            <p:nvSpPr>
              <p:cNvPr id="35" name="object 35"/>
              <p:cNvSpPr/>
              <p:nvPr/>
            </p:nvSpPr>
            <p:spPr>
              <a:xfrm>
                <a:off x="5250049" y="2362145"/>
                <a:ext cx="49530" cy="80645"/>
              </a:xfrm>
              <a:custGeom>
                <a:avLst/>
                <a:gdLst/>
                <a:ahLst/>
                <a:cxnLst/>
                <a:rect l="l" t="t" r="r" b="b"/>
                <a:pathLst>
                  <a:path w="49529" h="80644">
                    <a:moveTo>
                      <a:pt x="49283" y="0"/>
                    </a:moveTo>
                    <a:lnTo>
                      <a:pt x="0" y="12321"/>
                    </a:lnTo>
                    <a:lnTo>
                      <a:pt x="43122" y="80086"/>
                    </a:lnTo>
                    <a:lnTo>
                      <a:pt x="49283" y="0"/>
                    </a:lnTo>
                    <a:close/>
                  </a:path>
                </a:pathLst>
              </a:custGeom>
              <a:solidFill>
                <a:srgbClr val="6C6C6C"/>
              </a:solidFill>
            </p:spPr>
            <p:txBody>
              <a:bodyPr wrap="square" lIns="0" tIns="0" rIns="0" bIns="0" rtlCol="0"/>
              <a:lstStyle/>
              <a:p>
                <a:endParaRPr sz="1588"/>
              </a:p>
            </p:txBody>
          </p:sp>
        </p:grpSp>
        <p:grpSp>
          <p:nvGrpSpPr>
            <p:cNvPr id="36" name="object 36"/>
            <p:cNvGrpSpPr/>
            <p:nvPr/>
          </p:nvGrpSpPr>
          <p:grpSpPr>
            <a:xfrm>
              <a:off x="3479467" y="3859832"/>
              <a:ext cx="2557653" cy="1424628"/>
              <a:chOff x="5001978" y="3265486"/>
              <a:chExt cx="2181225" cy="1259840"/>
            </a:xfrm>
          </p:grpSpPr>
          <p:pic>
            <p:nvPicPr>
              <p:cNvPr id="37" name="object 37"/>
              <p:cNvPicPr/>
              <p:nvPr/>
            </p:nvPicPr>
            <p:blipFill>
              <a:blip r:embed="rId3" cstate="print"/>
              <a:stretch>
                <a:fillRect/>
              </a:stretch>
            </p:blipFill>
            <p:spPr>
              <a:xfrm>
                <a:off x="5096743" y="3400938"/>
                <a:ext cx="1933594" cy="478919"/>
              </a:xfrm>
              <a:prstGeom prst="rect">
                <a:avLst/>
              </a:prstGeom>
            </p:spPr>
          </p:pic>
          <p:pic>
            <p:nvPicPr>
              <p:cNvPr id="38" name="object 38"/>
              <p:cNvPicPr/>
              <p:nvPr/>
            </p:nvPicPr>
            <p:blipFill>
              <a:blip r:embed="rId4" cstate="print"/>
              <a:stretch>
                <a:fillRect/>
              </a:stretch>
            </p:blipFill>
            <p:spPr>
              <a:xfrm>
                <a:off x="5103511" y="3908953"/>
                <a:ext cx="1933595" cy="478919"/>
              </a:xfrm>
              <a:prstGeom prst="rect">
                <a:avLst/>
              </a:prstGeom>
            </p:spPr>
          </p:pic>
          <p:sp>
            <p:nvSpPr>
              <p:cNvPr id="39" name="object 39"/>
              <p:cNvSpPr/>
              <p:nvPr/>
            </p:nvSpPr>
            <p:spPr>
              <a:xfrm>
                <a:off x="5001978" y="3265486"/>
                <a:ext cx="2181225" cy="1259840"/>
              </a:xfrm>
              <a:custGeom>
                <a:avLst/>
                <a:gdLst/>
                <a:ahLst/>
                <a:cxnLst/>
                <a:rect l="l" t="t" r="r" b="b"/>
                <a:pathLst>
                  <a:path w="2181225" h="1259839">
                    <a:moveTo>
                      <a:pt x="0" y="0"/>
                    </a:moveTo>
                    <a:lnTo>
                      <a:pt x="2181013" y="0"/>
                    </a:lnTo>
                    <a:lnTo>
                      <a:pt x="2181013" y="1259839"/>
                    </a:lnTo>
                    <a:lnTo>
                      <a:pt x="0" y="1259839"/>
                    </a:lnTo>
                    <a:lnTo>
                      <a:pt x="0" y="0"/>
                    </a:lnTo>
                    <a:close/>
                  </a:path>
                </a:pathLst>
              </a:custGeom>
              <a:ln w="9524">
                <a:solidFill>
                  <a:srgbClr val="617335"/>
                </a:solidFill>
              </a:ln>
            </p:spPr>
            <p:txBody>
              <a:bodyPr wrap="square" lIns="0" tIns="0" rIns="0" bIns="0" rtlCol="0"/>
              <a:lstStyle/>
              <a:p>
                <a:endParaRPr sz="1588"/>
              </a:p>
            </p:txBody>
          </p:sp>
        </p:grpSp>
        <p:pic>
          <p:nvPicPr>
            <p:cNvPr id="40" name="object 4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126342" y="5013945"/>
              <a:ext cx="1601334" cy="1803986"/>
            </a:xfrm>
            <a:prstGeom prst="rect">
              <a:avLst/>
            </a:prstGeom>
          </p:spPr>
        </p:pic>
        <p:sp>
          <p:nvSpPr>
            <p:cNvPr id="44" name="object 44"/>
            <p:cNvSpPr txBox="1"/>
            <p:nvPr/>
          </p:nvSpPr>
          <p:spPr>
            <a:xfrm>
              <a:off x="8426522" y="3198745"/>
              <a:ext cx="1881510" cy="385097"/>
            </a:xfrm>
            <a:prstGeom prst="rect">
              <a:avLst/>
            </a:prstGeom>
            <a:solidFill>
              <a:srgbClr val="A74A44"/>
            </a:solidFill>
            <a:ln w="9524">
              <a:solidFill>
                <a:srgbClr val="5B92C7"/>
              </a:solidFill>
            </a:ln>
          </p:spPr>
          <p:txBody>
            <a:bodyPr vert="horz" wrap="square" lIns="0" tIns="54348" rIns="0" bIns="0" rtlCol="0">
              <a:spAutoFit/>
            </a:bodyPr>
            <a:lstStyle/>
            <a:p>
              <a:pPr marL="372615" marR="174821" indent="-186028">
                <a:lnSpc>
                  <a:spcPts val="1235"/>
                </a:lnSpc>
                <a:spcBef>
                  <a:spcPts val="427"/>
                </a:spcBef>
              </a:pPr>
              <a:r>
                <a:rPr dirty="0">
                  <a:solidFill>
                    <a:srgbClr val="FFFFFF"/>
                  </a:solidFill>
                  <a:latin typeface="Calibri"/>
                  <a:cs typeface="Calibri"/>
                </a:rPr>
                <a:t>Shared</a:t>
              </a:r>
              <a:r>
                <a:rPr lang="en-GB" dirty="0">
                  <a:solidFill>
                    <a:srgbClr val="FFFFFF"/>
                  </a:solidFill>
                  <a:latin typeface="Calibri"/>
                  <a:cs typeface="Calibri"/>
                </a:rPr>
                <a:t> </a:t>
              </a:r>
              <a:r>
                <a:rPr spc="-9" dirty="0">
                  <a:solidFill>
                    <a:srgbClr val="FFFFFF"/>
                  </a:solidFill>
                  <a:latin typeface="Calibri"/>
                  <a:cs typeface="Calibri"/>
                </a:rPr>
                <a:t>Memory </a:t>
              </a:r>
              <a:r>
                <a:rPr dirty="0">
                  <a:solidFill>
                    <a:srgbClr val="FFFFFF"/>
                  </a:solidFill>
                  <a:latin typeface="Calibri"/>
                  <a:cs typeface="Calibri"/>
                </a:rPr>
                <a:t>per</a:t>
              </a:r>
              <a:r>
                <a:rPr spc="-4" dirty="0">
                  <a:solidFill>
                    <a:srgbClr val="FFFFFF"/>
                  </a:solidFill>
                  <a:latin typeface="Calibri"/>
                  <a:cs typeface="Calibri"/>
                </a:rPr>
                <a:t> </a:t>
              </a:r>
              <a:r>
                <a:rPr spc="-9" dirty="0">
                  <a:solidFill>
                    <a:srgbClr val="FFFFFF"/>
                  </a:solidFill>
                  <a:latin typeface="Calibri"/>
                  <a:cs typeface="Calibri"/>
                </a:rPr>
                <a:t>Block</a:t>
              </a:r>
              <a:endParaRPr dirty="0">
                <a:latin typeface="Calibri"/>
                <a:cs typeface="Calibri"/>
              </a:endParaRPr>
            </a:p>
          </p:txBody>
        </p:sp>
        <p:sp>
          <p:nvSpPr>
            <p:cNvPr id="45" name="object 45"/>
            <p:cNvSpPr txBox="1"/>
            <p:nvPr/>
          </p:nvSpPr>
          <p:spPr>
            <a:xfrm>
              <a:off x="8383686" y="4002547"/>
              <a:ext cx="488724" cy="2659716"/>
            </a:xfrm>
            <a:prstGeom prst="rect">
              <a:avLst/>
            </a:prstGeom>
            <a:solidFill>
              <a:srgbClr val="A59B67"/>
            </a:solidFill>
            <a:ln w="9524">
              <a:solidFill>
                <a:srgbClr val="5B92C7"/>
              </a:solidFill>
            </a:ln>
          </p:spPr>
          <p:txBody>
            <a:bodyPr vert="vert270" wrap="square" lIns="0" tIns="7844" rIns="0" bIns="0" rtlCol="0">
              <a:spAutoFit/>
            </a:bodyPr>
            <a:lstStyle/>
            <a:p>
              <a:pPr>
                <a:spcBef>
                  <a:spcPts val="62"/>
                </a:spcBef>
              </a:pPr>
              <a:endParaRPr sz="1588" dirty="0">
                <a:latin typeface="Times New Roman"/>
                <a:cs typeface="Times New Roman"/>
              </a:endParaRPr>
            </a:p>
            <a:p>
              <a:pPr marL="694241"/>
              <a:r>
                <a:rPr sz="1588" b="1" dirty="0">
                  <a:solidFill>
                    <a:schemeClr val="bg1"/>
                  </a:solidFill>
                  <a:latin typeface="Calibri"/>
                  <a:cs typeface="Calibri"/>
                </a:rPr>
                <a:t>Global</a:t>
              </a:r>
              <a:r>
                <a:rPr sz="1588" b="1" spc="-40" dirty="0">
                  <a:solidFill>
                    <a:schemeClr val="bg1"/>
                  </a:solidFill>
                  <a:latin typeface="Calibri"/>
                  <a:cs typeface="Calibri"/>
                </a:rPr>
                <a:t> </a:t>
              </a:r>
              <a:r>
                <a:rPr sz="1588" b="1" spc="-9" dirty="0">
                  <a:solidFill>
                    <a:schemeClr val="bg1"/>
                  </a:solidFill>
                  <a:latin typeface="Calibri"/>
                  <a:cs typeface="Calibri"/>
                </a:rPr>
                <a:t>Memory</a:t>
              </a:r>
              <a:endParaRPr sz="1588" b="1" dirty="0">
                <a:solidFill>
                  <a:schemeClr val="bg1"/>
                </a:solidFill>
                <a:latin typeface="Calibri"/>
                <a:cs typeface="Calibri"/>
              </a:endParaRPr>
            </a:p>
          </p:txBody>
        </p:sp>
        <p:grpSp>
          <p:nvGrpSpPr>
            <p:cNvPr id="46" name="object 46"/>
            <p:cNvGrpSpPr/>
            <p:nvPr/>
          </p:nvGrpSpPr>
          <p:grpSpPr>
            <a:xfrm>
              <a:off x="8375337" y="2337468"/>
              <a:ext cx="2009250" cy="498763"/>
              <a:chOff x="7881389" y="2044933"/>
              <a:chExt cx="1512916" cy="565265"/>
            </a:xfrm>
          </p:grpSpPr>
          <p:pic>
            <p:nvPicPr>
              <p:cNvPr id="47" name="object 47"/>
              <p:cNvPicPr/>
              <p:nvPr/>
            </p:nvPicPr>
            <p:blipFill>
              <a:blip r:embed="rId6" cstate="print"/>
              <a:stretch>
                <a:fillRect/>
              </a:stretch>
            </p:blipFill>
            <p:spPr>
              <a:xfrm>
                <a:off x="7881389" y="2044933"/>
                <a:ext cx="1512916" cy="565265"/>
              </a:xfrm>
              <a:prstGeom prst="rect">
                <a:avLst/>
              </a:prstGeom>
            </p:spPr>
          </p:pic>
          <p:pic>
            <p:nvPicPr>
              <p:cNvPr id="48" name="object 48"/>
              <p:cNvPicPr/>
              <p:nvPr/>
            </p:nvPicPr>
            <p:blipFill>
              <a:blip r:embed="rId7" cstate="print"/>
              <a:stretch>
                <a:fillRect/>
              </a:stretch>
            </p:blipFill>
            <p:spPr>
              <a:xfrm>
                <a:off x="8001924" y="2074024"/>
                <a:ext cx="1271846" cy="511232"/>
              </a:xfrm>
              <a:prstGeom prst="rect">
                <a:avLst/>
              </a:prstGeom>
            </p:spPr>
          </p:pic>
          <p:pic>
            <p:nvPicPr>
              <p:cNvPr id="49" name="object 49"/>
              <p:cNvPicPr/>
              <p:nvPr/>
            </p:nvPicPr>
            <p:blipFill>
              <a:blip r:embed="rId8" cstate="print"/>
              <a:stretch>
                <a:fillRect/>
              </a:stretch>
            </p:blipFill>
            <p:spPr>
              <a:xfrm>
                <a:off x="7930339" y="2072344"/>
                <a:ext cx="1415243" cy="466344"/>
              </a:xfrm>
              <a:prstGeom prst="rect">
                <a:avLst/>
              </a:prstGeom>
            </p:spPr>
          </p:pic>
        </p:grpSp>
        <p:sp>
          <p:nvSpPr>
            <p:cNvPr id="50" name="object 50"/>
            <p:cNvSpPr txBox="1"/>
            <p:nvPr/>
          </p:nvSpPr>
          <p:spPr>
            <a:xfrm>
              <a:off x="8420133" y="2416403"/>
              <a:ext cx="1806805" cy="383966"/>
            </a:xfrm>
            <a:prstGeom prst="rect">
              <a:avLst/>
            </a:prstGeom>
            <a:ln w="9524">
              <a:noFill/>
            </a:ln>
          </p:spPr>
          <p:txBody>
            <a:bodyPr vert="horz" wrap="square" lIns="0" tIns="53228" rIns="0" bIns="0" rtlCol="0">
              <a:spAutoFit/>
            </a:bodyPr>
            <a:lstStyle/>
            <a:p>
              <a:pPr marL="434251" marR="118228" indent="-304256">
                <a:lnSpc>
                  <a:spcPts val="1235"/>
                </a:lnSpc>
                <a:spcBef>
                  <a:spcPts val="419"/>
                </a:spcBef>
              </a:pPr>
              <a:r>
                <a:rPr dirty="0">
                  <a:solidFill>
                    <a:srgbClr val="FFFFFF"/>
                  </a:solidFill>
                  <a:latin typeface="Calibri"/>
                  <a:cs typeface="Calibri"/>
                </a:rPr>
                <a:t>Local</a:t>
              </a:r>
              <a:r>
                <a:rPr spc="-22" dirty="0">
                  <a:solidFill>
                    <a:srgbClr val="FFFFFF"/>
                  </a:solidFill>
                  <a:latin typeface="Calibri"/>
                  <a:cs typeface="Calibri"/>
                </a:rPr>
                <a:t> </a:t>
              </a:r>
              <a:r>
                <a:rPr dirty="0">
                  <a:solidFill>
                    <a:srgbClr val="FFFFFF"/>
                  </a:solidFill>
                  <a:latin typeface="Calibri"/>
                  <a:cs typeface="Calibri"/>
                </a:rPr>
                <a:t>Memory</a:t>
              </a:r>
              <a:r>
                <a:rPr spc="-22" dirty="0">
                  <a:solidFill>
                    <a:srgbClr val="FFFFFF"/>
                  </a:solidFill>
                  <a:latin typeface="Calibri"/>
                  <a:cs typeface="Calibri"/>
                </a:rPr>
                <a:t> per </a:t>
              </a:r>
              <a:r>
                <a:rPr spc="-9" dirty="0">
                  <a:solidFill>
                    <a:srgbClr val="FFFFFF"/>
                  </a:solidFill>
                  <a:latin typeface="Calibri"/>
                  <a:cs typeface="Calibri"/>
                </a:rPr>
                <a:t>Thread</a:t>
              </a:r>
              <a:endParaRPr dirty="0">
                <a:latin typeface="Calibri"/>
                <a:cs typeface="Calibri"/>
              </a:endParaRPr>
            </a:p>
          </p:txBody>
        </p:sp>
        <p:sp>
          <p:nvSpPr>
            <p:cNvPr id="51" name="object 51"/>
            <p:cNvSpPr/>
            <p:nvPr/>
          </p:nvSpPr>
          <p:spPr>
            <a:xfrm>
              <a:off x="7212187" y="2535525"/>
              <a:ext cx="1080000" cy="129988"/>
            </a:xfrm>
            <a:custGeom>
              <a:avLst/>
              <a:gdLst/>
              <a:ahLst/>
              <a:cxnLst/>
              <a:rect l="l" t="t" r="r" b="b"/>
              <a:pathLst>
                <a:path w="1599565" h="147319">
                  <a:moveTo>
                    <a:pt x="0" y="73411"/>
                  </a:moveTo>
                  <a:lnTo>
                    <a:pt x="73411" y="0"/>
                  </a:lnTo>
                  <a:lnTo>
                    <a:pt x="73411" y="36705"/>
                  </a:lnTo>
                  <a:lnTo>
                    <a:pt x="1525997" y="36705"/>
                  </a:lnTo>
                  <a:lnTo>
                    <a:pt x="1525997" y="0"/>
                  </a:lnTo>
                  <a:lnTo>
                    <a:pt x="1599408" y="73411"/>
                  </a:lnTo>
                  <a:lnTo>
                    <a:pt x="1525997" y="146822"/>
                  </a:lnTo>
                  <a:lnTo>
                    <a:pt x="1525997" y="110116"/>
                  </a:lnTo>
                  <a:lnTo>
                    <a:pt x="73411" y="110116"/>
                  </a:lnTo>
                  <a:lnTo>
                    <a:pt x="73411" y="146822"/>
                  </a:lnTo>
                  <a:lnTo>
                    <a:pt x="0" y="73411"/>
                  </a:lnTo>
                  <a:close/>
                </a:path>
              </a:pathLst>
            </a:custGeom>
            <a:ln w="9524">
              <a:solidFill>
                <a:srgbClr val="6C6C6C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52" name="object 52"/>
            <p:cNvSpPr/>
            <p:nvPr/>
          </p:nvSpPr>
          <p:spPr>
            <a:xfrm>
              <a:off x="6962147" y="3347061"/>
              <a:ext cx="1411381" cy="129988"/>
            </a:xfrm>
            <a:custGeom>
              <a:avLst/>
              <a:gdLst/>
              <a:ahLst/>
              <a:cxnLst/>
              <a:rect l="l" t="t" r="r" b="b"/>
              <a:pathLst>
                <a:path w="1599565" h="147319">
                  <a:moveTo>
                    <a:pt x="0" y="73411"/>
                  </a:moveTo>
                  <a:lnTo>
                    <a:pt x="73411" y="0"/>
                  </a:lnTo>
                  <a:lnTo>
                    <a:pt x="73411" y="36705"/>
                  </a:lnTo>
                  <a:lnTo>
                    <a:pt x="1525997" y="36705"/>
                  </a:lnTo>
                  <a:lnTo>
                    <a:pt x="1525997" y="0"/>
                  </a:lnTo>
                  <a:lnTo>
                    <a:pt x="1599408" y="73411"/>
                  </a:lnTo>
                  <a:lnTo>
                    <a:pt x="1525997" y="146822"/>
                  </a:lnTo>
                  <a:lnTo>
                    <a:pt x="1525997" y="110116"/>
                  </a:lnTo>
                  <a:lnTo>
                    <a:pt x="73411" y="110116"/>
                  </a:lnTo>
                  <a:lnTo>
                    <a:pt x="73411" y="146822"/>
                  </a:lnTo>
                  <a:lnTo>
                    <a:pt x="0" y="73411"/>
                  </a:lnTo>
                  <a:close/>
                </a:path>
              </a:pathLst>
            </a:custGeom>
            <a:ln w="9524">
              <a:solidFill>
                <a:srgbClr val="6C6C6C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grpSp>
          <p:nvGrpSpPr>
            <p:cNvPr id="53" name="object 53"/>
            <p:cNvGrpSpPr/>
            <p:nvPr/>
          </p:nvGrpSpPr>
          <p:grpSpPr>
            <a:xfrm>
              <a:off x="6195703" y="3978123"/>
              <a:ext cx="3472379" cy="2746867"/>
              <a:chOff x="5450625" y="3237806"/>
              <a:chExt cx="3935364" cy="3113116"/>
            </a:xfrm>
          </p:grpSpPr>
          <p:sp>
            <p:nvSpPr>
              <p:cNvPr id="54" name="object 54"/>
              <p:cNvSpPr/>
              <p:nvPr/>
            </p:nvSpPr>
            <p:spPr>
              <a:xfrm>
                <a:off x="5450625" y="3565267"/>
                <a:ext cx="2407201" cy="147320"/>
              </a:xfrm>
              <a:custGeom>
                <a:avLst/>
                <a:gdLst/>
                <a:ahLst/>
                <a:cxnLst/>
                <a:rect l="l" t="t" r="r" b="b"/>
                <a:pathLst>
                  <a:path w="640079" h="147320">
                    <a:moveTo>
                      <a:pt x="0" y="73411"/>
                    </a:moveTo>
                    <a:lnTo>
                      <a:pt x="73411" y="0"/>
                    </a:lnTo>
                    <a:lnTo>
                      <a:pt x="73411" y="36705"/>
                    </a:lnTo>
                    <a:lnTo>
                      <a:pt x="566669" y="36705"/>
                    </a:lnTo>
                    <a:lnTo>
                      <a:pt x="566669" y="0"/>
                    </a:lnTo>
                    <a:lnTo>
                      <a:pt x="640079" y="73411"/>
                    </a:lnTo>
                    <a:lnTo>
                      <a:pt x="566669" y="146822"/>
                    </a:lnTo>
                    <a:lnTo>
                      <a:pt x="566669" y="110116"/>
                    </a:lnTo>
                    <a:lnTo>
                      <a:pt x="73411" y="110116"/>
                    </a:lnTo>
                    <a:lnTo>
                      <a:pt x="73411" y="146822"/>
                    </a:lnTo>
                    <a:lnTo>
                      <a:pt x="0" y="73411"/>
                    </a:lnTo>
                    <a:close/>
                  </a:path>
                </a:pathLst>
              </a:custGeom>
              <a:ln w="9524">
                <a:solidFill>
                  <a:srgbClr val="6C6C6C"/>
                </a:solidFill>
              </a:ln>
            </p:spPr>
            <p:txBody>
              <a:bodyPr wrap="square" lIns="0" tIns="0" rIns="0" bIns="0" rtlCol="0"/>
              <a:lstStyle/>
              <a:p>
                <a:endParaRPr sz="1588"/>
              </a:p>
            </p:txBody>
          </p:sp>
          <p:sp>
            <p:nvSpPr>
              <p:cNvPr id="55" name="object 55"/>
              <p:cNvSpPr/>
              <p:nvPr/>
            </p:nvSpPr>
            <p:spPr>
              <a:xfrm>
                <a:off x="7271459" y="5231974"/>
                <a:ext cx="571200" cy="147320"/>
              </a:xfrm>
              <a:custGeom>
                <a:avLst/>
                <a:gdLst/>
                <a:ahLst/>
                <a:cxnLst/>
                <a:rect l="l" t="t" r="r" b="b"/>
                <a:pathLst>
                  <a:path w="1143000" h="147320">
                    <a:moveTo>
                      <a:pt x="0" y="73411"/>
                    </a:moveTo>
                    <a:lnTo>
                      <a:pt x="73411" y="0"/>
                    </a:lnTo>
                    <a:lnTo>
                      <a:pt x="73411" y="36705"/>
                    </a:lnTo>
                    <a:lnTo>
                      <a:pt x="1069588" y="36705"/>
                    </a:lnTo>
                    <a:lnTo>
                      <a:pt x="1069588" y="0"/>
                    </a:lnTo>
                    <a:lnTo>
                      <a:pt x="1142999" y="73411"/>
                    </a:lnTo>
                    <a:lnTo>
                      <a:pt x="1069588" y="146822"/>
                    </a:lnTo>
                    <a:lnTo>
                      <a:pt x="1069588" y="110116"/>
                    </a:lnTo>
                    <a:lnTo>
                      <a:pt x="73411" y="110116"/>
                    </a:lnTo>
                    <a:lnTo>
                      <a:pt x="73411" y="146822"/>
                    </a:lnTo>
                    <a:lnTo>
                      <a:pt x="0" y="73411"/>
                    </a:lnTo>
                    <a:close/>
                  </a:path>
                </a:pathLst>
              </a:custGeom>
              <a:ln w="9524">
                <a:solidFill>
                  <a:srgbClr val="6C6C6C"/>
                </a:solidFill>
              </a:ln>
            </p:spPr>
            <p:txBody>
              <a:bodyPr wrap="square" lIns="0" tIns="0" rIns="0" bIns="0" rtlCol="0"/>
              <a:lstStyle/>
              <a:p>
                <a:endParaRPr sz="1588"/>
              </a:p>
            </p:txBody>
          </p:sp>
          <p:pic>
            <p:nvPicPr>
              <p:cNvPr id="56" name="object 56"/>
              <p:cNvPicPr/>
              <p:nvPr/>
            </p:nvPicPr>
            <p:blipFill>
              <a:blip r:embed="rId9" cstate="print"/>
              <a:stretch>
                <a:fillRect/>
              </a:stretch>
            </p:blipFill>
            <p:spPr>
              <a:xfrm>
                <a:off x="8845662" y="3237806"/>
                <a:ext cx="540327" cy="3113116"/>
              </a:xfrm>
              <a:prstGeom prst="rect">
                <a:avLst/>
              </a:prstGeom>
            </p:spPr>
          </p:pic>
          <p:pic>
            <p:nvPicPr>
              <p:cNvPr id="57" name="object 57"/>
              <p:cNvPicPr/>
              <p:nvPr/>
            </p:nvPicPr>
            <p:blipFill>
              <a:blip r:embed="rId10" cstate="print"/>
              <a:stretch>
                <a:fillRect/>
              </a:stretch>
            </p:blipFill>
            <p:spPr>
              <a:xfrm>
                <a:off x="8908000" y="3886200"/>
                <a:ext cx="432261" cy="1820486"/>
              </a:xfrm>
              <a:prstGeom prst="rect">
                <a:avLst/>
              </a:prstGeom>
            </p:spPr>
          </p:pic>
          <p:sp>
            <p:nvSpPr>
              <p:cNvPr id="58" name="object 58"/>
              <p:cNvSpPr/>
              <p:nvPr/>
            </p:nvSpPr>
            <p:spPr>
              <a:xfrm>
                <a:off x="8896467" y="3265032"/>
                <a:ext cx="439419" cy="3014345"/>
              </a:xfrm>
              <a:custGeom>
                <a:avLst/>
                <a:gdLst/>
                <a:ahLst/>
                <a:cxnLst/>
                <a:rect l="l" t="t" r="r" b="b"/>
                <a:pathLst>
                  <a:path w="439420" h="3014345">
                    <a:moveTo>
                      <a:pt x="438956" y="0"/>
                    </a:moveTo>
                    <a:lnTo>
                      <a:pt x="0" y="0"/>
                    </a:lnTo>
                    <a:lnTo>
                      <a:pt x="0" y="3014117"/>
                    </a:lnTo>
                    <a:lnTo>
                      <a:pt x="438956" y="3014117"/>
                    </a:lnTo>
                    <a:lnTo>
                      <a:pt x="438956" y="0"/>
                    </a:lnTo>
                    <a:close/>
                  </a:path>
                </a:pathLst>
              </a:custGeom>
              <a:solidFill>
                <a:srgbClr val="A59B67"/>
              </a:solidFill>
            </p:spPr>
            <p:txBody>
              <a:bodyPr wrap="square" lIns="0" tIns="0" rIns="0" bIns="0" rtlCol="0"/>
              <a:lstStyle/>
              <a:p>
                <a:endParaRPr sz="1588"/>
              </a:p>
            </p:txBody>
          </p:sp>
        </p:grpSp>
        <p:sp>
          <p:nvSpPr>
            <p:cNvPr id="59" name="object 59"/>
            <p:cNvSpPr txBox="1"/>
            <p:nvPr/>
          </p:nvSpPr>
          <p:spPr>
            <a:xfrm>
              <a:off x="6156664" y="3041712"/>
              <a:ext cx="448795" cy="174309"/>
            </a:xfrm>
            <a:prstGeom prst="rect">
              <a:avLst/>
            </a:prstGeom>
          </p:spPr>
          <p:txBody>
            <a:bodyPr vert="horz" wrap="square" lIns="0" tIns="11206" rIns="0" bIns="0" rtlCol="0">
              <a:spAutoFit/>
            </a:bodyPr>
            <a:lstStyle/>
            <a:p>
              <a:pPr marL="11206">
                <a:spcBef>
                  <a:spcPts val="88"/>
                </a:spcBef>
              </a:pPr>
              <a:r>
                <a:rPr sz="1059" spc="-9" dirty="0">
                  <a:latin typeface="Arial MT"/>
                  <a:cs typeface="Arial MT"/>
                </a:rPr>
                <a:t>Thread</a:t>
              </a:r>
              <a:endParaRPr sz="1059">
                <a:latin typeface="Arial MT"/>
                <a:cs typeface="Arial MT"/>
              </a:endParaRPr>
            </a:p>
          </p:txBody>
        </p:sp>
        <p:sp>
          <p:nvSpPr>
            <p:cNvPr id="60" name="object 60"/>
            <p:cNvSpPr txBox="1"/>
            <p:nvPr/>
          </p:nvSpPr>
          <p:spPr>
            <a:xfrm>
              <a:off x="5909177" y="3286122"/>
              <a:ext cx="351304" cy="174309"/>
            </a:xfrm>
            <a:prstGeom prst="rect">
              <a:avLst/>
            </a:prstGeom>
          </p:spPr>
          <p:txBody>
            <a:bodyPr vert="horz" wrap="square" lIns="0" tIns="11206" rIns="0" bIns="0" rtlCol="0">
              <a:spAutoFit/>
            </a:bodyPr>
            <a:lstStyle/>
            <a:p>
              <a:pPr marL="11206">
                <a:spcBef>
                  <a:spcPts val="88"/>
                </a:spcBef>
              </a:pPr>
              <a:r>
                <a:rPr sz="1059" spc="-18" dirty="0">
                  <a:latin typeface="Arial MT"/>
                  <a:cs typeface="Arial MT"/>
                </a:rPr>
                <a:t>Block</a:t>
              </a:r>
              <a:endParaRPr sz="1059">
                <a:latin typeface="Arial MT"/>
                <a:cs typeface="Arial MT"/>
              </a:endParaRPr>
            </a:p>
          </p:txBody>
        </p:sp>
        <p:sp>
          <p:nvSpPr>
            <p:cNvPr id="61" name="object 61"/>
            <p:cNvSpPr txBox="1"/>
            <p:nvPr/>
          </p:nvSpPr>
          <p:spPr>
            <a:xfrm>
              <a:off x="7414472" y="5098441"/>
              <a:ext cx="313204" cy="153983"/>
            </a:xfrm>
            <a:prstGeom prst="rect">
              <a:avLst/>
            </a:prstGeom>
          </p:spPr>
          <p:txBody>
            <a:bodyPr vert="horz" wrap="square" lIns="0" tIns="11206" rIns="0" bIns="0" rtlCol="0">
              <a:spAutoFit/>
            </a:bodyPr>
            <a:lstStyle/>
            <a:p>
              <a:pPr marL="11206">
                <a:spcBef>
                  <a:spcPts val="88"/>
                </a:spcBef>
              </a:pPr>
              <a:r>
                <a:rPr sz="927" dirty="0">
                  <a:latin typeface="Calibri"/>
                  <a:cs typeface="Calibri"/>
                </a:rPr>
                <a:t>Grid</a:t>
              </a:r>
              <a:r>
                <a:rPr sz="927" spc="-9" dirty="0">
                  <a:latin typeface="Calibri"/>
                  <a:cs typeface="Calibri"/>
                </a:rPr>
                <a:t> </a:t>
              </a:r>
              <a:r>
                <a:rPr sz="927" spc="-44" dirty="0">
                  <a:latin typeface="Calibri"/>
                  <a:cs typeface="Calibri"/>
                </a:rPr>
                <a:t>0</a:t>
              </a:r>
              <a:endParaRPr sz="927">
                <a:latin typeface="Calibri"/>
                <a:cs typeface="Calibri"/>
              </a:endParaRPr>
            </a:p>
          </p:txBody>
        </p:sp>
        <p:sp>
          <p:nvSpPr>
            <p:cNvPr id="62" name="object 62"/>
            <p:cNvSpPr txBox="1"/>
            <p:nvPr/>
          </p:nvSpPr>
          <p:spPr>
            <a:xfrm>
              <a:off x="6772661" y="6638789"/>
              <a:ext cx="313204" cy="153983"/>
            </a:xfrm>
            <a:prstGeom prst="rect">
              <a:avLst/>
            </a:prstGeom>
          </p:spPr>
          <p:txBody>
            <a:bodyPr vert="horz" wrap="square" lIns="0" tIns="11206" rIns="0" bIns="0" rtlCol="0">
              <a:spAutoFit/>
            </a:bodyPr>
            <a:lstStyle/>
            <a:p>
              <a:pPr marL="11206">
                <a:spcBef>
                  <a:spcPts val="88"/>
                </a:spcBef>
              </a:pPr>
              <a:r>
                <a:rPr sz="927" dirty="0">
                  <a:latin typeface="Calibri"/>
                  <a:cs typeface="Calibri"/>
                </a:rPr>
                <a:t>Grid</a:t>
              </a:r>
              <a:r>
                <a:rPr sz="927" spc="-9" dirty="0">
                  <a:latin typeface="Calibri"/>
                  <a:cs typeface="Calibri"/>
                </a:rPr>
                <a:t> </a:t>
              </a:r>
              <a:r>
                <a:rPr sz="927" spc="-44" dirty="0">
                  <a:latin typeface="Calibri"/>
                  <a:cs typeface="Calibri"/>
                </a:rPr>
                <a:t>1</a:t>
              </a:r>
              <a:endParaRPr sz="927">
                <a:latin typeface="Calibri"/>
                <a:cs typeface="Calibri"/>
              </a:endParaRPr>
            </a:p>
          </p:txBody>
        </p:sp>
        <p:sp>
          <p:nvSpPr>
            <p:cNvPr id="65" name="object 65"/>
            <p:cNvSpPr txBox="1"/>
            <p:nvPr/>
          </p:nvSpPr>
          <p:spPr>
            <a:xfrm>
              <a:off x="2738982" y="2884325"/>
              <a:ext cx="2963956" cy="872984"/>
            </a:xfrm>
            <a:prstGeom prst="rect">
              <a:avLst/>
            </a:prstGeom>
          </p:spPr>
          <p:txBody>
            <a:bodyPr vert="horz" wrap="square" lIns="0" tIns="133910" rIns="0" bIns="0" rtlCol="0">
              <a:spAutoFit/>
            </a:bodyPr>
            <a:lstStyle/>
            <a:p>
              <a:pPr marL="11206">
                <a:lnSpc>
                  <a:spcPts val="1880"/>
                </a:lnSpc>
                <a:spcBef>
                  <a:spcPts val="971"/>
                </a:spcBef>
              </a:pPr>
              <a:r>
                <a:rPr sz="2000" b="1" dirty="0">
                  <a:solidFill>
                    <a:srgbClr val="953735"/>
                  </a:solidFill>
                  <a:latin typeface="Calibri"/>
                  <a:cs typeface="Calibri"/>
                </a:rPr>
                <a:t>Shared</a:t>
              </a:r>
              <a:r>
                <a:rPr sz="2000" b="1" spc="-18" dirty="0">
                  <a:solidFill>
                    <a:srgbClr val="953735"/>
                  </a:solidFill>
                  <a:latin typeface="Calibri"/>
                  <a:cs typeface="Calibri"/>
                </a:rPr>
                <a:t> </a:t>
              </a:r>
              <a:r>
                <a:rPr sz="2000" b="1" spc="-9" dirty="0">
                  <a:solidFill>
                    <a:srgbClr val="953735"/>
                  </a:solidFill>
                  <a:latin typeface="Calibri"/>
                  <a:cs typeface="Calibri"/>
                </a:rPr>
                <a:t>memory</a:t>
              </a:r>
              <a:endParaRPr sz="2000" dirty="0">
                <a:latin typeface="Calibri"/>
                <a:cs typeface="Calibri"/>
              </a:endParaRPr>
            </a:p>
            <a:p>
              <a:pPr marL="147926">
                <a:lnSpc>
                  <a:spcPts val="1880"/>
                </a:lnSpc>
              </a:pPr>
              <a:r>
                <a:rPr sz="2000" b="1" dirty="0">
                  <a:solidFill>
                    <a:schemeClr val="bg1"/>
                  </a:solidFill>
                  <a:latin typeface="Calibri"/>
                  <a:cs typeface="Calibri"/>
                </a:rPr>
                <a:t>Visible</a:t>
              </a:r>
              <a:r>
                <a:rPr sz="2000" b="1" spc="-22" dirty="0">
                  <a:solidFill>
                    <a:schemeClr val="bg1"/>
                  </a:solidFill>
                  <a:latin typeface="Calibri"/>
                  <a:cs typeface="Calibri"/>
                </a:rPr>
                <a:t> </a:t>
              </a:r>
              <a:r>
                <a:rPr sz="2000" b="1" dirty="0">
                  <a:solidFill>
                    <a:schemeClr val="bg1"/>
                  </a:solidFill>
                  <a:latin typeface="Calibri"/>
                  <a:cs typeface="Calibri"/>
                </a:rPr>
                <a:t>to</a:t>
              </a:r>
              <a:r>
                <a:rPr sz="2000" b="1" spc="-18" dirty="0">
                  <a:solidFill>
                    <a:schemeClr val="bg1"/>
                  </a:solidFill>
                  <a:latin typeface="Calibri"/>
                  <a:cs typeface="Calibri"/>
                </a:rPr>
                <a:t> </a:t>
              </a:r>
              <a:r>
                <a:rPr sz="2000" b="1" dirty="0">
                  <a:solidFill>
                    <a:schemeClr val="bg1"/>
                  </a:solidFill>
                  <a:latin typeface="Calibri"/>
                  <a:cs typeface="Calibri"/>
                </a:rPr>
                <a:t>all</a:t>
              </a:r>
              <a:r>
                <a:rPr sz="2000" b="1" spc="-18" dirty="0">
                  <a:solidFill>
                    <a:schemeClr val="bg1"/>
                  </a:solidFill>
                  <a:latin typeface="Calibri"/>
                  <a:cs typeface="Calibri"/>
                </a:rPr>
                <a:t> </a:t>
              </a:r>
              <a:r>
                <a:rPr sz="2000" b="1" dirty="0">
                  <a:solidFill>
                    <a:schemeClr val="bg1"/>
                  </a:solidFill>
                  <a:latin typeface="Calibri"/>
                  <a:cs typeface="Calibri"/>
                </a:rPr>
                <a:t>the</a:t>
              </a:r>
              <a:r>
                <a:rPr sz="2000" b="1" spc="-18" dirty="0">
                  <a:solidFill>
                    <a:schemeClr val="bg1"/>
                  </a:solidFill>
                  <a:latin typeface="Calibri"/>
                  <a:cs typeface="Calibri"/>
                </a:rPr>
                <a:t> </a:t>
              </a:r>
              <a:r>
                <a:rPr sz="2000" b="1" dirty="0">
                  <a:solidFill>
                    <a:schemeClr val="bg1"/>
                  </a:solidFill>
                  <a:latin typeface="Calibri"/>
                  <a:cs typeface="Calibri"/>
                </a:rPr>
                <a:t>threads</a:t>
              </a:r>
              <a:r>
                <a:rPr sz="2000" b="1" spc="-18" dirty="0">
                  <a:solidFill>
                    <a:schemeClr val="bg1"/>
                  </a:solidFill>
                  <a:latin typeface="Calibri"/>
                  <a:cs typeface="Calibri"/>
                </a:rPr>
                <a:t> </a:t>
              </a:r>
              <a:r>
                <a:rPr sz="2000" b="1" dirty="0">
                  <a:solidFill>
                    <a:schemeClr val="bg1"/>
                  </a:solidFill>
                  <a:latin typeface="Calibri"/>
                  <a:cs typeface="Calibri"/>
                </a:rPr>
                <a:t>in</a:t>
              </a:r>
              <a:r>
                <a:rPr sz="2000" b="1" spc="-18" dirty="0">
                  <a:solidFill>
                    <a:schemeClr val="bg1"/>
                  </a:solidFill>
                  <a:latin typeface="Calibri"/>
                  <a:cs typeface="Calibri"/>
                </a:rPr>
                <a:t> </a:t>
              </a:r>
              <a:r>
                <a:rPr sz="2000" b="1" dirty="0">
                  <a:solidFill>
                    <a:schemeClr val="bg1"/>
                  </a:solidFill>
                  <a:latin typeface="Calibri"/>
                  <a:cs typeface="Calibri"/>
                </a:rPr>
                <a:t>a</a:t>
              </a:r>
              <a:r>
                <a:rPr sz="2000" b="1" spc="-18" dirty="0">
                  <a:solidFill>
                    <a:schemeClr val="bg1"/>
                  </a:solidFill>
                  <a:latin typeface="Calibri"/>
                  <a:cs typeface="Calibri"/>
                </a:rPr>
                <a:t> block</a:t>
              </a:r>
              <a:endParaRPr sz="2000" b="1" dirty="0">
                <a:solidFill>
                  <a:schemeClr val="bg1"/>
                </a:solidFill>
                <a:latin typeface="Calibri"/>
                <a:cs typeface="Calibri"/>
              </a:endParaRPr>
            </a:p>
          </p:txBody>
        </p:sp>
        <p:sp>
          <p:nvSpPr>
            <p:cNvPr id="66" name="object 66"/>
            <p:cNvSpPr txBox="1"/>
            <p:nvPr/>
          </p:nvSpPr>
          <p:spPr>
            <a:xfrm>
              <a:off x="111578" y="4341815"/>
              <a:ext cx="4109382" cy="1954540"/>
            </a:xfrm>
            <a:prstGeom prst="rect">
              <a:avLst/>
            </a:prstGeom>
          </p:spPr>
          <p:txBody>
            <a:bodyPr vert="horz" wrap="square" lIns="0" tIns="11206" rIns="0" bIns="0" rtlCol="0">
              <a:spAutoFit/>
            </a:bodyPr>
            <a:lstStyle/>
            <a:p>
              <a:pPr marL="11206">
                <a:lnSpc>
                  <a:spcPts val="1880"/>
                </a:lnSpc>
                <a:spcBef>
                  <a:spcPts val="88"/>
                </a:spcBef>
              </a:pPr>
              <a:r>
                <a:rPr sz="2000" b="1" dirty="0">
                  <a:solidFill>
                    <a:srgbClr val="948A54"/>
                  </a:solidFill>
                  <a:latin typeface="Calibri"/>
                  <a:cs typeface="Calibri"/>
                </a:rPr>
                <a:t>Global</a:t>
              </a:r>
              <a:r>
                <a:rPr sz="2000" b="1" spc="-22" dirty="0">
                  <a:solidFill>
                    <a:srgbClr val="948A54"/>
                  </a:solidFill>
                  <a:latin typeface="Calibri"/>
                  <a:cs typeface="Calibri"/>
                </a:rPr>
                <a:t> </a:t>
              </a:r>
              <a:r>
                <a:rPr sz="2000" b="1" spc="-9" dirty="0">
                  <a:solidFill>
                    <a:srgbClr val="948A54"/>
                  </a:solidFill>
                  <a:latin typeface="Calibri"/>
                  <a:cs typeface="Calibri"/>
                </a:rPr>
                <a:t>memory</a:t>
              </a:r>
              <a:endParaRPr sz="2000" dirty="0">
                <a:latin typeface="Calibri"/>
                <a:cs typeface="Calibri"/>
              </a:endParaRPr>
            </a:p>
            <a:p>
              <a:pPr marL="147926" marR="825357">
                <a:lnSpc>
                  <a:spcPts val="1941"/>
                </a:lnSpc>
                <a:spcBef>
                  <a:spcPts val="9"/>
                </a:spcBef>
              </a:pPr>
              <a:r>
                <a:rPr sz="2000" b="1" dirty="0">
                  <a:solidFill>
                    <a:schemeClr val="bg1"/>
                  </a:solidFill>
                  <a:latin typeface="Calibri"/>
                  <a:cs typeface="Calibri"/>
                </a:rPr>
                <a:t>Visible</a:t>
              </a:r>
              <a:r>
                <a:rPr sz="2000" b="1" spc="-18" dirty="0">
                  <a:solidFill>
                    <a:schemeClr val="bg1"/>
                  </a:solidFill>
                  <a:latin typeface="Calibri"/>
                  <a:cs typeface="Calibri"/>
                </a:rPr>
                <a:t> </a:t>
              </a:r>
              <a:r>
                <a:rPr sz="2000" b="1" dirty="0">
                  <a:solidFill>
                    <a:schemeClr val="bg1"/>
                  </a:solidFill>
                  <a:latin typeface="Calibri"/>
                  <a:cs typeface="Calibri"/>
                </a:rPr>
                <a:t>to</a:t>
              </a:r>
              <a:r>
                <a:rPr sz="2000" b="1" spc="-13" dirty="0">
                  <a:solidFill>
                    <a:schemeClr val="bg1"/>
                  </a:solidFill>
                  <a:latin typeface="Calibri"/>
                  <a:cs typeface="Calibri"/>
                </a:rPr>
                <a:t> </a:t>
              </a:r>
              <a:r>
                <a:rPr sz="2000" b="1" dirty="0">
                  <a:solidFill>
                    <a:schemeClr val="bg1"/>
                  </a:solidFill>
                  <a:latin typeface="Calibri"/>
                  <a:cs typeface="Calibri"/>
                </a:rPr>
                <a:t>all</a:t>
              </a:r>
              <a:r>
                <a:rPr sz="2000" b="1" spc="-18" dirty="0">
                  <a:solidFill>
                    <a:schemeClr val="bg1"/>
                  </a:solidFill>
                  <a:latin typeface="Calibri"/>
                  <a:cs typeface="Calibri"/>
                </a:rPr>
                <a:t> </a:t>
              </a:r>
              <a:r>
                <a:rPr sz="2000" b="1" dirty="0">
                  <a:solidFill>
                    <a:schemeClr val="bg1"/>
                  </a:solidFill>
                  <a:latin typeface="Calibri"/>
                  <a:cs typeface="Calibri"/>
                </a:rPr>
                <a:t>the</a:t>
              </a:r>
              <a:r>
                <a:rPr sz="2000" b="1" spc="-13" dirty="0">
                  <a:solidFill>
                    <a:schemeClr val="bg1"/>
                  </a:solidFill>
                  <a:latin typeface="Calibri"/>
                  <a:cs typeface="Calibri"/>
                </a:rPr>
                <a:t> </a:t>
              </a:r>
              <a:r>
                <a:rPr sz="2000" b="1" spc="-9" dirty="0">
                  <a:solidFill>
                    <a:schemeClr val="bg1"/>
                  </a:solidFill>
                  <a:latin typeface="Calibri"/>
                  <a:cs typeface="Calibri"/>
                </a:rPr>
                <a:t>threads </a:t>
              </a:r>
              <a:r>
                <a:rPr sz="2000" b="1" dirty="0">
                  <a:solidFill>
                    <a:schemeClr val="bg1"/>
                  </a:solidFill>
                  <a:latin typeface="Calibri"/>
                  <a:cs typeface="Calibri"/>
                </a:rPr>
                <a:t>Visible</a:t>
              </a:r>
              <a:r>
                <a:rPr sz="2000" b="1" spc="-18" dirty="0">
                  <a:solidFill>
                    <a:schemeClr val="bg1"/>
                  </a:solidFill>
                  <a:latin typeface="Calibri"/>
                  <a:cs typeface="Calibri"/>
                </a:rPr>
                <a:t> </a:t>
              </a:r>
              <a:r>
                <a:rPr sz="2000" b="1" dirty="0">
                  <a:solidFill>
                    <a:schemeClr val="bg1"/>
                  </a:solidFill>
                  <a:latin typeface="Calibri"/>
                  <a:cs typeface="Calibri"/>
                </a:rPr>
                <a:t>to</a:t>
              </a:r>
              <a:r>
                <a:rPr sz="2000" b="1" spc="-13" dirty="0">
                  <a:solidFill>
                    <a:schemeClr val="bg1"/>
                  </a:solidFill>
                  <a:latin typeface="Calibri"/>
                  <a:cs typeface="Calibri"/>
                </a:rPr>
                <a:t> </a:t>
              </a:r>
              <a:r>
                <a:rPr sz="2000" b="1" spc="-18" dirty="0">
                  <a:solidFill>
                    <a:schemeClr val="bg1"/>
                  </a:solidFill>
                  <a:latin typeface="Calibri"/>
                  <a:cs typeface="Calibri"/>
                </a:rPr>
                <a:t>host</a:t>
              </a:r>
              <a:endParaRPr sz="2000" b="1" dirty="0">
                <a:solidFill>
                  <a:schemeClr val="bg1"/>
                </a:solidFill>
                <a:latin typeface="Calibri"/>
                <a:cs typeface="Calibri"/>
              </a:endParaRPr>
            </a:p>
            <a:p>
              <a:pPr marL="147926">
                <a:lnSpc>
                  <a:spcPts val="1782"/>
                </a:lnSpc>
              </a:pPr>
              <a:r>
                <a:rPr sz="2000" b="1" dirty="0">
                  <a:solidFill>
                    <a:schemeClr val="bg1"/>
                  </a:solidFill>
                  <a:latin typeface="Calibri"/>
                  <a:cs typeface="Calibri"/>
                </a:rPr>
                <a:t>Accessible</a:t>
              </a:r>
              <a:r>
                <a:rPr sz="2000" b="1" spc="-31" dirty="0">
                  <a:solidFill>
                    <a:schemeClr val="bg1"/>
                  </a:solidFill>
                  <a:latin typeface="Calibri"/>
                  <a:cs typeface="Calibri"/>
                </a:rPr>
                <a:t> </a:t>
              </a:r>
              <a:r>
                <a:rPr sz="2000" b="1" dirty="0">
                  <a:solidFill>
                    <a:schemeClr val="bg1"/>
                  </a:solidFill>
                  <a:latin typeface="Calibri"/>
                  <a:cs typeface="Calibri"/>
                </a:rPr>
                <a:t>to</a:t>
              </a:r>
              <a:r>
                <a:rPr sz="2000" b="1" spc="-26" dirty="0">
                  <a:solidFill>
                    <a:schemeClr val="bg1"/>
                  </a:solidFill>
                  <a:latin typeface="Calibri"/>
                  <a:cs typeface="Calibri"/>
                </a:rPr>
                <a:t> </a:t>
              </a:r>
              <a:r>
                <a:rPr sz="2000" b="1" dirty="0">
                  <a:solidFill>
                    <a:schemeClr val="bg1"/>
                  </a:solidFill>
                  <a:latin typeface="Calibri"/>
                  <a:cs typeface="Calibri"/>
                </a:rPr>
                <a:t>multiple</a:t>
              </a:r>
              <a:r>
                <a:rPr sz="2000" b="1" spc="-31" dirty="0">
                  <a:solidFill>
                    <a:schemeClr val="bg1"/>
                  </a:solidFill>
                  <a:latin typeface="Calibri"/>
                  <a:cs typeface="Calibri"/>
                </a:rPr>
                <a:t> </a:t>
              </a:r>
              <a:r>
                <a:rPr sz="2000" b="1" spc="-9" dirty="0">
                  <a:solidFill>
                    <a:schemeClr val="bg1"/>
                  </a:solidFill>
                  <a:latin typeface="Calibri"/>
                  <a:cs typeface="Calibri"/>
                </a:rPr>
                <a:t>kernels</a:t>
              </a:r>
              <a:endParaRPr sz="2000" b="1" dirty="0">
                <a:solidFill>
                  <a:schemeClr val="bg1"/>
                </a:solidFill>
                <a:latin typeface="Calibri"/>
                <a:cs typeface="Calibri"/>
              </a:endParaRPr>
            </a:p>
            <a:p>
              <a:pPr marL="147926">
                <a:spcBef>
                  <a:spcPts val="35"/>
                </a:spcBef>
              </a:pPr>
              <a:r>
                <a:rPr sz="2000" b="1" dirty="0">
                  <a:solidFill>
                    <a:schemeClr val="bg1"/>
                  </a:solidFill>
                  <a:latin typeface="Calibri"/>
                  <a:cs typeface="Calibri"/>
                </a:rPr>
                <a:t>Data</a:t>
              </a:r>
              <a:r>
                <a:rPr sz="2000" b="1" spc="-18" dirty="0">
                  <a:solidFill>
                    <a:schemeClr val="bg1"/>
                  </a:solidFill>
                  <a:latin typeface="Calibri"/>
                  <a:cs typeface="Calibri"/>
                </a:rPr>
                <a:t> </a:t>
              </a:r>
              <a:r>
                <a:rPr sz="2000" b="1" dirty="0">
                  <a:solidFill>
                    <a:schemeClr val="bg1"/>
                  </a:solidFill>
                  <a:latin typeface="Calibri"/>
                  <a:cs typeface="Calibri"/>
                </a:rPr>
                <a:t>is</a:t>
              </a:r>
              <a:r>
                <a:rPr sz="2000" b="1" spc="-18" dirty="0">
                  <a:solidFill>
                    <a:schemeClr val="bg1"/>
                  </a:solidFill>
                  <a:latin typeface="Calibri"/>
                  <a:cs typeface="Calibri"/>
                </a:rPr>
                <a:t> </a:t>
              </a:r>
              <a:r>
                <a:rPr sz="2000" b="1" dirty="0">
                  <a:solidFill>
                    <a:schemeClr val="bg1"/>
                  </a:solidFill>
                  <a:latin typeface="Calibri"/>
                  <a:cs typeface="Calibri"/>
                </a:rPr>
                <a:t>stored</a:t>
              </a:r>
              <a:r>
                <a:rPr sz="2000" b="1" spc="-18" dirty="0">
                  <a:solidFill>
                    <a:schemeClr val="bg1"/>
                  </a:solidFill>
                  <a:latin typeface="Calibri"/>
                  <a:cs typeface="Calibri"/>
                </a:rPr>
                <a:t> </a:t>
              </a:r>
              <a:r>
                <a:rPr sz="2000" b="1" dirty="0">
                  <a:solidFill>
                    <a:schemeClr val="bg1"/>
                  </a:solidFill>
                  <a:latin typeface="Calibri"/>
                  <a:cs typeface="Calibri"/>
                </a:rPr>
                <a:t>in</a:t>
              </a:r>
              <a:r>
                <a:rPr sz="2000" b="1" spc="-18" dirty="0">
                  <a:solidFill>
                    <a:schemeClr val="bg1"/>
                  </a:solidFill>
                  <a:latin typeface="Calibri"/>
                  <a:cs typeface="Calibri"/>
                </a:rPr>
                <a:t> </a:t>
              </a:r>
              <a:r>
                <a:rPr sz="2000" b="1" dirty="0">
                  <a:solidFill>
                    <a:schemeClr val="bg1"/>
                  </a:solidFill>
                  <a:latin typeface="Calibri"/>
                  <a:cs typeface="Calibri"/>
                </a:rPr>
                <a:t>row</a:t>
              </a:r>
              <a:r>
                <a:rPr sz="2000" b="1" spc="-18" dirty="0">
                  <a:solidFill>
                    <a:schemeClr val="bg1"/>
                  </a:solidFill>
                  <a:latin typeface="Calibri"/>
                  <a:cs typeface="Calibri"/>
                </a:rPr>
                <a:t> </a:t>
              </a:r>
              <a:r>
                <a:rPr sz="2000" b="1" dirty="0">
                  <a:solidFill>
                    <a:schemeClr val="bg1"/>
                  </a:solidFill>
                  <a:latin typeface="Calibri"/>
                  <a:cs typeface="Calibri"/>
                </a:rPr>
                <a:t>major</a:t>
              </a:r>
              <a:r>
                <a:rPr sz="2000" b="1" spc="-18" dirty="0">
                  <a:solidFill>
                    <a:schemeClr val="bg1"/>
                  </a:solidFill>
                  <a:latin typeface="Calibri"/>
                  <a:cs typeface="Calibri"/>
                </a:rPr>
                <a:t> order</a:t>
              </a:r>
              <a:endParaRPr sz="2000" b="1" dirty="0">
                <a:solidFill>
                  <a:schemeClr val="bg1"/>
                </a:solidFill>
                <a:latin typeface="Calibri"/>
                <a:cs typeface="Calibri"/>
              </a:endParaRPr>
            </a:p>
            <a:p>
              <a:pPr marL="11206">
                <a:lnSpc>
                  <a:spcPts val="1880"/>
                </a:lnSpc>
                <a:spcBef>
                  <a:spcPts val="1385"/>
                </a:spcBef>
              </a:pPr>
              <a:r>
                <a:rPr sz="2000" b="1" dirty="0">
                  <a:solidFill>
                    <a:srgbClr val="948A54"/>
                  </a:solidFill>
                  <a:latin typeface="Calibri"/>
                  <a:cs typeface="Calibri"/>
                </a:rPr>
                <a:t>Constant</a:t>
              </a:r>
              <a:r>
                <a:rPr sz="2000" b="1" spc="-9" dirty="0">
                  <a:solidFill>
                    <a:srgbClr val="948A54"/>
                  </a:solidFill>
                  <a:latin typeface="Calibri"/>
                  <a:cs typeface="Calibri"/>
                </a:rPr>
                <a:t> </a:t>
              </a:r>
              <a:r>
                <a:rPr sz="2000" b="1" dirty="0">
                  <a:solidFill>
                    <a:srgbClr val="948A54"/>
                  </a:solidFill>
                  <a:latin typeface="Calibri"/>
                  <a:cs typeface="Calibri"/>
                </a:rPr>
                <a:t>memory</a:t>
              </a:r>
              <a:r>
                <a:rPr sz="2000" b="1" spc="-9" dirty="0">
                  <a:solidFill>
                    <a:srgbClr val="948A54"/>
                  </a:solidFill>
                  <a:latin typeface="Calibri"/>
                  <a:cs typeface="Calibri"/>
                </a:rPr>
                <a:t> </a:t>
              </a:r>
              <a:r>
                <a:rPr sz="2000" b="1" dirty="0">
                  <a:solidFill>
                    <a:srgbClr val="948A54"/>
                  </a:solidFill>
                  <a:latin typeface="Calibri"/>
                  <a:cs typeface="Calibri"/>
                </a:rPr>
                <a:t>(Read</a:t>
              </a:r>
              <a:r>
                <a:rPr sz="2000" b="1" spc="-4" dirty="0">
                  <a:solidFill>
                    <a:srgbClr val="948A54"/>
                  </a:solidFill>
                  <a:latin typeface="Calibri"/>
                  <a:cs typeface="Calibri"/>
                </a:rPr>
                <a:t> </a:t>
              </a:r>
              <a:r>
                <a:rPr sz="2000" b="1" spc="-18" dirty="0">
                  <a:solidFill>
                    <a:srgbClr val="948A54"/>
                  </a:solidFill>
                  <a:latin typeface="Calibri"/>
                  <a:cs typeface="Calibri"/>
                </a:rPr>
                <a:t>Only)</a:t>
              </a:r>
              <a:endParaRPr sz="2000" dirty="0">
                <a:latin typeface="Calibri"/>
                <a:cs typeface="Calibri"/>
              </a:endParaRPr>
            </a:p>
            <a:p>
              <a:pPr marL="147926">
                <a:lnSpc>
                  <a:spcPts val="1880"/>
                </a:lnSpc>
              </a:pPr>
              <a:r>
                <a:rPr sz="2000" b="1" dirty="0">
                  <a:solidFill>
                    <a:schemeClr val="bg1"/>
                  </a:solidFill>
                  <a:latin typeface="Calibri"/>
                  <a:cs typeface="Calibri"/>
                </a:rPr>
                <a:t>Visible</a:t>
              </a:r>
              <a:r>
                <a:rPr sz="2000" b="1" spc="-22" dirty="0">
                  <a:solidFill>
                    <a:schemeClr val="bg1"/>
                  </a:solidFill>
                  <a:latin typeface="Calibri"/>
                  <a:cs typeface="Calibri"/>
                </a:rPr>
                <a:t> </a:t>
              </a:r>
              <a:r>
                <a:rPr sz="2000" b="1" dirty="0">
                  <a:solidFill>
                    <a:schemeClr val="bg1"/>
                  </a:solidFill>
                  <a:latin typeface="Calibri"/>
                  <a:cs typeface="Calibri"/>
                </a:rPr>
                <a:t>to</a:t>
              </a:r>
              <a:r>
                <a:rPr sz="2000" b="1" spc="-18" dirty="0">
                  <a:solidFill>
                    <a:schemeClr val="bg1"/>
                  </a:solidFill>
                  <a:latin typeface="Calibri"/>
                  <a:cs typeface="Calibri"/>
                </a:rPr>
                <a:t> </a:t>
              </a:r>
              <a:r>
                <a:rPr sz="2000" b="1" dirty="0">
                  <a:solidFill>
                    <a:schemeClr val="bg1"/>
                  </a:solidFill>
                  <a:latin typeface="Calibri"/>
                  <a:cs typeface="Calibri"/>
                </a:rPr>
                <a:t>all</a:t>
              </a:r>
              <a:r>
                <a:rPr sz="2000" b="1" spc="-18" dirty="0">
                  <a:solidFill>
                    <a:schemeClr val="bg1"/>
                  </a:solidFill>
                  <a:latin typeface="Calibri"/>
                  <a:cs typeface="Calibri"/>
                </a:rPr>
                <a:t> </a:t>
              </a:r>
              <a:r>
                <a:rPr sz="2000" b="1" dirty="0">
                  <a:solidFill>
                    <a:schemeClr val="bg1"/>
                  </a:solidFill>
                  <a:latin typeface="Calibri"/>
                  <a:cs typeface="Calibri"/>
                </a:rPr>
                <a:t>the</a:t>
              </a:r>
              <a:r>
                <a:rPr sz="2000" b="1" spc="-18" dirty="0">
                  <a:solidFill>
                    <a:schemeClr val="bg1"/>
                  </a:solidFill>
                  <a:latin typeface="Calibri"/>
                  <a:cs typeface="Calibri"/>
                </a:rPr>
                <a:t> </a:t>
              </a:r>
              <a:r>
                <a:rPr sz="2000" b="1" dirty="0">
                  <a:solidFill>
                    <a:schemeClr val="bg1"/>
                  </a:solidFill>
                  <a:latin typeface="Calibri"/>
                  <a:cs typeface="Calibri"/>
                </a:rPr>
                <a:t>threads</a:t>
              </a:r>
              <a:r>
                <a:rPr sz="2000" b="1" spc="-18" dirty="0">
                  <a:solidFill>
                    <a:schemeClr val="bg1"/>
                  </a:solidFill>
                  <a:latin typeface="Calibri"/>
                  <a:cs typeface="Calibri"/>
                </a:rPr>
                <a:t> </a:t>
              </a:r>
              <a:r>
                <a:rPr sz="2000" b="1" dirty="0">
                  <a:solidFill>
                    <a:schemeClr val="bg1"/>
                  </a:solidFill>
                  <a:latin typeface="Calibri"/>
                  <a:cs typeface="Calibri"/>
                </a:rPr>
                <a:t>in</a:t>
              </a:r>
              <a:r>
                <a:rPr sz="2000" b="1" spc="-18" dirty="0">
                  <a:solidFill>
                    <a:schemeClr val="bg1"/>
                  </a:solidFill>
                  <a:latin typeface="Calibri"/>
                  <a:cs typeface="Calibri"/>
                </a:rPr>
                <a:t> </a:t>
              </a:r>
              <a:r>
                <a:rPr sz="2000" b="1" dirty="0">
                  <a:solidFill>
                    <a:schemeClr val="bg1"/>
                  </a:solidFill>
                  <a:latin typeface="Calibri"/>
                  <a:cs typeface="Calibri"/>
                </a:rPr>
                <a:t>a</a:t>
              </a:r>
              <a:r>
                <a:rPr sz="2000" b="1" spc="-18" dirty="0">
                  <a:solidFill>
                    <a:schemeClr val="bg1"/>
                  </a:solidFill>
                  <a:latin typeface="Calibri"/>
                  <a:cs typeface="Calibri"/>
                </a:rPr>
                <a:t> block</a:t>
              </a:r>
              <a:endParaRPr sz="2000" b="1" dirty="0">
                <a:solidFill>
                  <a:schemeClr val="bg1"/>
                </a:solidFill>
                <a:latin typeface="Calibri"/>
                <a:cs typeface="Calibri"/>
              </a:endParaRPr>
            </a:p>
          </p:txBody>
        </p:sp>
        <p:grpSp>
          <p:nvGrpSpPr>
            <p:cNvPr id="67" name="object 67"/>
            <p:cNvGrpSpPr/>
            <p:nvPr/>
          </p:nvGrpSpPr>
          <p:grpSpPr>
            <a:xfrm>
              <a:off x="8378562" y="1918504"/>
              <a:ext cx="2005641" cy="509438"/>
              <a:chOff x="7881387" y="1712423"/>
              <a:chExt cx="1512916" cy="336666"/>
            </a:xfrm>
          </p:grpSpPr>
          <p:pic>
            <p:nvPicPr>
              <p:cNvPr id="68" name="object 68"/>
              <p:cNvPicPr/>
              <p:nvPr/>
            </p:nvPicPr>
            <p:blipFill>
              <a:blip r:embed="rId11" cstate="print"/>
              <a:stretch>
                <a:fillRect/>
              </a:stretch>
            </p:blipFill>
            <p:spPr>
              <a:xfrm>
                <a:off x="7881387" y="1712423"/>
                <a:ext cx="1512916" cy="332509"/>
              </a:xfrm>
              <a:prstGeom prst="rect">
                <a:avLst/>
              </a:prstGeom>
            </p:spPr>
          </p:pic>
          <p:pic>
            <p:nvPicPr>
              <p:cNvPr id="69" name="object 69"/>
              <p:cNvPicPr/>
              <p:nvPr/>
            </p:nvPicPr>
            <p:blipFill>
              <a:blip r:embed="rId12" cstate="print"/>
              <a:stretch>
                <a:fillRect/>
              </a:stretch>
            </p:blipFill>
            <p:spPr>
              <a:xfrm>
                <a:off x="8280398" y="1716580"/>
                <a:ext cx="714894" cy="332509"/>
              </a:xfrm>
              <a:prstGeom prst="rect">
                <a:avLst/>
              </a:prstGeom>
            </p:spPr>
          </p:pic>
          <p:pic>
            <p:nvPicPr>
              <p:cNvPr id="70" name="object 70"/>
              <p:cNvPicPr/>
              <p:nvPr/>
            </p:nvPicPr>
            <p:blipFill>
              <a:blip r:embed="rId13" cstate="print"/>
              <a:stretch>
                <a:fillRect/>
              </a:stretch>
            </p:blipFill>
            <p:spPr>
              <a:xfrm>
                <a:off x="7930339" y="1739418"/>
                <a:ext cx="1415243" cy="233171"/>
              </a:xfrm>
              <a:prstGeom prst="rect">
                <a:avLst/>
              </a:prstGeom>
            </p:spPr>
          </p:pic>
        </p:grpSp>
        <p:sp>
          <p:nvSpPr>
            <p:cNvPr id="71" name="object 71"/>
            <p:cNvSpPr txBox="1"/>
            <p:nvPr/>
          </p:nvSpPr>
          <p:spPr>
            <a:xfrm>
              <a:off x="8276162" y="1965272"/>
              <a:ext cx="1248896" cy="299063"/>
            </a:xfrm>
            <a:prstGeom prst="rect">
              <a:avLst/>
            </a:prstGeom>
            <a:ln w="9524">
              <a:noFill/>
            </a:ln>
          </p:spPr>
          <p:txBody>
            <a:bodyPr vert="horz" wrap="square" lIns="0" tIns="21851" rIns="0" bIns="0" rtlCol="0">
              <a:spAutoFit/>
            </a:bodyPr>
            <a:lstStyle/>
            <a:p>
              <a:pPr marL="377658">
                <a:spcBef>
                  <a:spcPts val="172"/>
                </a:spcBef>
              </a:pPr>
              <a:r>
                <a:rPr spc="-9" dirty="0">
                  <a:solidFill>
                    <a:srgbClr val="FFFFFF"/>
                  </a:solidFill>
                  <a:latin typeface="Calibri"/>
                  <a:cs typeface="Calibri"/>
                </a:rPr>
                <a:t>Registers</a:t>
              </a:r>
              <a:endParaRPr dirty="0">
                <a:latin typeface="Calibri"/>
                <a:cs typeface="Calibri"/>
              </a:endParaRPr>
            </a:p>
          </p:txBody>
        </p:sp>
        <p:sp>
          <p:nvSpPr>
            <p:cNvPr id="79" name="object 45">
              <a:extLst>
                <a:ext uri="{FF2B5EF4-FFF2-40B4-BE49-F238E27FC236}">
                  <a16:creationId xmlns:a16="http://schemas.microsoft.com/office/drawing/2014/main" id="{14DB4014-ABAC-8F1B-C678-4DC5B5B3A1CF}"/>
                </a:ext>
              </a:extLst>
            </p:cNvPr>
            <p:cNvSpPr txBox="1"/>
            <p:nvPr/>
          </p:nvSpPr>
          <p:spPr>
            <a:xfrm>
              <a:off x="9188445" y="4002146"/>
              <a:ext cx="488724" cy="2659716"/>
            </a:xfrm>
            <a:prstGeom prst="rect">
              <a:avLst/>
            </a:prstGeom>
            <a:solidFill>
              <a:srgbClr val="A59B67"/>
            </a:solidFill>
            <a:ln w="9524">
              <a:solidFill>
                <a:srgbClr val="5B92C7"/>
              </a:solidFill>
            </a:ln>
          </p:spPr>
          <p:txBody>
            <a:bodyPr vert="vert270" wrap="square" lIns="0" tIns="7844" rIns="0" bIns="0" rtlCol="0">
              <a:spAutoFit/>
            </a:bodyPr>
            <a:lstStyle/>
            <a:p>
              <a:pPr>
                <a:spcBef>
                  <a:spcPts val="62"/>
                </a:spcBef>
              </a:pPr>
              <a:endParaRPr sz="1588" dirty="0">
                <a:latin typeface="Times New Roman"/>
                <a:cs typeface="Times New Roman"/>
              </a:endParaRPr>
            </a:p>
            <a:p>
              <a:pPr marL="694241"/>
              <a:r>
                <a:rPr lang="en-GB" sz="1588" b="1" dirty="0">
                  <a:solidFill>
                    <a:schemeClr val="bg1"/>
                  </a:solidFill>
                  <a:latin typeface="Calibri"/>
                  <a:cs typeface="Calibri"/>
                </a:rPr>
                <a:t>Constant</a:t>
              </a:r>
              <a:r>
                <a:rPr sz="1588" b="1" spc="-40" dirty="0">
                  <a:solidFill>
                    <a:schemeClr val="bg1"/>
                  </a:solidFill>
                  <a:latin typeface="Calibri"/>
                  <a:cs typeface="Calibri"/>
                </a:rPr>
                <a:t> </a:t>
              </a:r>
              <a:r>
                <a:rPr sz="1588" b="1" spc="-9" dirty="0">
                  <a:solidFill>
                    <a:schemeClr val="bg1"/>
                  </a:solidFill>
                  <a:latin typeface="Calibri"/>
                  <a:cs typeface="Calibri"/>
                </a:rPr>
                <a:t>Memory</a:t>
              </a:r>
              <a:endParaRPr sz="1588" b="1" dirty="0">
                <a:solidFill>
                  <a:schemeClr val="bg1"/>
                </a:solidFill>
                <a:latin typeface="Calibri"/>
                <a:cs typeface="Calibri"/>
              </a:endParaRPr>
            </a:p>
          </p:txBody>
        </p:sp>
        <p:sp>
          <p:nvSpPr>
            <p:cNvPr id="81" name="TextBox 80">
              <a:extLst>
                <a:ext uri="{FF2B5EF4-FFF2-40B4-BE49-F238E27FC236}">
                  <a16:creationId xmlns:a16="http://schemas.microsoft.com/office/drawing/2014/main" id="{F5A24CEB-3589-6837-72ED-0685EBF21CC1}"/>
                </a:ext>
              </a:extLst>
            </p:cNvPr>
            <p:cNvSpPr txBox="1"/>
            <p:nvPr/>
          </p:nvSpPr>
          <p:spPr>
            <a:xfrm>
              <a:off x="4220961" y="2035295"/>
              <a:ext cx="3015316" cy="61298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11206">
                <a:lnSpc>
                  <a:spcPts val="1880"/>
                </a:lnSpc>
                <a:spcBef>
                  <a:spcPts val="971"/>
                </a:spcBef>
              </a:pPr>
              <a:r>
                <a:rPr lang="en-GB" sz="1800" b="1" dirty="0">
                  <a:solidFill>
                    <a:srgbClr val="239EBB"/>
                  </a:solidFill>
                  <a:latin typeface="Calibri"/>
                  <a:cs typeface="Calibri"/>
                </a:rPr>
                <a:t>Private memory</a:t>
              </a:r>
            </a:p>
            <a:p>
              <a:pPr marL="72000"/>
              <a:r>
                <a:rPr lang="en-GB" sz="1800" dirty="0">
                  <a:solidFill>
                    <a:srgbClr val="595959"/>
                  </a:solidFill>
                  <a:latin typeface="Calibri"/>
                  <a:cs typeface="Calibri"/>
                </a:rPr>
                <a:t> </a:t>
              </a:r>
              <a:r>
                <a:rPr lang="en-GB" sz="1800" b="1" dirty="0">
                  <a:solidFill>
                    <a:schemeClr val="bg1"/>
                  </a:solidFill>
                  <a:latin typeface="Calibri"/>
                  <a:cs typeface="Calibri"/>
                </a:rPr>
                <a:t>Visible</a:t>
              </a:r>
              <a:r>
                <a:rPr lang="en-GB" sz="1800" b="1" spc="-22" dirty="0">
                  <a:solidFill>
                    <a:schemeClr val="bg1"/>
                  </a:solidFill>
                  <a:latin typeface="Calibri"/>
                  <a:cs typeface="Calibri"/>
                </a:rPr>
                <a:t> </a:t>
              </a:r>
              <a:r>
                <a:rPr lang="en-GB" sz="1800" b="1" dirty="0">
                  <a:solidFill>
                    <a:schemeClr val="bg1"/>
                  </a:solidFill>
                  <a:latin typeface="Calibri"/>
                  <a:cs typeface="Calibri"/>
                </a:rPr>
                <a:t>only</a:t>
              </a:r>
              <a:r>
                <a:rPr lang="en-GB" sz="1800" b="1" spc="-18" dirty="0">
                  <a:solidFill>
                    <a:schemeClr val="bg1"/>
                  </a:solidFill>
                  <a:latin typeface="Calibri"/>
                  <a:cs typeface="Calibri"/>
                </a:rPr>
                <a:t> </a:t>
              </a:r>
              <a:r>
                <a:rPr lang="en-GB" sz="1800" b="1" dirty="0">
                  <a:solidFill>
                    <a:schemeClr val="bg1"/>
                  </a:solidFill>
                  <a:latin typeface="Calibri"/>
                  <a:cs typeface="Calibri"/>
                </a:rPr>
                <a:t>to</a:t>
              </a:r>
              <a:r>
                <a:rPr lang="en-GB" sz="1800" b="1" spc="-22" dirty="0">
                  <a:solidFill>
                    <a:schemeClr val="bg1"/>
                  </a:solidFill>
                  <a:latin typeface="Calibri"/>
                  <a:cs typeface="Calibri"/>
                </a:rPr>
                <a:t> </a:t>
              </a:r>
              <a:r>
                <a:rPr lang="en-GB" sz="1800" b="1" dirty="0">
                  <a:solidFill>
                    <a:schemeClr val="bg1"/>
                  </a:solidFill>
                  <a:latin typeface="Calibri"/>
                  <a:cs typeface="Calibri"/>
                </a:rPr>
                <a:t>the</a:t>
              </a:r>
              <a:r>
                <a:rPr lang="en-GB" sz="1800" b="1" spc="-18" dirty="0">
                  <a:solidFill>
                    <a:schemeClr val="bg1"/>
                  </a:solidFill>
                  <a:latin typeface="Calibri"/>
                  <a:cs typeface="Calibri"/>
                </a:rPr>
                <a:t> </a:t>
              </a:r>
              <a:r>
                <a:rPr lang="en-GB" sz="1800" b="1" spc="-9" dirty="0">
                  <a:solidFill>
                    <a:schemeClr val="bg1"/>
                  </a:solidFill>
                  <a:latin typeface="Calibri"/>
                  <a:cs typeface="Calibri"/>
                </a:rPr>
                <a:t>thread</a:t>
              </a:r>
              <a:endParaRPr lang="en-GB" sz="1800" b="1" dirty="0">
                <a:solidFill>
                  <a:schemeClr val="bg1"/>
                </a:solidFill>
                <a:latin typeface="Calibri"/>
                <a:cs typeface="Calibri"/>
              </a:endParaRPr>
            </a:p>
          </p:txBody>
        </p:sp>
      </p:grp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611CD9-C2B2-DB7E-DF14-62E794E71B29}"/>
              </a:ext>
            </a:extLst>
          </p:cNvPr>
          <p:cNvSpPr txBox="1">
            <a:spLocks/>
          </p:cNvSpPr>
          <p:nvPr/>
        </p:nvSpPr>
        <p:spPr>
          <a:xfrm>
            <a:off x="1981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pPr algn="ctr" eaLnBrk="1" hangingPunct="1">
              <a:buClr>
                <a:srgbClr val="000000"/>
              </a:buClr>
              <a:buSzPct val="100000"/>
              <a:buFont typeface="Times New Roman" pitchFamily="16" charset="0"/>
              <a:buNone/>
              <a:defRPr/>
            </a:pPr>
            <a:endParaRPr lang="en-US" sz="4400" kern="0" dirty="0">
              <a:solidFill>
                <a:srgbClr val="000000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55" name="Group 54"/>
          <p:cNvGrpSpPr/>
          <p:nvPr/>
        </p:nvGrpSpPr>
        <p:grpSpPr>
          <a:xfrm>
            <a:off x="453232" y="1546226"/>
            <a:ext cx="10025856" cy="6037262"/>
            <a:chOff x="453232" y="1546226"/>
            <a:chExt cx="10025856" cy="6037262"/>
          </a:xfrm>
        </p:grpSpPr>
        <p:sp>
          <p:nvSpPr>
            <p:cNvPr id="3" name="Content Placeholder 2">
              <a:extLst>
                <a:ext uri="{FF2B5EF4-FFF2-40B4-BE49-F238E27FC236}">
                  <a16:creationId xmlns:a16="http://schemas.microsoft.com/office/drawing/2014/main" id="{9C86B71A-487C-51BE-9A62-727519F6358A}"/>
                </a:ext>
              </a:extLst>
            </p:cNvPr>
            <p:cNvSpPr txBox="1">
              <a:spLocks/>
            </p:cNvSpPr>
            <p:nvPr/>
          </p:nvSpPr>
          <p:spPr>
            <a:xfrm>
              <a:off x="453232" y="3057525"/>
              <a:ext cx="4038600" cy="4525963"/>
            </a:xfrm>
            <a:prstGeom prst="rect">
              <a:avLst/>
            </a:prstGeom>
          </p:spPr>
          <p:txBody>
            <a:bodyPr/>
            <a:lstStyle/>
            <a:p>
              <a:pPr marL="342900" indent="-342900">
                <a:spcBef>
                  <a:spcPts val="800"/>
                </a:spcBef>
                <a:buClr>
                  <a:srgbClr val="000000"/>
                </a:buClr>
                <a:buSzPct val="100000"/>
                <a:buFont typeface="Arial" pitchFamily="34" charset="0"/>
                <a:buChar char="•"/>
                <a:defRPr/>
              </a:pPr>
              <a:r>
                <a:rPr lang="en-US" sz="3200" kern="0" dirty="0">
                  <a:solidFill>
                    <a:srgbClr val="000000"/>
                  </a:solidFill>
                </a:rPr>
                <a:t>Host have access to</a:t>
              </a:r>
            </a:p>
            <a:p>
              <a:pPr lvl="1">
                <a:spcBef>
                  <a:spcPts val="700"/>
                </a:spcBef>
                <a:buClr>
                  <a:srgbClr val="000000"/>
                </a:buClr>
                <a:buSzPct val="100000"/>
                <a:buFont typeface="Arial" pitchFamily="34" charset="0"/>
                <a:buChar char="•"/>
                <a:defRPr/>
              </a:pPr>
              <a:r>
                <a:rPr lang="en-US" sz="2200" kern="0" dirty="0">
                  <a:solidFill>
                    <a:srgbClr val="000000"/>
                  </a:solidFill>
                </a:rPr>
                <a:t>Global memory</a:t>
              </a:r>
            </a:p>
            <a:p>
              <a:pPr lvl="1">
                <a:spcBef>
                  <a:spcPts val="700"/>
                </a:spcBef>
                <a:buClr>
                  <a:srgbClr val="000000"/>
                </a:buClr>
                <a:buSzPct val="100000"/>
                <a:buFont typeface="Arial" pitchFamily="34" charset="0"/>
                <a:buChar char="•"/>
                <a:defRPr/>
              </a:pPr>
              <a:r>
                <a:rPr lang="en-US" sz="2200" kern="0" dirty="0">
                  <a:solidFill>
                    <a:srgbClr val="000000"/>
                  </a:solidFill>
                </a:rPr>
                <a:t>Constant memory</a:t>
              </a:r>
            </a:p>
            <a:p>
              <a:pPr lvl="1">
                <a:spcBef>
                  <a:spcPts val="700"/>
                </a:spcBef>
                <a:buClr>
                  <a:srgbClr val="000000"/>
                </a:buClr>
                <a:buSzPct val="100000"/>
                <a:buFont typeface="Arial" pitchFamily="34" charset="0"/>
                <a:buChar char="•"/>
                <a:defRPr/>
              </a:pPr>
              <a:r>
                <a:rPr lang="en-US" sz="2200" kern="0" dirty="0">
                  <a:solidFill>
                    <a:srgbClr val="000000"/>
                  </a:solidFill>
                </a:rPr>
                <a:t>Texture memory</a:t>
              </a:r>
            </a:p>
            <a:p>
              <a:pPr marL="342900" indent="-342900">
                <a:spcBef>
                  <a:spcPts val="800"/>
                </a:spcBef>
                <a:buClr>
                  <a:srgbClr val="000000"/>
                </a:buClr>
                <a:buSzPct val="100000"/>
                <a:defRPr/>
              </a:pPr>
              <a:endParaRPr lang="en-US" sz="2600" kern="0" dirty="0">
                <a:solidFill>
                  <a:srgbClr val="000000"/>
                </a:solidFill>
              </a:endParaRPr>
            </a:p>
          </p:txBody>
        </p:sp>
        <p:grpSp>
          <p:nvGrpSpPr>
            <p:cNvPr id="54" name="Group 53"/>
            <p:cNvGrpSpPr/>
            <p:nvPr/>
          </p:nvGrpSpPr>
          <p:grpSpPr>
            <a:xfrm>
              <a:off x="5654336" y="1546226"/>
              <a:ext cx="4824752" cy="5045075"/>
              <a:chOff x="5654336" y="1546226"/>
              <a:chExt cx="4824752" cy="5045075"/>
            </a:xfrm>
          </p:grpSpPr>
          <p:sp>
            <p:nvSpPr>
              <p:cNvPr id="37892" name="AutoShape 5">
                <a:extLst>
                  <a:ext uri="{FF2B5EF4-FFF2-40B4-BE49-F238E27FC236}">
                    <a16:creationId xmlns:a16="http://schemas.microsoft.com/office/drawing/2014/main" id="{A38332CF-727C-2D83-BE44-464CF6081B8C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6762750" y="1546226"/>
                <a:ext cx="3716338" cy="504507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hangingPunct="1"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buNone/>
                </a:pPr>
                <a:endParaRPr lang="en-US" altLang="en-US"/>
              </a:p>
            </p:txBody>
          </p:sp>
          <p:sp>
            <p:nvSpPr>
              <p:cNvPr id="37893" name="Text Box 6">
                <a:extLst>
                  <a:ext uri="{FF2B5EF4-FFF2-40B4-BE49-F238E27FC236}">
                    <a16:creationId xmlns:a16="http://schemas.microsoft.com/office/drawing/2014/main" id="{40952226-A037-E0DB-5D48-8BC2E3BE778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767513" y="1550988"/>
                <a:ext cx="3706812" cy="5035550"/>
              </a:xfrm>
              <a:prstGeom prst="rect">
                <a:avLst/>
              </a:prstGeom>
              <a:solidFill>
                <a:srgbClr val="99CCFF"/>
              </a:solidFill>
              <a:ln w="9525">
                <a:solidFill>
                  <a:srgbClr val="969696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pPr eaLnBrk="1" hangingPunct="1"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buNone/>
                </a:pPr>
                <a:r>
                  <a:rPr lang="en-US" altLang="en-US" sz="1200" b="1">
                    <a:solidFill>
                      <a:srgbClr val="003300"/>
                    </a:solidFill>
                  </a:rPr>
                  <a:t>(Device) Grid</a:t>
                </a:r>
              </a:p>
            </p:txBody>
          </p:sp>
          <p:sp>
            <p:nvSpPr>
              <p:cNvPr id="37894" name="Text Box 7">
                <a:extLst>
                  <a:ext uri="{FF2B5EF4-FFF2-40B4-BE49-F238E27FC236}">
                    <a16:creationId xmlns:a16="http://schemas.microsoft.com/office/drawing/2014/main" id="{0DEB3D55-E433-6E69-C093-352BFE7941D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818313" y="5541964"/>
                <a:ext cx="3605212" cy="427037"/>
              </a:xfrm>
              <a:prstGeom prst="rect">
                <a:avLst/>
              </a:prstGeom>
              <a:solidFill>
                <a:srgbClr val="FF6600"/>
              </a:solidFill>
              <a:ln w="9525">
                <a:solidFill>
                  <a:srgbClr val="969696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pPr eaLnBrk="1" hangingPunct="1"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buNone/>
                </a:pPr>
                <a:r>
                  <a:rPr lang="en-US" altLang="en-US" sz="1000" b="1">
                    <a:solidFill>
                      <a:srgbClr val="003300"/>
                    </a:solidFill>
                  </a:rPr>
                  <a:t>Constant</a:t>
                </a:r>
              </a:p>
              <a:p>
                <a:pPr eaLnBrk="1" hangingPunct="1"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buNone/>
                </a:pPr>
                <a:r>
                  <a:rPr lang="en-US" altLang="en-US" sz="1000" b="1">
                    <a:solidFill>
                      <a:srgbClr val="003300"/>
                    </a:solidFill>
                  </a:rPr>
                  <a:t>Memory</a:t>
                </a:r>
                <a:endParaRPr lang="en-US" altLang="en-US" sz="1000">
                  <a:solidFill>
                    <a:srgbClr val="003300"/>
                  </a:solidFill>
                </a:endParaRPr>
              </a:p>
            </p:txBody>
          </p:sp>
          <p:sp>
            <p:nvSpPr>
              <p:cNvPr id="37895" name="Text Box 8">
                <a:extLst>
                  <a:ext uri="{FF2B5EF4-FFF2-40B4-BE49-F238E27FC236}">
                    <a16:creationId xmlns:a16="http://schemas.microsoft.com/office/drawing/2014/main" id="{F32AFF38-5546-C82C-9FE3-835E88387E6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818313" y="6080125"/>
                <a:ext cx="3605212" cy="425450"/>
              </a:xfrm>
              <a:prstGeom prst="rect">
                <a:avLst/>
              </a:prstGeom>
              <a:solidFill>
                <a:srgbClr val="FF6600"/>
              </a:solidFill>
              <a:ln w="9525">
                <a:solidFill>
                  <a:srgbClr val="969696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pPr eaLnBrk="1" hangingPunct="1"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buNone/>
                </a:pPr>
                <a:r>
                  <a:rPr lang="en-US" altLang="en-US" sz="1000" b="1">
                    <a:solidFill>
                      <a:srgbClr val="003300"/>
                    </a:solidFill>
                  </a:rPr>
                  <a:t>Texture</a:t>
                </a:r>
              </a:p>
              <a:p>
                <a:pPr eaLnBrk="1" hangingPunct="1"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buNone/>
                </a:pPr>
                <a:r>
                  <a:rPr lang="en-US" altLang="en-US" sz="1000" b="1">
                    <a:solidFill>
                      <a:srgbClr val="003300"/>
                    </a:solidFill>
                  </a:rPr>
                  <a:t>Memory</a:t>
                </a:r>
                <a:endParaRPr lang="en-US" altLang="en-US" sz="1000">
                  <a:solidFill>
                    <a:srgbClr val="003300"/>
                  </a:solidFill>
                </a:endParaRPr>
              </a:p>
            </p:txBody>
          </p:sp>
          <p:sp>
            <p:nvSpPr>
              <p:cNvPr id="37896" name="Text Box 9">
                <a:extLst>
                  <a:ext uri="{FF2B5EF4-FFF2-40B4-BE49-F238E27FC236}">
                    <a16:creationId xmlns:a16="http://schemas.microsoft.com/office/drawing/2014/main" id="{A4CBB53E-8C31-572A-2C8F-0AC668E9BD4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818313" y="4995863"/>
                <a:ext cx="3605212" cy="425450"/>
              </a:xfrm>
              <a:prstGeom prst="rect">
                <a:avLst/>
              </a:prstGeom>
              <a:solidFill>
                <a:srgbClr val="FF6600"/>
              </a:solidFill>
              <a:ln w="9525">
                <a:solidFill>
                  <a:srgbClr val="969696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pPr eaLnBrk="1" hangingPunct="1"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buNone/>
                </a:pPr>
                <a:r>
                  <a:rPr lang="en-US" altLang="en-US" sz="1000" b="1">
                    <a:solidFill>
                      <a:srgbClr val="003300"/>
                    </a:solidFill>
                  </a:rPr>
                  <a:t>Global</a:t>
                </a:r>
              </a:p>
              <a:p>
                <a:pPr eaLnBrk="1" hangingPunct="1"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buNone/>
                </a:pPr>
                <a:r>
                  <a:rPr lang="en-US" altLang="en-US" sz="1000" b="1">
                    <a:solidFill>
                      <a:srgbClr val="003300"/>
                    </a:solidFill>
                  </a:rPr>
                  <a:t>Memory</a:t>
                </a:r>
                <a:endParaRPr lang="en-US" altLang="en-US" sz="1000">
                  <a:solidFill>
                    <a:srgbClr val="003300"/>
                  </a:solidFill>
                </a:endParaRPr>
              </a:p>
            </p:txBody>
          </p:sp>
          <p:sp>
            <p:nvSpPr>
              <p:cNvPr id="37897" name="Text Box 10">
                <a:extLst>
                  <a:ext uri="{FF2B5EF4-FFF2-40B4-BE49-F238E27FC236}">
                    <a16:creationId xmlns:a16="http://schemas.microsoft.com/office/drawing/2014/main" id="{8CF1F06E-6469-30D7-7AE0-524AA657A34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816725" y="2044700"/>
                <a:ext cx="1771650" cy="2852738"/>
              </a:xfrm>
              <a:prstGeom prst="rect">
                <a:avLst/>
              </a:prstGeom>
              <a:solidFill>
                <a:srgbClr val="FFCC00"/>
              </a:solidFill>
              <a:ln w="9525">
                <a:solidFill>
                  <a:srgbClr val="969696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pPr eaLnBrk="1" hangingPunct="1"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buNone/>
                </a:pPr>
                <a:r>
                  <a:rPr lang="en-US" altLang="en-US" sz="1200" b="1">
                    <a:solidFill>
                      <a:srgbClr val="003300"/>
                    </a:solidFill>
                  </a:rPr>
                  <a:t>Block (0, 0)</a:t>
                </a:r>
              </a:p>
            </p:txBody>
          </p:sp>
          <p:sp>
            <p:nvSpPr>
              <p:cNvPr id="37898" name="Text Box 11">
                <a:extLst>
                  <a:ext uri="{FF2B5EF4-FFF2-40B4-BE49-F238E27FC236}">
                    <a16:creationId xmlns:a16="http://schemas.microsoft.com/office/drawing/2014/main" id="{C7A718FF-A0EF-4BF2-E00D-07E2EA5C76E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865938" y="2554288"/>
                <a:ext cx="1682750" cy="349250"/>
              </a:xfrm>
              <a:prstGeom prst="rect">
                <a:avLst/>
              </a:prstGeom>
              <a:solidFill>
                <a:srgbClr val="FF6600"/>
              </a:solidFill>
              <a:ln w="9525">
                <a:solidFill>
                  <a:srgbClr val="969696"/>
                </a:solidFill>
                <a:miter lim="800000"/>
                <a:headEnd/>
                <a:tailEnd/>
              </a:ln>
            </p:spPr>
            <p:txBody>
              <a:bodyPr lIns="0" tIns="91440" rIns="0" bIns="0"/>
              <a:lstStyle/>
              <a:p>
                <a:pPr algn="ctr" eaLnBrk="1" hangingPunct="1"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buNone/>
                </a:pPr>
                <a:r>
                  <a:rPr lang="en-US" altLang="en-US" sz="1000" b="1">
                    <a:solidFill>
                      <a:srgbClr val="003300"/>
                    </a:solidFill>
                  </a:rPr>
                  <a:t>Shared Memory</a:t>
                </a:r>
                <a:endParaRPr lang="en-US" altLang="en-US" sz="1000">
                  <a:solidFill>
                    <a:srgbClr val="003300"/>
                  </a:solidFill>
                </a:endParaRPr>
              </a:p>
            </p:txBody>
          </p:sp>
          <p:sp>
            <p:nvSpPr>
              <p:cNvPr id="37899" name="Text Box 12">
                <a:extLst>
                  <a:ext uri="{FF2B5EF4-FFF2-40B4-BE49-F238E27FC236}">
                    <a16:creationId xmlns:a16="http://schemas.microsoft.com/office/drawing/2014/main" id="{FE599266-149E-9844-5D2C-57F4AF73273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865938" y="4300539"/>
                <a:ext cx="527050" cy="547687"/>
              </a:xfrm>
              <a:prstGeom prst="rect">
                <a:avLst/>
              </a:prstGeom>
              <a:solidFill>
                <a:srgbClr val="FF6600"/>
              </a:solidFill>
              <a:ln w="9525">
                <a:solidFill>
                  <a:srgbClr val="969696"/>
                </a:solidFill>
                <a:miter lim="800000"/>
                <a:headEnd/>
                <a:tailEnd/>
              </a:ln>
            </p:spPr>
            <p:txBody>
              <a:bodyPr lIns="0" tIns="91440" rIns="0" bIns="0"/>
              <a:lstStyle/>
              <a:p>
                <a:pPr algn="ctr" eaLnBrk="1" hangingPunct="1"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buNone/>
                </a:pPr>
                <a:r>
                  <a:rPr lang="en-US" altLang="en-US" sz="1000" b="1">
                    <a:solidFill>
                      <a:srgbClr val="003300"/>
                    </a:solidFill>
                  </a:rPr>
                  <a:t>Local</a:t>
                </a:r>
              </a:p>
              <a:p>
                <a:pPr algn="ctr" eaLnBrk="1" hangingPunct="1"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buNone/>
                </a:pPr>
                <a:r>
                  <a:rPr lang="en-US" altLang="en-US" sz="1000" b="1">
                    <a:solidFill>
                      <a:srgbClr val="003300"/>
                    </a:solidFill>
                  </a:rPr>
                  <a:t>Memory</a:t>
                </a:r>
                <a:endParaRPr lang="en-US" altLang="en-US" sz="1000">
                  <a:solidFill>
                    <a:srgbClr val="003300"/>
                  </a:solidFill>
                </a:endParaRPr>
              </a:p>
            </p:txBody>
          </p:sp>
          <p:sp>
            <p:nvSpPr>
              <p:cNvPr id="37900" name="Text Box 13">
                <a:extLst>
                  <a:ext uri="{FF2B5EF4-FFF2-40B4-BE49-F238E27FC236}">
                    <a16:creationId xmlns:a16="http://schemas.microsoft.com/office/drawing/2014/main" id="{BB3199FF-754D-80E1-231E-DB35453F3B8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856414" y="3582988"/>
                <a:ext cx="820737" cy="487362"/>
              </a:xfrm>
              <a:prstGeom prst="rect">
                <a:avLst/>
              </a:prstGeom>
              <a:solidFill>
                <a:srgbClr val="99FF66"/>
              </a:solidFill>
              <a:ln w="9525">
                <a:solidFill>
                  <a:srgbClr val="969696"/>
                </a:solidFill>
                <a:miter lim="800000"/>
                <a:headEnd/>
                <a:tailEnd/>
              </a:ln>
            </p:spPr>
            <p:txBody>
              <a:bodyPr lIns="0" tIns="146304" rIns="0" bIns="0"/>
              <a:lstStyle/>
              <a:p>
                <a:pPr algn="ctr" eaLnBrk="1" hangingPunct="1"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buNone/>
                </a:pPr>
                <a:r>
                  <a:rPr lang="en-US" altLang="en-US" sz="1000" b="1">
                    <a:solidFill>
                      <a:srgbClr val="003300"/>
                    </a:solidFill>
                  </a:rPr>
                  <a:t>Thread (0, 0)</a:t>
                </a:r>
                <a:endParaRPr lang="en-US" altLang="en-US" sz="1000">
                  <a:solidFill>
                    <a:srgbClr val="003300"/>
                  </a:solidFill>
                </a:endParaRPr>
              </a:p>
            </p:txBody>
          </p:sp>
          <p:sp>
            <p:nvSpPr>
              <p:cNvPr id="37901" name="Text Box 14">
                <a:extLst>
                  <a:ext uri="{FF2B5EF4-FFF2-40B4-BE49-F238E27FC236}">
                    <a16:creationId xmlns:a16="http://schemas.microsoft.com/office/drawing/2014/main" id="{76551C1D-CCF4-7A29-F1B1-41FCB6C362F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856413" y="3057525"/>
                <a:ext cx="622300" cy="298450"/>
              </a:xfrm>
              <a:prstGeom prst="rect">
                <a:avLst/>
              </a:prstGeom>
              <a:solidFill>
                <a:srgbClr val="FF6600"/>
              </a:solidFill>
              <a:ln w="9525">
                <a:solidFill>
                  <a:srgbClr val="969696"/>
                </a:solidFill>
                <a:miter lim="800000"/>
                <a:headEnd/>
                <a:tailEnd/>
              </a:ln>
            </p:spPr>
            <p:txBody>
              <a:bodyPr lIns="0" tIns="0" rIns="0" bIns="0"/>
              <a:lstStyle/>
              <a:p>
                <a:pPr algn="ctr" eaLnBrk="1" hangingPunct="1"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buNone/>
                </a:pPr>
                <a:r>
                  <a:rPr lang="en-US" altLang="en-US" sz="1000" b="1">
                    <a:solidFill>
                      <a:srgbClr val="003300"/>
                    </a:solidFill>
                  </a:rPr>
                  <a:t>Registers</a:t>
                </a:r>
                <a:endParaRPr lang="en-US" altLang="en-US" sz="1000">
                  <a:solidFill>
                    <a:srgbClr val="003300"/>
                  </a:solidFill>
                </a:endParaRPr>
              </a:p>
            </p:txBody>
          </p:sp>
          <p:sp>
            <p:nvSpPr>
              <p:cNvPr id="37902" name="Line 15">
                <a:extLst>
                  <a:ext uri="{FF2B5EF4-FFF2-40B4-BE49-F238E27FC236}">
                    <a16:creationId xmlns:a16="http://schemas.microsoft.com/office/drawing/2014/main" id="{1A502EB6-9647-2341-C138-F5C91664941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7575551" y="2905125"/>
                <a:ext cx="3175" cy="668338"/>
              </a:xfrm>
              <a:prstGeom prst="line">
                <a:avLst/>
              </a:prstGeom>
              <a:noFill/>
              <a:ln w="25400">
                <a:solidFill>
                  <a:schemeClr val="bg1"/>
                </a:solidFill>
                <a:round/>
                <a:headEnd type="triangle" w="lg" len="med"/>
                <a:tailEnd type="triangle" w="lg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37903" name="Line 16">
                <a:extLst>
                  <a:ext uri="{FF2B5EF4-FFF2-40B4-BE49-F238E27FC236}">
                    <a16:creationId xmlns:a16="http://schemas.microsoft.com/office/drawing/2014/main" id="{9FE5749B-4C7F-1BE0-C704-B90A2F31088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7167563" y="3351213"/>
                <a:ext cx="0" cy="222250"/>
              </a:xfrm>
              <a:prstGeom prst="line">
                <a:avLst/>
              </a:prstGeom>
              <a:noFill/>
              <a:ln w="25400">
                <a:solidFill>
                  <a:schemeClr val="bg1"/>
                </a:solidFill>
                <a:round/>
                <a:headEnd type="triangle" w="lg" len="med"/>
                <a:tailEnd type="triangle" w="lg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37904" name="Line 17">
                <a:extLst>
                  <a:ext uri="{FF2B5EF4-FFF2-40B4-BE49-F238E27FC236}">
                    <a16:creationId xmlns:a16="http://schemas.microsoft.com/office/drawing/2014/main" id="{431775C0-5A77-775B-8D71-A449A6EE286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7129464" y="4075113"/>
                <a:ext cx="1587" cy="222250"/>
              </a:xfrm>
              <a:prstGeom prst="line">
                <a:avLst/>
              </a:prstGeom>
              <a:noFill/>
              <a:ln w="25400">
                <a:solidFill>
                  <a:schemeClr val="bg1"/>
                </a:solidFill>
                <a:round/>
                <a:headEnd type="triangle" w="lg" len="med"/>
                <a:tailEnd type="triangle" w="lg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37905" name="Line 18">
                <a:extLst>
                  <a:ext uri="{FF2B5EF4-FFF2-40B4-BE49-F238E27FC236}">
                    <a16:creationId xmlns:a16="http://schemas.microsoft.com/office/drawing/2014/main" id="{84CC76EA-190E-9451-75B3-F583C5711F5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7454900" y="4075114"/>
                <a:ext cx="0" cy="915987"/>
              </a:xfrm>
              <a:prstGeom prst="line">
                <a:avLst/>
              </a:prstGeom>
              <a:noFill/>
              <a:ln w="25400">
                <a:solidFill>
                  <a:schemeClr val="bg1"/>
                </a:solidFill>
                <a:round/>
                <a:headEnd type="triangle" w="lg" len="med"/>
                <a:tailEnd type="triangle" w="lg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37906" name="Line 19">
                <a:extLst>
                  <a:ext uri="{FF2B5EF4-FFF2-40B4-BE49-F238E27FC236}">
                    <a16:creationId xmlns:a16="http://schemas.microsoft.com/office/drawing/2014/main" id="{7AFB490C-CA2E-D3D1-735A-A92FB77CF1A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7646988" y="4075114"/>
                <a:ext cx="0" cy="2008187"/>
              </a:xfrm>
              <a:prstGeom prst="line">
                <a:avLst/>
              </a:prstGeom>
              <a:noFill/>
              <a:ln w="25400">
                <a:solidFill>
                  <a:schemeClr val="bg1"/>
                </a:solidFill>
                <a:round/>
                <a:headEnd type="triangle" w="lg" len="med"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37907" name="Line 20">
                <a:extLst>
                  <a:ext uri="{FF2B5EF4-FFF2-40B4-BE49-F238E27FC236}">
                    <a16:creationId xmlns:a16="http://schemas.microsoft.com/office/drawing/2014/main" id="{52C2564A-BE83-4F20-AE66-41525C361C5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7550150" y="4075114"/>
                <a:ext cx="1588" cy="1462087"/>
              </a:xfrm>
              <a:prstGeom prst="line">
                <a:avLst/>
              </a:prstGeom>
              <a:noFill/>
              <a:ln w="25400">
                <a:solidFill>
                  <a:schemeClr val="bg1"/>
                </a:solidFill>
                <a:round/>
                <a:headEnd type="triangle" w="lg" len="med"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37908" name="Text Box 21">
                <a:extLst>
                  <a:ext uri="{FF2B5EF4-FFF2-40B4-BE49-F238E27FC236}">
                    <a16:creationId xmlns:a16="http://schemas.microsoft.com/office/drawing/2014/main" id="{7BC1465E-D548-F375-8B01-DA46C8DB91E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735889" y="4300539"/>
                <a:ext cx="528637" cy="547687"/>
              </a:xfrm>
              <a:prstGeom prst="rect">
                <a:avLst/>
              </a:prstGeom>
              <a:solidFill>
                <a:srgbClr val="FF6600"/>
              </a:solidFill>
              <a:ln w="9525">
                <a:solidFill>
                  <a:srgbClr val="969696"/>
                </a:solidFill>
                <a:miter lim="800000"/>
                <a:headEnd/>
                <a:tailEnd/>
              </a:ln>
            </p:spPr>
            <p:txBody>
              <a:bodyPr lIns="0" tIns="91440" rIns="0" bIns="0"/>
              <a:lstStyle/>
              <a:p>
                <a:pPr algn="ctr" eaLnBrk="1" hangingPunct="1"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buNone/>
                </a:pPr>
                <a:r>
                  <a:rPr lang="en-US" altLang="en-US" sz="1000" b="1">
                    <a:solidFill>
                      <a:srgbClr val="003300"/>
                    </a:solidFill>
                  </a:rPr>
                  <a:t>Local</a:t>
                </a:r>
              </a:p>
              <a:p>
                <a:pPr algn="ctr" eaLnBrk="1" hangingPunct="1"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buNone/>
                </a:pPr>
                <a:r>
                  <a:rPr lang="en-US" altLang="en-US" sz="1000" b="1">
                    <a:solidFill>
                      <a:srgbClr val="003300"/>
                    </a:solidFill>
                  </a:rPr>
                  <a:t>Memory</a:t>
                </a:r>
                <a:endParaRPr lang="en-US" altLang="en-US" sz="1000">
                  <a:solidFill>
                    <a:srgbClr val="003300"/>
                  </a:solidFill>
                </a:endParaRPr>
              </a:p>
            </p:txBody>
          </p:sp>
          <p:sp>
            <p:nvSpPr>
              <p:cNvPr id="37909" name="Text Box 22">
                <a:extLst>
                  <a:ext uri="{FF2B5EF4-FFF2-40B4-BE49-F238E27FC236}">
                    <a16:creationId xmlns:a16="http://schemas.microsoft.com/office/drawing/2014/main" id="{52552D0B-43E1-29A9-49C6-930E97C7D1E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727950" y="3582988"/>
                <a:ext cx="820738" cy="487362"/>
              </a:xfrm>
              <a:prstGeom prst="rect">
                <a:avLst/>
              </a:prstGeom>
              <a:solidFill>
                <a:srgbClr val="99FF66"/>
              </a:solidFill>
              <a:ln w="9525">
                <a:solidFill>
                  <a:srgbClr val="969696"/>
                </a:solidFill>
                <a:miter lim="800000"/>
                <a:headEnd/>
                <a:tailEnd/>
              </a:ln>
            </p:spPr>
            <p:txBody>
              <a:bodyPr lIns="0" tIns="146304" rIns="0" bIns="0"/>
              <a:lstStyle/>
              <a:p>
                <a:pPr algn="ctr" eaLnBrk="1" hangingPunct="1"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buNone/>
                </a:pPr>
                <a:r>
                  <a:rPr lang="en-US" altLang="en-US" sz="1000" b="1">
                    <a:solidFill>
                      <a:srgbClr val="003300"/>
                    </a:solidFill>
                  </a:rPr>
                  <a:t>Thread (1, 0)</a:t>
                </a:r>
                <a:endParaRPr lang="en-US" altLang="en-US" sz="1000">
                  <a:solidFill>
                    <a:srgbClr val="003300"/>
                  </a:solidFill>
                </a:endParaRPr>
              </a:p>
            </p:txBody>
          </p:sp>
          <p:sp>
            <p:nvSpPr>
              <p:cNvPr id="37910" name="Text Box 23">
                <a:extLst>
                  <a:ext uri="{FF2B5EF4-FFF2-40B4-BE49-F238E27FC236}">
                    <a16:creationId xmlns:a16="http://schemas.microsoft.com/office/drawing/2014/main" id="{7AAE9CA8-D2BB-013C-4CA1-36AF7872C2A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727951" y="3057525"/>
                <a:ext cx="620713" cy="298450"/>
              </a:xfrm>
              <a:prstGeom prst="rect">
                <a:avLst/>
              </a:prstGeom>
              <a:solidFill>
                <a:srgbClr val="FF6600"/>
              </a:solidFill>
              <a:ln w="9525">
                <a:solidFill>
                  <a:srgbClr val="969696"/>
                </a:solidFill>
                <a:miter lim="800000"/>
                <a:headEnd/>
                <a:tailEnd/>
              </a:ln>
            </p:spPr>
            <p:txBody>
              <a:bodyPr lIns="0" tIns="0" rIns="0" bIns="0"/>
              <a:lstStyle/>
              <a:p>
                <a:pPr algn="ctr" eaLnBrk="1" hangingPunct="1"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buNone/>
                </a:pPr>
                <a:r>
                  <a:rPr lang="en-US" altLang="en-US" sz="1000" b="1">
                    <a:solidFill>
                      <a:srgbClr val="003300"/>
                    </a:solidFill>
                  </a:rPr>
                  <a:t>Registers</a:t>
                </a:r>
                <a:endParaRPr lang="en-US" altLang="en-US" sz="1000">
                  <a:solidFill>
                    <a:srgbClr val="003300"/>
                  </a:solidFill>
                </a:endParaRPr>
              </a:p>
            </p:txBody>
          </p:sp>
          <p:sp>
            <p:nvSpPr>
              <p:cNvPr id="37911" name="Line 24">
                <a:extLst>
                  <a:ext uri="{FF2B5EF4-FFF2-40B4-BE49-F238E27FC236}">
                    <a16:creationId xmlns:a16="http://schemas.microsoft.com/office/drawing/2014/main" id="{ECC26DA8-E388-A18A-F36B-42CB9577F57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8445501" y="2905125"/>
                <a:ext cx="3175" cy="668338"/>
              </a:xfrm>
              <a:prstGeom prst="line">
                <a:avLst/>
              </a:prstGeom>
              <a:noFill/>
              <a:ln w="25400">
                <a:solidFill>
                  <a:schemeClr val="bg1"/>
                </a:solidFill>
                <a:round/>
                <a:headEnd type="triangle" w="lg" len="med"/>
                <a:tailEnd type="triangle" w="lg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37912" name="Line 25">
                <a:extLst>
                  <a:ext uri="{FF2B5EF4-FFF2-40B4-BE49-F238E27FC236}">
                    <a16:creationId xmlns:a16="http://schemas.microsoft.com/office/drawing/2014/main" id="{5AEB1C1E-3152-822D-B477-658A8721725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8039100" y="3351213"/>
                <a:ext cx="0" cy="222250"/>
              </a:xfrm>
              <a:prstGeom prst="line">
                <a:avLst/>
              </a:prstGeom>
              <a:noFill/>
              <a:ln w="25400">
                <a:solidFill>
                  <a:schemeClr val="bg1"/>
                </a:solidFill>
                <a:round/>
                <a:headEnd type="triangle" w="lg" len="med"/>
                <a:tailEnd type="triangle" w="lg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37913" name="Line 26">
                <a:extLst>
                  <a:ext uri="{FF2B5EF4-FFF2-40B4-BE49-F238E27FC236}">
                    <a16:creationId xmlns:a16="http://schemas.microsoft.com/office/drawing/2014/main" id="{29D094F3-FD4E-4D20-3684-DAFEA44D297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7999414" y="4075113"/>
                <a:ext cx="1587" cy="222250"/>
              </a:xfrm>
              <a:prstGeom prst="line">
                <a:avLst/>
              </a:prstGeom>
              <a:noFill/>
              <a:ln w="25400">
                <a:solidFill>
                  <a:schemeClr val="bg1"/>
                </a:solidFill>
                <a:round/>
                <a:headEnd type="triangle" w="lg" len="med"/>
                <a:tailEnd type="triangle" w="lg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37914" name="Line 27">
                <a:extLst>
                  <a:ext uri="{FF2B5EF4-FFF2-40B4-BE49-F238E27FC236}">
                    <a16:creationId xmlns:a16="http://schemas.microsoft.com/office/drawing/2014/main" id="{F3A6FA08-FC4B-705E-D81A-CA00B1EEEED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8326438" y="4075114"/>
                <a:ext cx="0" cy="915987"/>
              </a:xfrm>
              <a:prstGeom prst="line">
                <a:avLst/>
              </a:prstGeom>
              <a:noFill/>
              <a:ln w="25400">
                <a:solidFill>
                  <a:schemeClr val="bg1"/>
                </a:solidFill>
                <a:round/>
                <a:headEnd type="triangle" w="lg" len="med"/>
                <a:tailEnd type="triangle" w="lg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37915" name="Line 28">
                <a:extLst>
                  <a:ext uri="{FF2B5EF4-FFF2-40B4-BE49-F238E27FC236}">
                    <a16:creationId xmlns:a16="http://schemas.microsoft.com/office/drawing/2014/main" id="{1A197B82-9CFB-338D-E957-05C7DFC2273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8516938" y="4075114"/>
                <a:ext cx="0" cy="2008187"/>
              </a:xfrm>
              <a:prstGeom prst="line">
                <a:avLst/>
              </a:prstGeom>
              <a:noFill/>
              <a:ln w="25400">
                <a:solidFill>
                  <a:schemeClr val="bg1"/>
                </a:solidFill>
                <a:round/>
                <a:headEnd type="triangle" w="lg" len="med"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37916" name="Line 29">
                <a:extLst>
                  <a:ext uri="{FF2B5EF4-FFF2-40B4-BE49-F238E27FC236}">
                    <a16:creationId xmlns:a16="http://schemas.microsoft.com/office/drawing/2014/main" id="{B1BB2E01-6BE8-F559-680B-D40E7D86781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8420100" y="4075114"/>
                <a:ext cx="1588" cy="1462087"/>
              </a:xfrm>
              <a:prstGeom prst="line">
                <a:avLst/>
              </a:prstGeom>
              <a:noFill/>
              <a:ln w="25400">
                <a:solidFill>
                  <a:schemeClr val="bg1"/>
                </a:solidFill>
                <a:round/>
                <a:headEnd type="triangle" w="lg" len="med"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37917" name="Text Box 30">
                <a:extLst>
                  <a:ext uri="{FF2B5EF4-FFF2-40B4-BE49-F238E27FC236}">
                    <a16:creationId xmlns:a16="http://schemas.microsoft.com/office/drawing/2014/main" id="{762D1BF8-BEF0-F67B-06B3-7D2A31B2D1D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8653463" y="2044700"/>
                <a:ext cx="1771650" cy="2852738"/>
              </a:xfrm>
              <a:prstGeom prst="rect">
                <a:avLst/>
              </a:prstGeom>
              <a:solidFill>
                <a:srgbClr val="FFCC00"/>
              </a:solidFill>
              <a:ln w="9525">
                <a:solidFill>
                  <a:srgbClr val="969696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pPr eaLnBrk="1" hangingPunct="1"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buNone/>
                </a:pPr>
                <a:r>
                  <a:rPr lang="en-US" altLang="en-US" sz="1200" b="1">
                    <a:solidFill>
                      <a:srgbClr val="003300"/>
                    </a:solidFill>
                  </a:rPr>
                  <a:t>Block (1, 0)</a:t>
                </a:r>
                <a:endParaRPr lang="en-US" altLang="en-US">
                  <a:solidFill>
                    <a:srgbClr val="003300"/>
                  </a:solidFill>
                </a:endParaRPr>
              </a:p>
            </p:txBody>
          </p:sp>
          <p:sp>
            <p:nvSpPr>
              <p:cNvPr id="37918" name="Text Box 31">
                <a:extLst>
                  <a:ext uri="{FF2B5EF4-FFF2-40B4-BE49-F238E27FC236}">
                    <a16:creationId xmlns:a16="http://schemas.microsoft.com/office/drawing/2014/main" id="{8AB27AF6-8244-9CBE-19A6-F5DEFA30302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8701089" y="2554288"/>
                <a:ext cx="1684337" cy="349250"/>
              </a:xfrm>
              <a:prstGeom prst="rect">
                <a:avLst/>
              </a:prstGeom>
              <a:solidFill>
                <a:srgbClr val="FF6600"/>
              </a:solidFill>
              <a:ln w="9525">
                <a:solidFill>
                  <a:srgbClr val="969696"/>
                </a:solidFill>
                <a:miter lim="800000"/>
                <a:headEnd/>
                <a:tailEnd/>
              </a:ln>
            </p:spPr>
            <p:txBody>
              <a:bodyPr lIns="0" tIns="91440" rIns="0" bIns="0"/>
              <a:lstStyle/>
              <a:p>
                <a:pPr algn="ctr" eaLnBrk="1" hangingPunct="1"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buNone/>
                </a:pPr>
                <a:r>
                  <a:rPr lang="en-US" altLang="en-US" sz="1000" b="1">
                    <a:solidFill>
                      <a:srgbClr val="003300"/>
                    </a:solidFill>
                  </a:rPr>
                  <a:t>Shared Memory</a:t>
                </a:r>
                <a:endParaRPr lang="en-US" altLang="en-US" sz="1000">
                  <a:solidFill>
                    <a:srgbClr val="003300"/>
                  </a:solidFill>
                </a:endParaRPr>
              </a:p>
            </p:txBody>
          </p:sp>
          <p:sp>
            <p:nvSpPr>
              <p:cNvPr id="37919" name="Text Box 32">
                <a:extLst>
                  <a:ext uri="{FF2B5EF4-FFF2-40B4-BE49-F238E27FC236}">
                    <a16:creationId xmlns:a16="http://schemas.microsoft.com/office/drawing/2014/main" id="{0531FEB9-9BB4-F858-FF78-6F298649E92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8701088" y="4300539"/>
                <a:ext cx="527050" cy="547687"/>
              </a:xfrm>
              <a:prstGeom prst="rect">
                <a:avLst/>
              </a:prstGeom>
              <a:solidFill>
                <a:srgbClr val="FF6600"/>
              </a:solidFill>
              <a:ln w="9525">
                <a:solidFill>
                  <a:srgbClr val="969696"/>
                </a:solidFill>
                <a:miter lim="800000"/>
                <a:headEnd/>
                <a:tailEnd/>
              </a:ln>
            </p:spPr>
            <p:txBody>
              <a:bodyPr lIns="0" tIns="91440" rIns="0" bIns="0"/>
              <a:lstStyle/>
              <a:p>
                <a:pPr algn="ctr" eaLnBrk="1" hangingPunct="1"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buNone/>
                </a:pPr>
                <a:r>
                  <a:rPr lang="en-US" altLang="en-US" sz="1000" b="1">
                    <a:solidFill>
                      <a:srgbClr val="003300"/>
                    </a:solidFill>
                  </a:rPr>
                  <a:t>Local</a:t>
                </a:r>
              </a:p>
              <a:p>
                <a:pPr algn="ctr" eaLnBrk="1" hangingPunct="1"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buNone/>
                </a:pPr>
                <a:r>
                  <a:rPr lang="en-US" altLang="en-US" sz="1000" b="1">
                    <a:solidFill>
                      <a:srgbClr val="003300"/>
                    </a:solidFill>
                  </a:rPr>
                  <a:t>Memory</a:t>
                </a:r>
                <a:endParaRPr lang="en-US" altLang="en-US" sz="1000">
                  <a:solidFill>
                    <a:srgbClr val="003300"/>
                  </a:solidFill>
                </a:endParaRPr>
              </a:p>
            </p:txBody>
          </p:sp>
          <p:sp>
            <p:nvSpPr>
              <p:cNvPr id="37920" name="Text Box 33">
                <a:extLst>
                  <a:ext uri="{FF2B5EF4-FFF2-40B4-BE49-F238E27FC236}">
                    <a16:creationId xmlns:a16="http://schemas.microsoft.com/office/drawing/2014/main" id="{24FC9F17-74E1-45CB-258C-451538F9EE7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8693150" y="3582988"/>
                <a:ext cx="820738" cy="487362"/>
              </a:xfrm>
              <a:prstGeom prst="rect">
                <a:avLst/>
              </a:prstGeom>
              <a:solidFill>
                <a:srgbClr val="99FF66"/>
              </a:solidFill>
              <a:ln w="9525">
                <a:solidFill>
                  <a:srgbClr val="969696"/>
                </a:solidFill>
                <a:miter lim="800000"/>
                <a:headEnd/>
                <a:tailEnd/>
              </a:ln>
            </p:spPr>
            <p:txBody>
              <a:bodyPr lIns="0" tIns="146304" rIns="0" bIns="0"/>
              <a:lstStyle/>
              <a:p>
                <a:pPr algn="ctr" eaLnBrk="1" hangingPunct="1"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buNone/>
                </a:pPr>
                <a:r>
                  <a:rPr lang="en-US" altLang="en-US" sz="1000" b="1">
                    <a:solidFill>
                      <a:srgbClr val="003300"/>
                    </a:solidFill>
                  </a:rPr>
                  <a:t>Thread (0, 0)</a:t>
                </a:r>
                <a:endParaRPr lang="en-US" altLang="en-US" sz="1000">
                  <a:solidFill>
                    <a:srgbClr val="003300"/>
                  </a:solidFill>
                </a:endParaRPr>
              </a:p>
            </p:txBody>
          </p:sp>
          <p:sp>
            <p:nvSpPr>
              <p:cNvPr id="37921" name="Text Box 34">
                <a:extLst>
                  <a:ext uri="{FF2B5EF4-FFF2-40B4-BE49-F238E27FC236}">
                    <a16:creationId xmlns:a16="http://schemas.microsoft.com/office/drawing/2014/main" id="{B029C47E-F234-335B-DDEC-887F1A886B4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8693151" y="3057525"/>
                <a:ext cx="620713" cy="298450"/>
              </a:xfrm>
              <a:prstGeom prst="rect">
                <a:avLst/>
              </a:prstGeom>
              <a:solidFill>
                <a:srgbClr val="FF6600"/>
              </a:solidFill>
              <a:ln w="9525">
                <a:solidFill>
                  <a:srgbClr val="969696"/>
                </a:solidFill>
                <a:miter lim="800000"/>
                <a:headEnd/>
                <a:tailEnd/>
              </a:ln>
            </p:spPr>
            <p:txBody>
              <a:bodyPr lIns="0" tIns="0" rIns="0" bIns="0"/>
              <a:lstStyle/>
              <a:p>
                <a:pPr algn="ctr" eaLnBrk="1" hangingPunct="1"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buNone/>
                </a:pPr>
                <a:r>
                  <a:rPr lang="en-US" altLang="en-US" sz="1000" b="1">
                    <a:solidFill>
                      <a:srgbClr val="003300"/>
                    </a:solidFill>
                  </a:rPr>
                  <a:t>Registers</a:t>
                </a:r>
                <a:endParaRPr lang="en-US" altLang="en-US" sz="1000">
                  <a:solidFill>
                    <a:srgbClr val="003300"/>
                  </a:solidFill>
                </a:endParaRPr>
              </a:p>
            </p:txBody>
          </p:sp>
          <p:sp>
            <p:nvSpPr>
              <p:cNvPr id="37922" name="Line 35">
                <a:extLst>
                  <a:ext uri="{FF2B5EF4-FFF2-40B4-BE49-F238E27FC236}">
                    <a16:creationId xmlns:a16="http://schemas.microsoft.com/office/drawing/2014/main" id="{BAE53630-BA76-AD83-FE63-F33C84D025E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9410701" y="2905125"/>
                <a:ext cx="3175" cy="668338"/>
              </a:xfrm>
              <a:prstGeom prst="line">
                <a:avLst/>
              </a:prstGeom>
              <a:noFill/>
              <a:ln w="25400">
                <a:solidFill>
                  <a:schemeClr val="bg1"/>
                </a:solidFill>
                <a:round/>
                <a:headEnd type="triangle" w="lg" len="med"/>
                <a:tailEnd type="triangle" w="lg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37923" name="Line 36">
                <a:extLst>
                  <a:ext uri="{FF2B5EF4-FFF2-40B4-BE49-F238E27FC236}">
                    <a16:creationId xmlns:a16="http://schemas.microsoft.com/office/drawing/2014/main" id="{5D4E340F-12EA-5804-90D7-BCCBE0B20AE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9004300" y="3351213"/>
                <a:ext cx="0" cy="222250"/>
              </a:xfrm>
              <a:prstGeom prst="line">
                <a:avLst/>
              </a:prstGeom>
              <a:noFill/>
              <a:ln w="25400">
                <a:solidFill>
                  <a:schemeClr val="bg1"/>
                </a:solidFill>
                <a:round/>
                <a:headEnd type="triangle" w="lg" len="med"/>
                <a:tailEnd type="triangle" w="lg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37924" name="Line 37">
                <a:extLst>
                  <a:ext uri="{FF2B5EF4-FFF2-40B4-BE49-F238E27FC236}">
                    <a16:creationId xmlns:a16="http://schemas.microsoft.com/office/drawing/2014/main" id="{FA37D07E-3BDF-B50D-EBCE-AAA174FE284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8964614" y="4075113"/>
                <a:ext cx="1587" cy="222250"/>
              </a:xfrm>
              <a:prstGeom prst="line">
                <a:avLst/>
              </a:prstGeom>
              <a:noFill/>
              <a:ln w="25400">
                <a:solidFill>
                  <a:schemeClr val="bg1"/>
                </a:solidFill>
                <a:round/>
                <a:headEnd type="triangle" w="lg" len="med"/>
                <a:tailEnd type="triangle" w="lg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37925" name="Line 38">
                <a:extLst>
                  <a:ext uri="{FF2B5EF4-FFF2-40B4-BE49-F238E27FC236}">
                    <a16:creationId xmlns:a16="http://schemas.microsoft.com/office/drawing/2014/main" id="{F82A7884-E702-BC6C-D802-DDA9F171471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9291638" y="4075114"/>
                <a:ext cx="0" cy="915987"/>
              </a:xfrm>
              <a:prstGeom prst="line">
                <a:avLst/>
              </a:prstGeom>
              <a:noFill/>
              <a:ln w="25400">
                <a:solidFill>
                  <a:schemeClr val="bg1"/>
                </a:solidFill>
                <a:round/>
                <a:headEnd type="triangle" w="lg" len="med"/>
                <a:tailEnd type="triangle" w="lg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37926" name="Line 39">
                <a:extLst>
                  <a:ext uri="{FF2B5EF4-FFF2-40B4-BE49-F238E27FC236}">
                    <a16:creationId xmlns:a16="http://schemas.microsoft.com/office/drawing/2014/main" id="{F333E811-A361-CF71-2EFD-D1736D7FE4F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9482138" y="4075114"/>
                <a:ext cx="0" cy="2008187"/>
              </a:xfrm>
              <a:prstGeom prst="line">
                <a:avLst/>
              </a:prstGeom>
              <a:noFill/>
              <a:ln w="25400">
                <a:solidFill>
                  <a:schemeClr val="bg1"/>
                </a:solidFill>
                <a:round/>
                <a:headEnd type="triangle" w="lg" len="med"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37927" name="Line 40">
                <a:extLst>
                  <a:ext uri="{FF2B5EF4-FFF2-40B4-BE49-F238E27FC236}">
                    <a16:creationId xmlns:a16="http://schemas.microsoft.com/office/drawing/2014/main" id="{1B4E5235-C997-EB1C-625A-65B34B360C0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9385300" y="4075114"/>
                <a:ext cx="1588" cy="1462087"/>
              </a:xfrm>
              <a:prstGeom prst="line">
                <a:avLst/>
              </a:prstGeom>
              <a:noFill/>
              <a:ln w="25400">
                <a:solidFill>
                  <a:schemeClr val="bg1"/>
                </a:solidFill>
                <a:round/>
                <a:headEnd type="triangle" w="lg" len="med"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37928" name="Text Box 41">
                <a:extLst>
                  <a:ext uri="{FF2B5EF4-FFF2-40B4-BE49-F238E27FC236}">
                    <a16:creationId xmlns:a16="http://schemas.microsoft.com/office/drawing/2014/main" id="{0667E8ED-92A4-7519-5BB5-5A4761882FE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9572625" y="4300539"/>
                <a:ext cx="527050" cy="547687"/>
              </a:xfrm>
              <a:prstGeom prst="rect">
                <a:avLst/>
              </a:prstGeom>
              <a:solidFill>
                <a:srgbClr val="FF6600"/>
              </a:solidFill>
              <a:ln w="9525">
                <a:solidFill>
                  <a:srgbClr val="969696"/>
                </a:solidFill>
                <a:miter lim="800000"/>
                <a:headEnd/>
                <a:tailEnd/>
              </a:ln>
            </p:spPr>
            <p:txBody>
              <a:bodyPr lIns="0" tIns="91440" rIns="0" bIns="0"/>
              <a:lstStyle/>
              <a:p>
                <a:pPr algn="ctr" eaLnBrk="1" hangingPunct="1"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buNone/>
                </a:pPr>
                <a:r>
                  <a:rPr lang="en-US" altLang="en-US" sz="1000" b="1">
                    <a:solidFill>
                      <a:srgbClr val="003300"/>
                    </a:solidFill>
                  </a:rPr>
                  <a:t>Local</a:t>
                </a:r>
              </a:p>
              <a:p>
                <a:pPr algn="ctr" eaLnBrk="1" hangingPunct="1"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buNone/>
                </a:pPr>
                <a:r>
                  <a:rPr lang="en-US" altLang="en-US" sz="1000" b="1">
                    <a:solidFill>
                      <a:srgbClr val="003300"/>
                    </a:solidFill>
                  </a:rPr>
                  <a:t>Memory</a:t>
                </a:r>
                <a:endParaRPr lang="en-US" altLang="en-US" sz="1000">
                  <a:solidFill>
                    <a:srgbClr val="003300"/>
                  </a:solidFill>
                </a:endParaRPr>
              </a:p>
            </p:txBody>
          </p:sp>
          <p:sp>
            <p:nvSpPr>
              <p:cNvPr id="37929" name="Text Box 42">
                <a:extLst>
                  <a:ext uri="{FF2B5EF4-FFF2-40B4-BE49-F238E27FC236}">
                    <a16:creationId xmlns:a16="http://schemas.microsoft.com/office/drawing/2014/main" id="{814BF400-2B64-DF99-8C20-10AAC8E38EE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9564689" y="3582988"/>
                <a:ext cx="820737" cy="487362"/>
              </a:xfrm>
              <a:prstGeom prst="rect">
                <a:avLst/>
              </a:prstGeom>
              <a:solidFill>
                <a:srgbClr val="99FF66"/>
              </a:solidFill>
              <a:ln w="9525">
                <a:solidFill>
                  <a:srgbClr val="969696"/>
                </a:solidFill>
                <a:miter lim="800000"/>
                <a:headEnd/>
                <a:tailEnd/>
              </a:ln>
            </p:spPr>
            <p:txBody>
              <a:bodyPr lIns="0" tIns="146304" rIns="0" bIns="0"/>
              <a:lstStyle/>
              <a:p>
                <a:pPr algn="ctr" eaLnBrk="1" hangingPunct="1"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buNone/>
                </a:pPr>
                <a:r>
                  <a:rPr lang="en-US" altLang="en-US" sz="1000" b="1">
                    <a:solidFill>
                      <a:srgbClr val="003300"/>
                    </a:solidFill>
                  </a:rPr>
                  <a:t>Thread (1, 0)</a:t>
                </a:r>
                <a:endParaRPr lang="en-US" altLang="en-US" sz="1000">
                  <a:solidFill>
                    <a:srgbClr val="003300"/>
                  </a:solidFill>
                </a:endParaRPr>
              </a:p>
            </p:txBody>
          </p:sp>
          <p:sp>
            <p:nvSpPr>
              <p:cNvPr id="37930" name="Text Box 43">
                <a:extLst>
                  <a:ext uri="{FF2B5EF4-FFF2-40B4-BE49-F238E27FC236}">
                    <a16:creationId xmlns:a16="http://schemas.microsoft.com/office/drawing/2014/main" id="{C8B40D6A-2AB4-E2B7-3C79-C6B40839018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9564688" y="3057525"/>
                <a:ext cx="620712" cy="298450"/>
              </a:xfrm>
              <a:prstGeom prst="rect">
                <a:avLst/>
              </a:prstGeom>
              <a:solidFill>
                <a:srgbClr val="FF6600"/>
              </a:solidFill>
              <a:ln w="9525">
                <a:solidFill>
                  <a:srgbClr val="969696"/>
                </a:solidFill>
                <a:miter lim="800000"/>
                <a:headEnd/>
                <a:tailEnd/>
              </a:ln>
            </p:spPr>
            <p:txBody>
              <a:bodyPr lIns="0" tIns="0" rIns="0" bIns="0"/>
              <a:lstStyle/>
              <a:p>
                <a:pPr algn="ctr" eaLnBrk="1" hangingPunct="1"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buNone/>
                </a:pPr>
                <a:r>
                  <a:rPr lang="en-US" altLang="en-US" sz="1000" b="1">
                    <a:solidFill>
                      <a:srgbClr val="003300"/>
                    </a:solidFill>
                  </a:rPr>
                  <a:t>Registers</a:t>
                </a:r>
                <a:endParaRPr lang="en-US" altLang="en-US" sz="1000">
                  <a:solidFill>
                    <a:srgbClr val="003300"/>
                  </a:solidFill>
                </a:endParaRPr>
              </a:p>
            </p:txBody>
          </p:sp>
          <p:sp>
            <p:nvSpPr>
              <p:cNvPr id="37931" name="Line 44">
                <a:extLst>
                  <a:ext uri="{FF2B5EF4-FFF2-40B4-BE49-F238E27FC236}">
                    <a16:creationId xmlns:a16="http://schemas.microsoft.com/office/drawing/2014/main" id="{6CEA1950-A9AC-0699-69A6-A4A0B949F24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0282239" y="2905125"/>
                <a:ext cx="3175" cy="668338"/>
              </a:xfrm>
              <a:prstGeom prst="line">
                <a:avLst/>
              </a:prstGeom>
              <a:noFill/>
              <a:ln w="25400">
                <a:solidFill>
                  <a:schemeClr val="bg1"/>
                </a:solidFill>
                <a:round/>
                <a:headEnd type="triangle" w="lg" len="med"/>
                <a:tailEnd type="triangle" w="lg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37932" name="Line 45">
                <a:extLst>
                  <a:ext uri="{FF2B5EF4-FFF2-40B4-BE49-F238E27FC236}">
                    <a16:creationId xmlns:a16="http://schemas.microsoft.com/office/drawing/2014/main" id="{D68CD663-06C3-2A36-AAB7-47AC61F0623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9874250" y="3351213"/>
                <a:ext cx="0" cy="222250"/>
              </a:xfrm>
              <a:prstGeom prst="line">
                <a:avLst/>
              </a:prstGeom>
              <a:noFill/>
              <a:ln w="25400">
                <a:solidFill>
                  <a:schemeClr val="bg1"/>
                </a:solidFill>
                <a:round/>
                <a:headEnd type="triangle" w="lg" len="med"/>
                <a:tailEnd type="triangle" w="lg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37933" name="Line 46">
                <a:extLst>
                  <a:ext uri="{FF2B5EF4-FFF2-40B4-BE49-F238E27FC236}">
                    <a16:creationId xmlns:a16="http://schemas.microsoft.com/office/drawing/2014/main" id="{3D59AD01-58F3-CAE3-B56C-0F4241D3EED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9836150" y="4075113"/>
                <a:ext cx="1588" cy="222250"/>
              </a:xfrm>
              <a:prstGeom prst="line">
                <a:avLst/>
              </a:prstGeom>
              <a:noFill/>
              <a:ln w="25400">
                <a:solidFill>
                  <a:schemeClr val="bg1"/>
                </a:solidFill>
                <a:round/>
                <a:headEnd type="triangle" w="lg" len="med"/>
                <a:tailEnd type="triangle" w="lg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37934" name="Line 47">
                <a:extLst>
                  <a:ext uri="{FF2B5EF4-FFF2-40B4-BE49-F238E27FC236}">
                    <a16:creationId xmlns:a16="http://schemas.microsoft.com/office/drawing/2014/main" id="{876AFDFC-4531-BD33-0912-09981343A05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0163175" y="4075114"/>
                <a:ext cx="0" cy="915987"/>
              </a:xfrm>
              <a:prstGeom prst="line">
                <a:avLst/>
              </a:prstGeom>
              <a:noFill/>
              <a:ln w="25400">
                <a:solidFill>
                  <a:schemeClr val="bg1"/>
                </a:solidFill>
                <a:round/>
                <a:headEnd type="triangle" w="lg" len="med"/>
                <a:tailEnd type="triangle" w="lg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37935" name="Line 48">
                <a:extLst>
                  <a:ext uri="{FF2B5EF4-FFF2-40B4-BE49-F238E27FC236}">
                    <a16:creationId xmlns:a16="http://schemas.microsoft.com/office/drawing/2014/main" id="{4839C81D-64A9-C799-A9AC-C3056A3B503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0353675" y="4075114"/>
                <a:ext cx="0" cy="2008187"/>
              </a:xfrm>
              <a:prstGeom prst="line">
                <a:avLst/>
              </a:prstGeom>
              <a:noFill/>
              <a:ln w="25400">
                <a:solidFill>
                  <a:schemeClr val="bg1"/>
                </a:solidFill>
                <a:round/>
                <a:headEnd type="triangle" w="lg" len="med"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37936" name="Line 49">
                <a:extLst>
                  <a:ext uri="{FF2B5EF4-FFF2-40B4-BE49-F238E27FC236}">
                    <a16:creationId xmlns:a16="http://schemas.microsoft.com/office/drawing/2014/main" id="{7ACB172D-90E8-B1C0-D2DC-E7391E17A77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0256839" y="4075114"/>
                <a:ext cx="1587" cy="1462087"/>
              </a:xfrm>
              <a:prstGeom prst="line">
                <a:avLst/>
              </a:prstGeom>
              <a:noFill/>
              <a:ln w="25400">
                <a:solidFill>
                  <a:schemeClr val="bg1"/>
                </a:solidFill>
                <a:round/>
                <a:headEnd type="triangle" w="lg" len="med"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49" name="Text Box 50">
                <a:extLst>
                  <a:ext uri="{FF2B5EF4-FFF2-40B4-BE49-F238E27FC236}">
                    <a16:creationId xmlns:a16="http://schemas.microsoft.com/office/drawing/2014/main" id="{6F0E5539-E3FA-E819-E9CE-B71D9813DD9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654336" y="4991101"/>
                <a:ext cx="563563" cy="1600200"/>
              </a:xfrm>
              <a:prstGeom prst="rect">
                <a:avLst/>
              </a:prstGeom>
              <a:solidFill>
                <a:srgbClr val="99CCFF"/>
              </a:solidFill>
              <a:ln w="9525">
                <a:solidFill>
                  <a:srgbClr val="969696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pPr eaLnBrk="1" hangingPunct="1"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buNone/>
                </a:pPr>
                <a:r>
                  <a:rPr lang="en-US" altLang="en-US" sz="1200" b="1">
                    <a:solidFill>
                      <a:srgbClr val="003300"/>
                    </a:solidFill>
                  </a:rPr>
                  <a:t>Host</a:t>
                </a:r>
              </a:p>
            </p:txBody>
          </p:sp>
          <p:sp useBgFill="1">
            <p:nvSpPr>
              <p:cNvPr id="50" name="Line 51">
                <a:extLst>
                  <a:ext uri="{FF2B5EF4-FFF2-40B4-BE49-F238E27FC236}">
                    <a16:creationId xmlns:a16="http://schemas.microsoft.com/office/drawing/2014/main" id="{0D28B4D4-7ADD-21AD-2C79-9A03596BDF8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217899" y="5203388"/>
                <a:ext cx="598826" cy="437"/>
              </a:xfrm>
              <a:prstGeom prst="line">
                <a:avLst/>
              </a:prstGeom>
              <a:ln w="25400">
                <a:solidFill>
                  <a:schemeClr val="bg1"/>
                </a:solidFill>
                <a:round/>
                <a:headEnd type="triangle" w="lg" len="med"/>
                <a:tailEnd type="triangle" w="lg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51" name="Line 52">
                <a:extLst>
                  <a:ext uri="{FF2B5EF4-FFF2-40B4-BE49-F238E27FC236}">
                    <a16:creationId xmlns:a16="http://schemas.microsoft.com/office/drawing/2014/main" id="{22F168B8-0B24-C077-9C3E-7E39CA756D5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217900" y="5743137"/>
                <a:ext cx="598826" cy="437"/>
              </a:xfrm>
              <a:prstGeom prst="line">
                <a:avLst/>
              </a:prstGeom>
              <a:noFill/>
              <a:ln w="25400">
                <a:solidFill>
                  <a:schemeClr val="bg1"/>
                </a:solidFill>
                <a:round/>
                <a:headEnd type="triangle" w="lg" len="med"/>
                <a:tailEnd type="triangle" w="lg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52" name="Line 53">
                <a:extLst>
                  <a:ext uri="{FF2B5EF4-FFF2-40B4-BE49-F238E27FC236}">
                    <a16:creationId xmlns:a16="http://schemas.microsoft.com/office/drawing/2014/main" id="{E1620664-0274-146C-C4CE-5F095318E04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6217900" y="6283324"/>
                <a:ext cx="598826" cy="6187"/>
              </a:xfrm>
              <a:prstGeom prst="line">
                <a:avLst/>
              </a:prstGeom>
              <a:noFill/>
              <a:ln w="25400">
                <a:solidFill>
                  <a:schemeClr val="bg1"/>
                </a:solidFill>
                <a:round/>
                <a:headEnd type="triangle" w="lg" len="med"/>
                <a:tailEnd type="triangle" w="lg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</p:grpSp>
      </p:grpSp>
      <p:sp>
        <p:nvSpPr>
          <p:cNvPr id="4" name="Title 3">
            <a:extLst>
              <a:ext uri="{FF2B5EF4-FFF2-40B4-BE49-F238E27FC236}">
                <a16:creationId xmlns:a16="http://schemas.microsoft.com/office/drawing/2014/main" id="{1A37AC4F-76E6-3653-86F4-E9F59B5775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651" y="1160913"/>
            <a:ext cx="9778365" cy="1494596"/>
          </a:xfrm>
        </p:spPr>
        <p:txBody>
          <a:bodyPr/>
          <a:lstStyle/>
          <a:p>
            <a:r>
              <a:rPr lang="en-US" sz="4400" kern="0" dirty="0">
                <a:solidFill>
                  <a:srgbClr val="000000"/>
                </a:solidFill>
                <a:latin typeface="+mj-lt"/>
                <a:ea typeface="+mj-ea"/>
                <a:cs typeface="+mj-cs"/>
              </a:rPr>
              <a:t>Host Accessible Memory</a:t>
            </a:r>
            <a:br>
              <a:rPr lang="en-US" sz="4400" kern="0" dirty="0">
                <a:solidFill>
                  <a:srgbClr val="000000"/>
                </a:solidFill>
                <a:latin typeface="+mj-lt"/>
                <a:ea typeface="+mj-ea"/>
                <a:cs typeface="+mj-cs"/>
              </a:rPr>
            </a:br>
            <a:endParaRPr lang="en-IN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C8EC410-0937-B12B-7EEC-D65151240BC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53542" y="1624213"/>
            <a:ext cx="5611065" cy="501695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DFDF175-84D4-F138-AEC0-139CF5EB33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2183305" y="584005"/>
            <a:ext cx="9778365" cy="1494596"/>
          </a:xfrm>
        </p:spPr>
        <p:txBody>
          <a:bodyPr/>
          <a:lstStyle/>
          <a:p>
            <a:pPr algn="ctr"/>
            <a:r>
              <a:rPr lang="en-IN" b="1" dirty="0"/>
              <a:t>Thread Hierarchy</a:t>
            </a:r>
          </a:p>
        </p:txBody>
      </p:sp>
    </p:spTree>
    <p:extLst>
      <p:ext uri="{BB962C8B-B14F-4D97-AF65-F5344CB8AC3E}">
        <p14:creationId xmlns:p14="http://schemas.microsoft.com/office/powerpoint/2010/main" val="168631176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FDF175-84D4-F138-AEC0-139CF5EB33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2540726" y="655914"/>
            <a:ext cx="9778365" cy="1494596"/>
          </a:xfrm>
        </p:spPr>
        <p:txBody>
          <a:bodyPr/>
          <a:lstStyle/>
          <a:p>
            <a:pPr algn="ctr"/>
            <a:r>
              <a:rPr lang="en-IN" b="1" dirty="0"/>
              <a:t>Thread Hierarchy</a:t>
            </a:r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786D016A-BB63-BC72-7B6D-7929EDD32604}"/>
              </a:ext>
            </a:extLst>
          </p:cNvPr>
          <p:cNvSpPr>
            <a:spLocks noGrp="1"/>
          </p:cNvSpPr>
          <p:nvPr>
            <p:ph sz="quarter" idx="15"/>
          </p:nvPr>
        </p:nvSpPr>
        <p:spPr/>
        <p:txBody>
          <a:bodyPr>
            <a:normAutofit/>
          </a:bodyPr>
          <a:lstStyle/>
          <a:p>
            <a:r>
              <a:rPr lang="en-IN" dirty="0"/>
              <a:t>Threads</a:t>
            </a:r>
          </a:p>
          <a:p>
            <a:r>
              <a:rPr lang="en-IN" dirty="0"/>
              <a:t>Thread Block</a:t>
            </a:r>
          </a:p>
          <a:p>
            <a:r>
              <a:rPr lang="en-IN" dirty="0"/>
              <a:t>Grid of Thread Blocks</a:t>
            </a:r>
          </a:p>
        </p:txBody>
      </p:sp>
      <p:pic>
        <p:nvPicPr>
          <p:cNvPr id="8" name="Picture 11" descr="Grid of thread blocks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095999" y="1233934"/>
            <a:ext cx="4605213" cy="56240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68631176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Questions?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Swiss">
      <a:dk1>
        <a:srgbClr val="000000"/>
      </a:dk1>
      <a:lt1>
        <a:srgbClr val="FFFFFF"/>
      </a:lt1>
      <a:dk2>
        <a:srgbClr val="E4E4E4"/>
      </a:dk2>
      <a:lt2>
        <a:srgbClr val="7CA655"/>
      </a:lt2>
      <a:accent1>
        <a:srgbClr val="A9D4DB"/>
      </a:accent1>
      <a:accent2>
        <a:srgbClr val="FBE284"/>
      </a:accent2>
      <a:accent3>
        <a:srgbClr val="4495A2"/>
      </a:accent3>
      <a:accent4>
        <a:srgbClr val="AA5881"/>
      </a:accent4>
      <a:accent5>
        <a:srgbClr val="E06742"/>
      </a:accent5>
      <a:accent6>
        <a:srgbClr val="F9D448"/>
      </a:accent6>
      <a:hlink>
        <a:srgbClr val="4495A2"/>
      </a:hlink>
      <a:folHlink>
        <a:srgbClr val="AA5881"/>
      </a:folHlink>
    </a:clrScheme>
    <a:fontScheme name="Custom 175">
      <a:majorFont>
        <a:latin typeface="Franklin Gothic Demi"/>
        <a:ea typeface=""/>
        <a:cs typeface=""/>
      </a:majorFont>
      <a:minorFont>
        <a:latin typeface="Franklin Gothic Book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M78853419_Win32_SL_V5" id="{958D2C9E-948D-4354-BF9D-DF8AE3C2B240}" vid="{22D4A967-05D2-4D72-8594-54CFF3414833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Geometric annual presentation</Template>
  <TotalTime>565</TotalTime>
  <Words>885</Words>
  <Application>Microsoft Office PowerPoint</Application>
  <PresentationFormat>Widescreen</PresentationFormat>
  <Paragraphs>207</Paragraphs>
  <Slides>20</Slides>
  <Notes>2</Notes>
  <HiddenSlides>2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9" baseType="lpstr">
      <vt:lpstr>Arial</vt:lpstr>
      <vt:lpstr>Arial Black</vt:lpstr>
      <vt:lpstr>Arial MT</vt:lpstr>
      <vt:lpstr>Calibri</vt:lpstr>
      <vt:lpstr>Franklin Gothic Book</vt:lpstr>
      <vt:lpstr>Franklin Gothic Demi</vt:lpstr>
      <vt:lpstr>Times New Roman</vt:lpstr>
      <vt:lpstr>Wingdings</vt:lpstr>
      <vt:lpstr>Custom</vt:lpstr>
      <vt:lpstr>Graphics Processing Unit</vt:lpstr>
      <vt:lpstr>Topics</vt:lpstr>
      <vt:lpstr>Evolution of Performance (1)</vt:lpstr>
      <vt:lpstr>Evolution of Performance (2)</vt:lpstr>
      <vt:lpstr>Evolution of Performance (3)</vt:lpstr>
      <vt:lpstr>Evolution of Performance (4)</vt:lpstr>
      <vt:lpstr>Applications of GPU</vt:lpstr>
      <vt:lpstr>CPU v/s GPU</vt:lpstr>
      <vt:lpstr>CPU v/s GPU</vt:lpstr>
      <vt:lpstr>PowerPoint Presentation</vt:lpstr>
      <vt:lpstr>Heterogeneous Computing</vt:lpstr>
      <vt:lpstr>Heterogeneous Computing</vt:lpstr>
      <vt:lpstr>Typical Execution</vt:lpstr>
      <vt:lpstr>GPU Architecture</vt:lpstr>
      <vt:lpstr>Streaming Multiprocessor</vt:lpstr>
      <vt:lpstr>Memory Hierarchy</vt:lpstr>
      <vt:lpstr>Host Accessible Memory </vt:lpstr>
      <vt:lpstr>Thread Hierarchy</vt:lpstr>
      <vt:lpstr>Thread Hierarchy</vt:lpstr>
      <vt:lpstr>Questions?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Artificial Intelligence</dc:title>
  <dc:creator>Prachi Shete</dc:creator>
  <cp:lastModifiedBy>BARC</cp:lastModifiedBy>
  <cp:revision>172</cp:revision>
  <dcterms:created xsi:type="dcterms:W3CDTF">2024-02-11T12:11:09Z</dcterms:created>
  <dcterms:modified xsi:type="dcterms:W3CDTF">2026-02-10T06:07:04Z</dcterms:modified>
</cp:coreProperties>
</file>